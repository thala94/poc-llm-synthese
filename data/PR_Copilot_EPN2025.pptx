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comments/modernComment_7FFFF796_C260D606.xml" ContentType="application/vnd.ms-powerpoint.comment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8.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2.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3.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4.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5.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7.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8.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4"/>
  </p:sldMasterIdLst>
  <p:notesMasterIdLst>
    <p:notesMasterId r:id="rId24"/>
  </p:notesMasterIdLst>
  <p:handoutMasterIdLst>
    <p:handoutMasterId r:id="rId25"/>
  </p:handoutMasterIdLst>
  <p:sldIdLst>
    <p:sldId id="259" r:id="rId5"/>
    <p:sldId id="2147481484" r:id="rId6"/>
    <p:sldId id="2147481468" r:id="rId7"/>
    <p:sldId id="2147481509" r:id="rId8"/>
    <p:sldId id="2147481495" r:id="rId9"/>
    <p:sldId id="2147481494" r:id="rId10"/>
    <p:sldId id="2147481498" r:id="rId11"/>
    <p:sldId id="2147481510" r:id="rId12"/>
    <p:sldId id="2147481499" r:id="rId13"/>
    <p:sldId id="2147481505" r:id="rId14"/>
    <p:sldId id="2147481500" r:id="rId15"/>
    <p:sldId id="2147481511" r:id="rId16"/>
    <p:sldId id="2147481501" r:id="rId17"/>
    <p:sldId id="2147481512" r:id="rId18"/>
    <p:sldId id="2147481503" r:id="rId19"/>
    <p:sldId id="2147481491" r:id="rId20"/>
    <p:sldId id="2147481513" r:id="rId21"/>
    <p:sldId id="2147481515" r:id="rId22"/>
    <p:sldId id="214748151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437B0B-471F-0A90-2275-37670AD86518}" name="Breton, Sophie" initials="SB" userId="S::Sophie.Breton@mcn.gouv.qc.ca::fe3c9aa9-1eaa-42dc-a630-06fc0f77361c" providerId="AD"/>
  <p188:author id="{D11ED83E-191A-6B09-63F4-64D3074C4D06}" name="Barbeau, Alexandra (DANTE)" initials="AB" userId="S::Alexandra.Barbeau@mcn.gouv.qc.ca::2db68d7f-f95b-4c61-bf1d-955d91ccf1cd" providerId="AD"/>
  <p188:author id="{21E08B72-4E21-E7D8-A7CD-6EE8B4D21BEB}" name="Demers, Karolanne" initials="DK" userId="S::karolanne.demers@mcn.gouv.qc.ca::37dce7dd-e760-45ec-be38-f16690f5ef78" providerId="AD"/>
  <p188:author id="{01BDF084-F634-7B5A-63EF-1A58F4E94CC4}" name="Barbeau, Alexandra (DANTE)" initials="BA" userId="S::alexandra.barbeau@mcn.gouv.qc.ca::2db68d7f-f95b-4c61-bf1d-955d91ccf1cd" providerId="AD"/>
  <p188:author id="{C751BC8F-D8A3-F9F2-FE7E-465F8ACE9E2A}" name="Fournier, William" initials="FW" userId="S::william.fournier@mcn.gouv.qc.ca::a6e08864-763c-4356-a819-e58270d4e929" providerId="AD"/>
  <p188:author id="{A5D8AEAF-21C3-4F9C-C20D-A9B3C98E84FF}" name="Gagnon-Turcotte, Sarah" initials="GS" userId="S::sarah.gagnon-turcotte@mcn.gouv.qc.ca::cacac41a-cb66-4381-8f5f-d3d6b660454a" providerId="AD"/>
  <p188:author id="{BB9C64CC-7C15-D4AD-AC38-BDD146E07219}" name="Gagnon-Turcotte, Sarah" initials="" userId="S::Sarah.Gagnon-Turcotte@mcn.gouv.qc.ca::cacac41a-cb66-4381-8f5f-d3d6b660454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74" y="30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ac Marquis, Rachel" userId="S::rachel.canac-marquis@mcn.gouv.qc.ca::00ad0981-9a6b-4264-aeb2-731b6e7fb9eb" providerId="AD" clId="Web-{ED337514-6821-004A-402B-14B9BA4A9D9C}"/>
    <pc:docChg chg="modSld">
      <pc:chgData name="Canac Marquis, Rachel" userId="S::rachel.canac-marquis@mcn.gouv.qc.ca::00ad0981-9a6b-4264-aeb2-731b6e7fb9eb" providerId="AD" clId="Web-{ED337514-6821-004A-402B-14B9BA4A9D9C}" dt="2025-02-14T16:53:20.926" v="42" actId="1076"/>
      <pc:docMkLst>
        <pc:docMk/>
      </pc:docMkLst>
      <pc:sldChg chg="modSp">
        <pc:chgData name="Canac Marquis, Rachel" userId="S::rachel.canac-marquis@mcn.gouv.qc.ca::00ad0981-9a6b-4264-aeb2-731b6e7fb9eb" providerId="AD" clId="Web-{ED337514-6821-004A-402B-14B9BA4A9D9C}" dt="2025-02-14T16:53:20.926" v="42" actId="1076"/>
        <pc:sldMkLst>
          <pc:docMk/>
          <pc:sldMk cId="4240037283" sldId="2147481468"/>
        </pc:sldMkLst>
        <pc:spChg chg="mod">
          <ac:chgData name="Canac Marquis, Rachel" userId="S::rachel.canac-marquis@mcn.gouv.qc.ca::00ad0981-9a6b-4264-aeb2-731b6e7fb9eb" providerId="AD" clId="Web-{ED337514-6821-004A-402B-14B9BA4A9D9C}" dt="2025-02-14T16:53:20.926" v="42" actId="1076"/>
          <ac:spMkLst>
            <pc:docMk/>
            <pc:sldMk cId="4240037283" sldId="2147481468"/>
            <ac:spMk id="4" creationId="{981DA6D1-A3A2-171D-820E-F55B87AE6A4C}"/>
          </ac:spMkLst>
        </pc:spChg>
      </pc:sldChg>
      <pc:sldChg chg="modSp">
        <pc:chgData name="Canac Marquis, Rachel" userId="S::rachel.canac-marquis@mcn.gouv.qc.ca::00ad0981-9a6b-4264-aeb2-731b6e7fb9eb" providerId="AD" clId="Web-{ED337514-6821-004A-402B-14B9BA4A9D9C}" dt="2025-02-14T16:53:08.067" v="37" actId="20577"/>
        <pc:sldMkLst>
          <pc:docMk/>
          <pc:sldMk cId="1220109014" sldId="2147481484"/>
        </pc:sldMkLst>
        <pc:spChg chg="mod">
          <ac:chgData name="Canac Marquis, Rachel" userId="S::rachel.canac-marquis@mcn.gouv.qc.ca::00ad0981-9a6b-4264-aeb2-731b6e7fb9eb" providerId="AD" clId="Web-{ED337514-6821-004A-402B-14B9BA4A9D9C}" dt="2025-02-14T16:53:08.067" v="37" actId="20577"/>
          <ac:spMkLst>
            <pc:docMk/>
            <pc:sldMk cId="1220109014" sldId="2147481484"/>
            <ac:spMk id="7" creationId="{7247C734-0390-7B88-E57D-0FF8AD256156}"/>
          </ac:spMkLst>
        </pc:spChg>
      </pc:sldChg>
      <pc:sldChg chg="modSp">
        <pc:chgData name="Canac Marquis, Rachel" userId="S::rachel.canac-marquis@mcn.gouv.qc.ca::00ad0981-9a6b-4264-aeb2-731b6e7fb9eb" providerId="AD" clId="Web-{ED337514-6821-004A-402B-14B9BA4A9D9C}" dt="2025-02-14T15:51:54.009" v="8" actId="1076"/>
        <pc:sldMkLst>
          <pc:docMk/>
          <pc:sldMk cId="3261126150" sldId="2147481494"/>
        </pc:sldMkLst>
        <pc:spChg chg="mod">
          <ac:chgData name="Canac Marquis, Rachel" userId="S::rachel.canac-marquis@mcn.gouv.qc.ca::00ad0981-9a6b-4264-aeb2-731b6e7fb9eb" providerId="AD" clId="Web-{ED337514-6821-004A-402B-14B9BA4A9D9C}" dt="2025-02-14T15:51:54.009" v="8" actId="1076"/>
          <ac:spMkLst>
            <pc:docMk/>
            <pc:sldMk cId="3261126150" sldId="2147481494"/>
            <ac:spMk id="3" creationId="{E078C37C-528F-AB76-D2DD-9B857FA1F9DA}"/>
          </ac:spMkLst>
        </pc:spChg>
      </pc:sldChg>
      <pc:sldChg chg="modSp">
        <pc:chgData name="Canac Marquis, Rachel" userId="S::rachel.canac-marquis@mcn.gouv.qc.ca::00ad0981-9a6b-4264-aeb2-731b6e7fb9eb" providerId="AD" clId="Web-{ED337514-6821-004A-402B-14B9BA4A9D9C}" dt="2025-02-14T15:52:22.322" v="19" actId="1076"/>
        <pc:sldMkLst>
          <pc:docMk/>
          <pc:sldMk cId="1068674973" sldId="2147481511"/>
        </pc:sldMkLst>
        <pc:spChg chg="mod">
          <ac:chgData name="Canac Marquis, Rachel" userId="S::rachel.canac-marquis@mcn.gouv.qc.ca::00ad0981-9a6b-4264-aeb2-731b6e7fb9eb" providerId="AD" clId="Web-{ED337514-6821-004A-402B-14B9BA4A9D9C}" dt="2025-02-14T15:52:22.322" v="19" actId="1076"/>
          <ac:spMkLst>
            <pc:docMk/>
            <pc:sldMk cId="1068674973" sldId="2147481511"/>
            <ac:spMk id="11" creationId="{A2BBBDFB-F0A0-D054-6424-6EFE6BD25337}"/>
          </ac:spMkLst>
        </pc:spChg>
      </pc:sldChg>
      <pc:sldChg chg="modSp">
        <pc:chgData name="Canac Marquis, Rachel" userId="S::rachel.canac-marquis@mcn.gouv.qc.ca::00ad0981-9a6b-4264-aeb2-731b6e7fb9eb" providerId="AD" clId="Web-{ED337514-6821-004A-402B-14B9BA4A9D9C}" dt="2025-02-14T15:52:53.103" v="26" actId="20577"/>
        <pc:sldMkLst>
          <pc:docMk/>
          <pc:sldMk cId="2173886076" sldId="2147481515"/>
        </pc:sldMkLst>
        <pc:spChg chg="mod">
          <ac:chgData name="Canac Marquis, Rachel" userId="S::rachel.canac-marquis@mcn.gouv.qc.ca::00ad0981-9a6b-4264-aeb2-731b6e7fb9eb" providerId="AD" clId="Web-{ED337514-6821-004A-402B-14B9BA4A9D9C}" dt="2025-02-14T15:52:53.103" v="26" actId="20577"/>
          <ac:spMkLst>
            <pc:docMk/>
            <pc:sldMk cId="2173886076" sldId="2147481515"/>
            <ac:spMk id="3" creationId="{C45709A9-5ABA-D4EC-FCD3-1AFEA793B736}"/>
          </ac:spMkLst>
        </pc:spChg>
        <pc:spChg chg="mod">
          <ac:chgData name="Canac Marquis, Rachel" userId="S::rachel.canac-marquis@mcn.gouv.qc.ca::00ad0981-9a6b-4264-aeb2-731b6e7fb9eb" providerId="AD" clId="Web-{ED337514-6821-004A-402B-14B9BA4A9D9C}" dt="2025-02-14T15:52:37.837" v="20" actId="20577"/>
          <ac:spMkLst>
            <pc:docMk/>
            <pc:sldMk cId="2173886076" sldId="2147481515"/>
            <ac:spMk id="6" creationId="{5F3A5F3A-5219-04E4-114F-19EA937DAE01}"/>
          </ac:spMkLst>
        </pc:spChg>
      </pc:sldChg>
    </pc:docChg>
  </pc:docChgLst>
  <pc:docChgLst>
    <pc:chgData name="Barbeau, Alexandra (DANTE)" userId="2db68d7f-f95b-4c61-bf1d-955d91ccf1cd" providerId="ADAL" clId="{D2050CA2-EB5F-47AD-928F-E5D30EB899EA}"/>
    <pc:docChg chg="modSld">
      <pc:chgData name="Barbeau, Alexandra (DANTE)" userId="2db68d7f-f95b-4c61-bf1d-955d91ccf1cd" providerId="ADAL" clId="{D2050CA2-EB5F-47AD-928F-E5D30EB899EA}" dt="2025-02-10T18:16:35.418" v="0" actId="20577"/>
      <pc:docMkLst>
        <pc:docMk/>
      </pc:docMkLst>
      <pc:sldChg chg="modSp mod">
        <pc:chgData name="Barbeau, Alexandra (DANTE)" userId="2db68d7f-f95b-4c61-bf1d-955d91ccf1cd" providerId="ADAL" clId="{D2050CA2-EB5F-47AD-928F-E5D30EB899EA}" dt="2025-02-10T18:16:35.418" v="0" actId="20577"/>
        <pc:sldMkLst>
          <pc:docMk/>
          <pc:sldMk cId="1415460331" sldId="2147481503"/>
        </pc:sldMkLst>
        <pc:spChg chg="mod">
          <ac:chgData name="Barbeau, Alexandra (DANTE)" userId="2db68d7f-f95b-4c61-bf1d-955d91ccf1cd" providerId="ADAL" clId="{D2050CA2-EB5F-47AD-928F-E5D30EB899EA}" dt="2025-02-10T18:16:35.418" v="0" actId="20577"/>
          <ac:spMkLst>
            <pc:docMk/>
            <pc:sldMk cId="1415460331" sldId="2147481503"/>
            <ac:spMk id="3" creationId="{CDDF3E68-E9CD-DC0A-75D9-3DE728DBA19F}"/>
          </ac:spMkLst>
        </pc:spChg>
      </pc:sldChg>
    </pc:docChg>
  </pc:docChgLst>
  <pc:docChgLst>
    <pc:chgData name="Canac Marquis, Rachel" userId="00ad0981-9a6b-4264-aeb2-731b6e7fb9eb" providerId="ADAL" clId="{44471745-6FD4-415E-9FE5-D7168A19C4DE}"/>
    <pc:docChg chg="undo custSel modSld">
      <pc:chgData name="Canac Marquis, Rachel" userId="00ad0981-9a6b-4264-aeb2-731b6e7fb9eb" providerId="ADAL" clId="{44471745-6FD4-415E-9FE5-D7168A19C4DE}" dt="2025-02-12T15:10:12.663" v="92" actId="1076"/>
      <pc:docMkLst>
        <pc:docMk/>
      </pc:docMkLst>
      <pc:sldChg chg="modSp mod">
        <pc:chgData name="Canac Marquis, Rachel" userId="00ad0981-9a6b-4264-aeb2-731b6e7fb9eb" providerId="ADAL" clId="{44471745-6FD4-415E-9FE5-D7168A19C4DE}" dt="2025-02-12T14:57:24.418" v="16" actId="1076"/>
        <pc:sldMkLst>
          <pc:docMk/>
          <pc:sldMk cId="4240037283" sldId="2147481468"/>
        </pc:sldMkLst>
        <pc:spChg chg="mod">
          <ac:chgData name="Canac Marquis, Rachel" userId="00ad0981-9a6b-4264-aeb2-731b6e7fb9eb" providerId="ADAL" clId="{44471745-6FD4-415E-9FE5-D7168A19C4DE}" dt="2025-02-12T14:57:04.163" v="12" actId="1076"/>
          <ac:spMkLst>
            <pc:docMk/>
            <pc:sldMk cId="4240037283" sldId="2147481468"/>
            <ac:spMk id="8" creationId="{35192E95-0C35-8A26-239D-3BB909EADD0B}"/>
          </ac:spMkLst>
        </pc:spChg>
        <pc:spChg chg="mod">
          <ac:chgData name="Canac Marquis, Rachel" userId="00ad0981-9a6b-4264-aeb2-731b6e7fb9eb" providerId="ADAL" clId="{44471745-6FD4-415E-9FE5-D7168A19C4DE}" dt="2025-02-12T14:57:04.163" v="12" actId="1076"/>
          <ac:spMkLst>
            <pc:docMk/>
            <pc:sldMk cId="4240037283" sldId="2147481468"/>
            <ac:spMk id="11" creationId="{D84CFFA7-CBE3-5A8C-3FD2-3EA8527E39DB}"/>
          </ac:spMkLst>
        </pc:spChg>
        <pc:spChg chg="mod">
          <ac:chgData name="Canac Marquis, Rachel" userId="00ad0981-9a6b-4264-aeb2-731b6e7fb9eb" providerId="ADAL" clId="{44471745-6FD4-415E-9FE5-D7168A19C4DE}" dt="2025-02-12T14:57:04.163" v="12" actId="1076"/>
          <ac:spMkLst>
            <pc:docMk/>
            <pc:sldMk cId="4240037283" sldId="2147481468"/>
            <ac:spMk id="12" creationId="{FC7BC8D7-1351-2546-E8A6-5E75D024CA5E}"/>
          </ac:spMkLst>
        </pc:spChg>
        <pc:spChg chg="mod">
          <ac:chgData name="Canac Marquis, Rachel" userId="00ad0981-9a6b-4264-aeb2-731b6e7fb9eb" providerId="ADAL" clId="{44471745-6FD4-415E-9FE5-D7168A19C4DE}" dt="2025-02-12T14:57:04.163" v="12" actId="1076"/>
          <ac:spMkLst>
            <pc:docMk/>
            <pc:sldMk cId="4240037283" sldId="2147481468"/>
            <ac:spMk id="14" creationId="{4B20A39F-B12E-A44D-7604-AC5ACF21E90D}"/>
          </ac:spMkLst>
        </pc:spChg>
        <pc:picChg chg="mod">
          <ac:chgData name="Canac Marquis, Rachel" userId="00ad0981-9a6b-4264-aeb2-731b6e7fb9eb" providerId="ADAL" clId="{44471745-6FD4-415E-9FE5-D7168A19C4DE}" dt="2025-02-12T14:57:19.924" v="14" actId="1076"/>
          <ac:picMkLst>
            <pc:docMk/>
            <pc:sldMk cId="4240037283" sldId="2147481468"/>
            <ac:picMk id="16" creationId="{BF131225-D14F-2549-0A85-AB238BB192CA}"/>
          </ac:picMkLst>
        </pc:picChg>
        <pc:picChg chg="mod">
          <ac:chgData name="Canac Marquis, Rachel" userId="00ad0981-9a6b-4264-aeb2-731b6e7fb9eb" providerId="ADAL" clId="{44471745-6FD4-415E-9FE5-D7168A19C4DE}" dt="2025-02-12T14:57:24.418" v="16" actId="1076"/>
          <ac:picMkLst>
            <pc:docMk/>
            <pc:sldMk cId="4240037283" sldId="2147481468"/>
            <ac:picMk id="20" creationId="{6382C9F0-4DA8-D2A1-6A75-1D78E4068252}"/>
          </ac:picMkLst>
        </pc:picChg>
      </pc:sldChg>
      <pc:sldChg chg="modSp mod">
        <pc:chgData name="Canac Marquis, Rachel" userId="00ad0981-9a6b-4264-aeb2-731b6e7fb9eb" providerId="ADAL" clId="{44471745-6FD4-415E-9FE5-D7168A19C4DE}" dt="2025-02-12T15:06:26.744" v="46" actId="1076"/>
        <pc:sldMkLst>
          <pc:docMk/>
          <pc:sldMk cId="1220109014" sldId="2147481484"/>
        </pc:sldMkLst>
        <pc:spChg chg="mod">
          <ac:chgData name="Canac Marquis, Rachel" userId="00ad0981-9a6b-4264-aeb2-731b6e7fb9eb" providerId="ADAL" clId="{44471745-6FD4-415E-9FE5-D7168A19C4DE}" dt="2025-02-12T15:06:26.744" v="46" actId="1076"/>
          <ac:spMkLst>
            <pc:docMk/>
            <pc:sldMk cId="1220109014" sldId="2147481484"/>
            <ac:spMk id="7" creationId="{7247C734-0390-7B88-E57D-0FF8AD256156}"/>
          </ac:spMkLst>
        </pc:spChg>
        <pc:picChg chg="mod">
          <ac:chgData name="Canac Marquis, Rachel" userId="00ad0981-9a6b-4264-aeb2-731b6e7fb9eb" providerId="ADAL" clId="{44471745-6FD4-415E-9FE5-D7168A19C4DE}" dt="2025-02-12T14:56:57.497" v="11" actId="1076"/>
          <ac:picMkLst>
            <pc:docMk/>
            <pc:sldMk cId="1220109014" sldId="2147481484"/>
            <ac:picMk id="3" creationId="{31560908-B8A6-9821-4DD8-4FA9ED9DED83}"/>
          </ac:picMkLst>
        </pc:picChg>
      </pc:sldChg>
      <pc:sldChg chg="modSp">
        <pc:chgData name="Canac Marquis, Rachel" userId="00ad0981-9a6b-4264-aeb2-731b6e7fb9eb" providerId="ADAL" clId="{44471745-6FD4-415E-9FE5-D7168A19C4DE}" dt="2025-02-12T15:00:20.802" v="30" actId="1076"/>
        <pc:sldMkLst>
          <pc:docMk/>
          <pc:sldMk cId="3261126150" sldId="2147481494"/>
        </pc:sldMkLst>
        <pc:picChg chg="mod">
          <ac:chgData name="Canac Marquis, Rachel" userId="00ad0981-9a6b-4264-aeb2-731b6e7fb9eb" providerId="ADAL" clId="{44471745-6FD4-415E-9FE5-D7168A19C4DE}" dt="2025-02-12T15:00:20.802" v="30" actId="1076"/>
          <ac:picMkLst>
            <pc:docMk/>
            <pc:sldMk cId="3261126150" sldId="2147481494"/>
            <ac:picMk id="11" creationId="{5ABCB7B7-D61C-1F1B-4622-05603346BF7E}"/>
          </ac:picMkLst>
        </pc:picChg>
      </pc:sldChg>
      <pc:sldChg chg="modSp mod">
        <pc:chgData name="Canac Marquis, Rachel" userId="00ad0981-9a6b-4264-aeb2-731b6e7fb9eb" providerId="ADAL" clId="{44471745-6FD4-415E-9FE5-D7168A19C4DE}" dt="2025-02-12T14:57:58.689" v="29" actId="1076"/>
        <pc:sldMkLst>
          <pc:docMk/>
          <pc:sldMk cId="2231598640" sldId="2147481495"/>
        </pc:sldMkLst>
        <pc:spChg chg="mod">
          <ac:chgData name="Canac Marquis, Rachel" userId="00ad0981-9a6b-4264-aeb2-731b6e7fb9eb" providerId="ADAL" clId="{44471745-6FD4-415E-9FE5-D7168A19C4DE}" dt="2025-02-12T14:57:58.689" v="29" actId="1076"/>
          <ac:spMkLst>
            <pc:docMk/>
            <pc:sldMk cId="2231598640" sldId="2147481495"/>
            <ac:spMk id="3" creationId="{DBF4371E-21A9-D39C-58F6-B93D145DD20D}"/>
          </ac:spMkLst>
        </pc:spChg>
      </pc:sldChg>
      <pc:sldChg chg="modSp">
        <pc:chgData name="Canac Marquis, Rachel" userId="00ad0981-9a6b-4264-aeb2-731b6e7fb9eb" providerId="ADAL" clId="{44471745-6FD4-415E-9FE5-D7168A19C4DE}" dt="2025-02-12T15:05:21.214" v="37"/>
        <pc:sldMkLst>
          <pc:docMk/>
          <pc:sldMk cId="2402896661" sldId="2147481499"/>
        </pc:sldMkLst>
        <pc:graphicFrameChg chg="mod">
          <ac:chgData name="Canac Marquis, Rachel" userId="00ad0981-9a6b-4264-aeb2-731b6e7fb9eb" providerId="ADAL" clId="{44471745-6FD4-415E-9FE5-D7168A19C4DE}" dt="2025-02-12T15:05:21.214" v="37"/>
          <ac:graphicFrameMkLst>
            <pc:docMk/>
            <pc:sldMk cId="2402896661" sldId="2147481499"/>
            <ac:graphicFrameMk id="8" creationId="{0BD8160C-E7F0-44CB-84C2-FA5C8F689524}"/>
          </ac:graphicFrameMkLst>
        </pc:graphicFrameChg>
      </pc:sldChg>
      <pc:sldChg chg="modSp mod">
        <pc:chgData name="Canac Marquis, Rachel" userId="00ad0981-9a6b-4264-aeb2-731b6e7fb9eb" providerId="ADAL" clId="{44471745-6FD4-415E-9FE5-D7168A19C4DE}" dt="2025-02-12T15:07:09.936" v="52" actId="1076"/>
        <pc:sldMkLst>
          <pc:docMk/>
          <pc:sldMk cId="3652292955" sldId="2147481501"/>
        </pc:sldMkLst>
        <pc:spChg chg="mod">
          <ac:chgData name="Canac Marquis, Rachel" userId="00ad0981-9a6b-4264-aeb2-731b6e7fb9eb" providerId="ADAL" clId="{44471745-6FD4-415E-9FE5-D7168A19C4DE}" dt="2025-02-12T15:06:58.345" v="49" actId="1076"/>
          <ac:spMkLst>
            <pc:docMk/>
            <pc:sldMk cId="3652292955" sldId="2147481501"/>
            <ac:spMk id="3" creationId="{06C226D8-707E-3122-0E65-498EF0000AE6}"/>
          </ac:spMkLst>
        </pc:spChg>
        <pc:spChg chg="mod">
          <ac:chgData name="Canac Marquis, Rachel" userId="00ad0981-9a6b-4264-aeb2-731b6e7fb9eb" providerId="ADAL" clId="{44471745-6FD4-415E-9FE5-D7168A19C4DE}" dt="2025-02-12T15:07:09.936" v="52" actId="1076"/>
          <ac:spMkLst>
            <pc:docMk/>
            <pc:sldMk cId="3652292955" sldId="2147481501"/>
            <ac:spMk id="8" creationId="{0FF5DB86-12CF-70AF-6623-DCCE417E4288}"/>
          </ac:spMkLst>
        </pc:spChg>
        <pc:spChg chg="mod">
          <ac:chgData name="Canac Marquis, Rachel" userId="00ad0981-9a6b-4264-aeb2-731b6e7fb9eb" providerId="ADAL" clId="{44471745-6FD4-415E-9FE5-D7168A19C4DE}" dt="2025-02-12T15:07:09.936" v="52" actId="1076"/>
          <ac:spMkLst>
            <pc:docMk/>
            <pc:sldMk cId="3652292955" sldId="2147481501"/>
            <ac:spMk id="60" creationId="{0D89F273-55FC-A176-049C-D50C1E0C5D86}"/>
          </ac:spMkLst>
        </pc:spChg>
        <pc:spChg chg="mod">
          <ac:chgData name="Canac Marquis, Rachel" userId="00ad0981-9a6b-4264-aeb2-731b6e7fb9eb" providerId="ADAL" clId="{44471745-6FD4-415E-9FE5-D7168A19C4DE}" dt="2025-02-12T15:07:09.936" v="52" actId="1076"/>
          <ac:spMkLst>
            <pc:docMk/>
            <pc:sldMk cId="3652292955" sldId="2147481501"/>
            <ac:spMk id="61" creationId="{542FA497-8CF7-9DA7-4D94-E82F482E5169}"/>
          </ac:spMkLst>
        </pc:spChg>
        <pc:picChg chg="mod">
          <ac:chgData name="Canac Marquis, Rachel" userId="00ad0981-9a6b-4264-aeb2-731b6e7fb9eb" providerId="ADAL" clId="{44471745-6FD4-415E-9FE5-D7168A19C4DE}" dt="2025-02-12T15:07:09.936" v="52" actId="1076"/>
          <ac:picMkLst>
            <pc:docMk/>
            <pc:sldMk cId="3652292955" sldId="2147481501"/>
            <ac:picMk id="63" creationId="{B5F5D971-8CAD-56B9-95B8-B4AD3C08E452}"/>
          </ac:picMkLst>
        </pc:picChg>
      </pc:sldChg>
      <pc:sldChg chg="modSp mod">
        <pc:chgData name="Canac Marquis, Rachel" userId="00ad0981-9a6b-4264-aeb2-731b6e7fb9eb" providerId="ADAL" clId="{44471745-6FD4-415E-9FE5-D7168A19C4DE}" dt="2025-02-12T15:08:02.187" v="75" actId="404"/>
        <pc:sldMkLst>
          <pc:docMk/>
          <pc:sldMk cId="1415460331" sldId="2147481503"/>
        </pc:sldMkLst>
        <pc:spChg chg="mod">
          <ac:chgData name="Canac Marquis, Rachel" userId="00ad0981-9a6b-4264-aeb2-731b6e7fb9eb" providerId="ADAL" clId="{44471745-6FD4-415E-9FE5-D7168A19C4DE}" dt="2025-02-12T15:08:02.187" v="75" actId="404"/>
          <ac:spMkLst>
            <pc:docMk/>
            <pc:sldMk cId="1415460331" sldId="2147481503"/>
            <ac:spMk id="3" creationId="{CDDF3E68-E9CD-DC0A-75D9-3DE728DBA19F}"/>
          </ac:spMkLst>
        </pc:spChg>
      </pc:sldChg>
      <pc:sldChg chg="modSp mod">
        <pc:chgData name="Canac Marquis, Rachel" userId="00ad0981-9a6b-4264-aeb2-731b6e7fb9eb" providerId="ADAL" clId="{44471745-6FD4-415E-9FE5-D7168A19C4DE}" dt="2025-02-12T15:06:36.280" v="47" actId="1076"/>
        <pc:sldMkLst>
          <pc:docMk/>
          <pc:sldMk cId="1000886991" sldId="2147481505"/>
        </pc:sldMkLst>
        <pc:spChg chg="mod">
          <ac:chgData name="Canac Marquis, Rachel" userId="00ad0981-9a6b-4264-aeb2-731b6e7fb9eb" providerId="ADAL" clId="{44471745-6FD4-415E-9FE5-D7168A19C4DE}" dt="2025-02-12T15:06:36.280" v="47" actId="1076"/>
          <ac:spMkLst>
            <pc:docMk/>
            <pc:sldMk cId="1000886991" sldId="2147481505"/>
            <ac:spMk id="6" creationId="{CBBB0F4E-772B-5EC0-DBA1-B916F30D347F}"/>
          </ac:spMkLst>
        </pc:spChg>
      </pc:sldChg>
      <pc:sldChg chg="modSp mod">
        <pc:chgData name="Canac Marquis, Rachel" userId="00ad0981-9a6b-4264-aeb2-731b6e7fb9eb" providerId="ADAL" clId="{44471745-6FD4-415E-9FE5-D7168A19C4DE}" dt="2025-02-12T14:57:32.665" v="24" actId="403"/>
        <pc:sldMkLst>
          <pc:docMk/>
          <pc:sldMk cId="416814286" sldId="2147481509"/>
        </pc:sldMkLst>
        <pc:spChg chg="mod">
          <ac:chgData name="Canac Marquis, Rachel" userId="00ad0981-9a6b-4264-aeb2-731b6e7fb9eb" providerId="ADAL" clId="{44471745-6FD4-415E-9FE5-D7168A19C4DE}" dt="2025-02-12T14:57:29.079" v="19" actId="403"/>
          <ac:spMkLst>
            <pc:docMk/>
            <pc:sldMk cId="416814286" sldId="2147481509"/>
            <ac:spMk id="2" creationId="{9B789C53-2E24-98FB-91BC-9359DD1E879A}"/>
          </ac:spMkLst>
        </pc:spChg>
        <pc:spChg chg="mod">
          <ac:chgData name="Canac Marquis, Rachel" userId="00ad0981-9a6b-4264-aeb2-731b6e7fb9eb" providerId="ADAL" clId="{44471745-6FD4-415E-9FE5-D7168A19C4DE}" dt="2025-02-12T14:57:32.665" v="24" actId="403"/>
          <ac:spMkLst>
            <pc:docMk/>
            <pc:sldMk cId="416814286" sldId="2147481509"/>
            <ac:spMk id="3" creationId="{83D58A2B-3AD3-BD31-6149-902E7084F8D3}"/>
          </ac:spMkLst>
        </pc:spChg>
      </pc:sldChg>
      <pc:sldChg chg="modSp mod">
        <pc:chgData name="Canac Marquis, Rachel" userId="00ad0981-9a6b-4264-aeb2-731b6e7fb9eb" providerId="ADAL" clId="{44471745-6FD4-415E-9FE5-D7168A19C4DE}" dt="2025-02-12T15:01:28.446" v="35" actId="1076"/>
        <pc:sldMkLst>
          <pc:docMk/>
          <pc:sldMk cId="2636819135" sldId="2147481510"/>
        </pc:sldMkLst>
        <pc:spChg chg="mod">
          <ac:chgData name="Canac Marquis, Rachel" userId="00ad0981-9a6b-4264-aeb2-731b6e7fb9eb" providerId="ADAL" clId="{44471745-6FD4-415E-9FE5-D7168A19C4DE}" dt="2025-02-12T15:01:28.446" v="35" actId="1076"/>
          <ac:spMkLst>
            <pc:docMk/>
            <pc:sldMk cId="2636819135" sldId="2147481510"/>
            <ac:spMk id="3" creationId="{607DD625-BA68-B558-5A6A-0A9E57E7DAEB}"/>
          </ac:spMkLst>
        </pc:spChg>
      </pc:sldChg>
      <pc:sldChg chg="modSp mod">
        <pc:chgData name="Canac Marquis, Rachel" userId="00ad0981-9a6b-4264-aeb2-731b6e7fb9eb" providerId="ADAL" clId="{44471745-6FD4-415E-9FE5-D7168A19C4DE}" dt="2025-02-12T15:07:46.168" v="70" actId="404"/>
        <pc:sldMkLst>
          <pc:docMk/>
          <pc:sldMk cId="1353450773" sldId="2147481512"/>
        </pc:sldMkLst>
        <pc:spChg chg="mod">
          <ac:chgData name="Canac Marquis, Rachel" userId="00ad0981-9a6b-4264-aeb2-731b6e7fb9eb" providerId="ADAL" clId="{44471745-6FD4-415E-9FE5-D7168A19C4DE}" dt="2025-02-12T15:07:37.500" v="66" actId="14100"/>
          <ac:spMkLst>
            <pc:docMk/>
            <pc:sldMk cId="1353450773" sldId="2147481512"/>
            <ac:spMk id="3" creationId="{8874787A-5CDE-0370-268E-DE8D0ACBBBA8}"/>
          </ac:spMkLst>
        </pc:spChg>
        <pc:spChg chg="mod">
          <ac:chgData name="Canac Marquis, Rachel" userId="00ad0981-9a6b-4264-aeb2-731b6e7fb9eb" providerId="ADAL" clId="{44471745-6FD4-415E-9FE5-D7168A19C4DE}" dt="2025-02-12T15:07:46.168" v="70" actId="404"/>
          <ac:spMkLst>
            <pc:docMk/>
            <pc:sldMk cId="1353450773" sldId="2147481512"/>
            <ac:spMk id="12" creationId="{88123B32-4835-C8FB-5506-3B756D565A92}"/>
          </ac:spMkLst>
        </pc:spChg>
      </pc:sldChg>
      <pc:sldChg chg="modSp mod">
        <pc:chgData name="Canac Marquis, Rachel" userId="00ad0981-9a6b-4264-aeb2-731b6e7fb9eb" providerId="ADAL" clId="{44471745-6FD4-415E-9FE5-D7168A19C4DE}" dt="2025-02-12T15:09:03.794" v="77" actId="14100"/>
        <pc:sldMkLst>
          <pc:docMk/>
          <pc:sldMk cId="1673476473" sldId="2147481513"/>
        </pc:sldMkLst>
        <pc:spChg chg="mod">
          <ac:chgData name="Canac Marquis, Rachel" userId="00ad0981-9a6b-4264-aeb2-731b6e7fb9eb" providerId="ADAL" clId="{44471745-6FD4-415E-9FE5-D7168A19C4DE}" dt="2025-02-12T15:09:03.794" v="77" actId="14100"/>
          <ac:spMkLst>
            <pc:docMk/>
            <pc:sldMk cId="1673476473" sldId="2147481513"/>
            <ac:spMk id="3" creationId="{804D07A6-18C2-059D-5DA3-DE35DBE7D6BB}"/>
          </ac:spMkLst>
        </pc:spChg>
        <pc:picChg chg="mod">
          <ac:chgData name="Canac Marquis, Rachel" userId="00ad0981-9a6b-4264-aeb2-731b6e7fb9eb" providerId="ADAL" clId="{44471745-6FD4-415E-9FE5-D7168A19C4DE}" dt="2025-02-12T15:09:00.537" v="76" actId="1076"/>
          <ac:picMkLst>
            <pc:docMk/>
            <pc:sldMk cId="1673476473" sldId="2147481513"/>
            <ac:picMk id="6" creationId="{536A2082-70A7-470C-DEDD-269AC3BD068B}"/>
          </ac:picMkLst>
        </pc:picChg>
        <pc:picChg chg="mod">
          <ac:chgData name="Canac Marquis, Rachel" userId="00ad0981-9a6b-4264-aeb2-731b6e7fb9eb" providerId="ADAL" clId="{44471745-6FD4-415E-9FE5-D7168A19C4DE}" dt="2025-02-12T15:09:00.537" v="76" actId="1076"/>
          <ac:picMkLst>
            <pc:docMk/>
            <pc:sldMk cId="1673476473" sldId="2147481513"/>
            <ac:picMk id="10" creationId="{5946DADD-B7E7-2700-29CF-CA946DA63892}"/>
          </ac:picMkLst>
        </pc:picChg>
      </pc:sldChg>
      <pc:sldChg chg="modSp mod">
        <pc:chgData name="Canac Marquis, Rachel" userId="00ad0981-9a6b-4264-aeb2-731b6e7fb9eb" providerId="ADAL" clId="{44471745-6FD4-415E-9FE5-D7168A19C4DE}" dt="2025-02-12T15:10:12.663" v="92" actId="1076"/>
        <pc:sldMkLst>
          <pc:docMk/>
          <pc:sldMk cId="4082350624" sldId="2147481514"/>
        </pc:sldMkLst>
        <pc:spChg chg="mod">
          <ac:chgData name="Canac Marquis, Rachel" userId="00ad0981-9a6b-4264-aeb2-731b6e7fb9eb" providerId="ADAL" clId="{44471745-6FD4-415E-9FE5-D7168A19C4DE}" dt="2025-02-12T15:10:12.663" v="92" actId="1076"/>
          <ac:spMkLst>
            <pc:docMk/>
            <pc:sldMk cId="4082350624" sldId="2147481514"/>
            <ac:spMk id="3" creationId="{6FCA3269-26E7-0D3F-062B-7C630F73F42B}"/>
          </ac:spMkLst>
        </pc:spChg>
      </pc:sldChg>
      <pc:sldChg chg="modSp mod">
        <pc:chgData name="Canac Marquis, Rachel" userId="00ad0981-9a6b-4264-aeb2-731b6e7fb9eb" providerId="ADAL" clId="{44471745-6FD4-415E-9FE5-D7168A19C4DE}" dt="2025-02-12T15:09:51.360" v="87" actId="2710"/>
        <pc:sldMkLst>
          <pc:docMk/>
          <pc:sldMk cId="2173886076" sldId="2147481515"/>
        </pc:sldMkLst>
        <pc:spChg chg="mod">
          <ac:chgData name="Canac Marquis, Rachel" userId="00ad0981-9a6b-4264-aeb2-731b6e7fb9eb" providerId="ADAL" clId="{44471745-6FD4-415E-9FE5-D7168A19C4DE}" dt="2025-02-12T15:09:51.360" v="87" actId="2710"/>
          <ac:spMkLst>
            <pc:docMk/>
            <pc:sldMk cId="2173886076" sldId="2147481515"/>
            <ac:spMk id="6" creationId="{5F3A5F3A-5219-04E4-114F-19EA937DAE01}"/>
          </ac:spMkLst>
        </pc:spChg>
      </pc:sldChg>
    </pc:docChg>
  </pc:docChgLst>
  <pc:docChgLst>
    <pc:chgData name="Fournier, William" userId="S::william.fournier@mcn.gouv.qc.ca::a6e08864-763c-4356-a819-e58270d4e929" providerId="AD" clId="Web-{187F56D6-5190-3D70-5D75-EA1BA2316155}"/>
    <pc:docChg chg="mod modSld">
      <pc:chgData name="Fournier, William" userId="S::william.fournier@mcn.gouv.qc.ca::a6e08864-763c-4356-a819-e58270d4e929" providerId="AD" clId="Web-{187F56D6-5190-3D70-5D75-EA1BA2316155}" dt="2025-02-12T14:51:29.947" v="90" actId="20577"/>
      <pc:docMkLst>
        <pc:docMk/>
      </pc:docMkLst>
      <pc:sldChg chg="modSp">
        <pc:chgData name="Fournier, William" userId="S::william.fournier@mcn.gouv.qc.ca::a6e08864-763c-4356-a819-e58270d4e929" providerId="AD" clId="Web-{187F56D6-5190-3D70-5D75-EA1BA2316155}" dt="2025-02-12T14:51:13.025" v="86" actId="20577"/>
        <pc:sldMkLst>
          <pc:docMk/>
          <pc:sldMk cId="77264285" sldId="2147481491"/>
        </pc:sldMkLst>
        <pc:spChg chg="mod">
          <ac:chgData name="Fournier, William" userId="S::william.fournier@mcn.gouv.qc.ca::a6e08864-763c-4356-a819-e58270d4e929" providerId="AD" clId="Web-{187F56D6-5190-3D70-5D75-EA1BA2316155}" dt="2025-02-12T14:51:13.025" v="86" actId="20577"/>
          <ac:spMkLst>
            <pc:docMk/>
            <pc:sldMk cId="77264285" sldId="2147481491"/>
            <ac:spMk id="3" creationId="{BAD77658-A210-23D4-01CD-A9757CC91DC9}"/>
          </ac:spMkLst>
        </pc:spChg>
      </pc:sldChg>
      <pc:sldChg chg="modSp">
        <pc:chgData name="Fournier, William" userId="S::william.fournier@mcn.gouv.qc.ca::a6e08864-763c-4356-a819-e58270d4e929" providerId="AD" clId="Web-{187F56D6-5190-3D70-5D75-EA1BA2316155}" dt="2025-02-12T14:16:05.686" v="3" actId="20577"/>
        <pc:sldMkLst>
          <pc:docMk/>
          <pc:sldMk cId="3261126150" sldId="2147481494"/>
        </pc:sldMkLst>
        <pc:spChg chg="mod">
          <ac:chgData name="Fournier, William" userId="S::william.fournier@mcn.gouv.qc.ca::a6e08864-763c-4356-a819-e58270d4e929" providerId="AD" clId="Web-{187F56D6-5190-3D70-5D75-EA1BA2316155}" dt="2025-02-12T14:16:05.686" v="3" actId="20577"/>
          <ac:spMkLst>
            <pc:docMk/>
            <pc:sldMk cId="3261126150" sldId="2147481494"/>
            <ac:spMk id="10" creationId="{9C555F82-36AD-E3D9-1B00-7C0EABBB00B1}"/>
          </ac:spMkLst>
        </pc:spChg>
      </pc:sldChg>
      <pc:sldChg chg="modSp">
        <pc:chgData name="Fournier, William" userId="S::william.fournier@mcn.gouv.qc.ca::a6e08864-763c-4356-a819-e58270d4e929" providerId="AD" clId="Web-{187F56D6-5190-3D70-5D75-EA1BA2316155}" dt="2025-02-12T14:13:21.715" v="1" actId="20577"/>
        <pc:sldMkLst>
          <pc:docMk/>
          <pc:sldMk cId="2231598640" sldId="2147481495"/>
        </pc:sldMkLst>
        <pc:spChg chg="mod">
          <ac:chgData name="Fournier, William" userId="S::william.fournier@mcn.gouv.qc.ca::a6e08864-763c-4356-a819-e58270d4e929" providerId="AD" clId="Web-{187F56D6-5190-3D70-5D75-EA1BA2316155}" dt="2025-02-12T14:13:21.715" v="1" actId="20577"/>
          <ac:spMkLst>
            <pc:docMk/>
            <pc:sldMk cId="2231598640" sldId="2147481495"/>
            <ac:spMk id="3" creationId="{DBF4371E-21A9-D39C-58F6-B93D145DD20D}"/>
          </ac:spMkLst>
        </pc:spChg>
      </pc:sldChg>
      <pc:sldChg chg="modSp">
        <pc:chgData name="Fournier, William" userId="S::william.fournier@mcn.gouv.qc.ca::a6e08864-763c-4356-a819-e58270d4e929" providerId="AD" clId="Web-{187F56D6-5190-3D70-5D75-EA1BA2316155}" dt="2025-02-12T14:17:21.375" v="30" actId="20577"/>
        <pc:sldMkLst>
          <pc:docMk/>
          <pc:sldMk cId="3332556297" sldId="2147481498"/>
        </pc:sldMkLst>
        <pc:spChg chg="mod">
          <ac:chgData name="Fournier, William" userId="S::william.fournier@mcn.gouv.qc.ca::a6e08864-763c-4356-a819-e58270d4e929" providerId="AD" clId="Web-{187F56D6-5190-3D70-5D75-EA1BA2316155}" dt="2025-02-12T14:17:21.375" v="30" actId="20577"/>
          <ac:spMkLst>
            <pc:docMk/>
            <pc:sldMk cId="3332556297" sldId="2147481498"/>
            <ac:spMk id="3" creationId="{8E0AA8EE-1766-C672-90E0-F88E96C8C8FE}"/>
          </ac:spMkLst>
        </pc:spChg>
        <pc:graphicFrameChg chg="mod">
          <ac:chgData name="Fournier, William" userId="S::william.fournier@mcn.gouv.qc.ca::a6e08864-763c-4356-a819-e58270d4e929" providerId="AD" clId="Web-{187F56D6-5190-3D70-5D75-EA1BA2316155}" dt="2025-02-12T14:16:49.609" v="15" actId="1076"/>
          <ac:graphicFrameMkLst>
            <pc:docMk/>
            <pc:sldMk cId="3332556297" sldId="2147481498"/>
            <ac:graphicFrameMk id="5" creationId="{DE7B3BAA-A414-CDB3-18A7-E51615B931F0}"/>
          </ac:graphicFrameMkLst>
        </pc:graphicFrameChg>
      </pc:sldChg>
      <pc:sldChg chg="modSp">
        <pc:chgData name="Fournier, William" userId="S::william.fournier@mcn.gouv.qc.ca::a6e08864-763c-4356-a819-e58270d4e929" providerId="AD" clId="Web-{187F56D6-5190-3D70-5D75-EA1BA2316155}" dt="2025-02-12T14:20:23.549" v="58" actId="20577"/>
        <pc:sldMkLst>
          <pc:docMk/>
          <pc:sldMk cId="2402896661" sldId="2147481499"/>
        </pc:sldMkLst>
        <pc:spChg chg="mod">
          <ac:chgData name="Fournier, William" userId="S::william.fournier@mcn.gouv.qc.ca::a6e08864-763c-4356-a819-e58270d4e929" providerId="AD" clId="Web-{187F56D6-5190-3D70-5D75-EA1BA2316155}" dt="2025-02-12T14:20:23.549" v="58" actId="20577"/>
          <ac:spMkLst>
            <pc:docMk/>
            <pc:sldMk cId="2402896661" sldId="2147481499"/>
            <ac:spMk id="3" creationId="{C383AD3D-1732-1BBA-C1A2-8CAD8ED7B0F2}"/>
          </ac:spMkLst>
        </pc:spChg>
      </pc:sldChg>
      <pc:sldChg chg="modSp">
        <pc:chgData name="Fournier, William" userId="S::william.fournier@mcn.gouv.qc.ca::a6e08864-763c-4356-a819-e58270d4e929" providerId="AD" clId="Web-{187F56D6-5190-3D70-5D75-EA1BA2316155}" dt="2025-02-12T14:23:41.224" v="64" actId="20577"/>
        <pc:sldMkLst>
          <pc:docMk/>
          <pc:sldMk cId="2755394438" sldId="2147481500"/>
        </pc:sldMkLst>
        <pc:spChg chg="mod">
          <ac:chgData name="Fournier, William" userId="S::william.fournier@mcn.gouv.qc.ca::a6e08864-763c-4356-a819-e58270d4e929" providerId="AD" clId="Web-{187F56D6-5190-3D70-5D75-EA1BA2316155}" dt="2025-02-12T14:23:41.224" v="64" actId="20577"/>
          <ac:spMkLst>
            <pc:docMk/>
            <pc:sldMk cId="2755394438" sldId="2147481500"/>
            <ac:spMk id="3" creationId="{3AB601C9-26D9-3973-6B6F-F98811D3A1BF}"/>
          </ac:spMkLst>
        </pc:spChg>
      </pc:sldChg>
      <pc:sldChg chg="modSp">
        <pc:chgData name="Fournier, William" userId="S::william.fournier@mcn.gouv.qc.ca::a6e08864-763c-4356-a819-e58270d4e929" providerId="AD" clId="Web-{187F56D6-5190-3D70-5D75-EA1BA2316155}" dt="2025-02-12T14:49:58.101" v="72" actId="20577"/>
        <pc:sldMkLst>
          <pc:docMk/>
          <pc:sldMk cId="3652292955" sldId="2147481501"/>
        </pc:sldMkLst>
        <pc:spChg chg="mod">
          <ac:chgData name="Fournier, William" userId="S::william.fournier@mcn.gouv.qc.ca::a6e08864-763c-4356-a819-e58270d4e929" providerId="AD" clId="Web-{187F56D6-5190-3D70-5D75-EA1BA2316155}" dt="2025-02-12T14:49:58.101" v="72" actId="20577"/>
          <ac:spMkLst>
            <pc:docMk/>
            <pc:sldMk cId="3652292955" sldId="2147481501"/>
            <ac:spMk id="3" creationId="{06C226D8-707E-3122-0E65-498EF0000AE6}"/>
          </ac:spMkLst>
        </pc:spChg>
      </pc:sldChg>
      <pc:sldChg chg="modSp">
        <pc:chgData name="Fournier, William" userId="S::william.fournier@mcn.gouv.qc.ca::a6e08864-763c-4356-a819-e58270d4e929" providerId="AD" clId="Web-{187F56D6-5190-3D70-5D75-EA1BA2316155}" dt="2025-02-12T14:50:35.665" v="81" actId="20577"/>
        <pc:sldMkLst>
          <pc:docMk/>
          <pc:sldMk cId="1415460331" sldId="2147481503"/>
        </pc:sldMkLst>
        <pc:spChg chg="mod">
          <ac:chgData name="Fournier, William" userId="S::william.fournier@mcn.gouv.qc.ca::a6e08864-763c-4356-a819-e58270d4e929" providerId="AD" clId="Web-{187F56D6-5190-3D70-5D75-EA1BA2316155}" dt="2025-02-12T14:50:35.665" v="81" actId="20577"/>
          <ac:spMkLst>
            <pc:docMk/>
            <pc:sldMk cId="1415460331" sldId="2147481503"/>
            <ac:spMk id="3" creationId="{CDDF3E68-E9CD-DC0A-75D9-3DE728DBA19F}"/>
          </ac:spMkLst>
        </pc:spChg>
      </pc:sldChg>
      <pc:sldChg chg="modSp">
        <pc:chgData name="Fournier, William" userId="S::william.fournier@mcn.gouv.qc.ca::a6e08864-763c-4356-a819-e58270d4e929" providerId="AD" clId="Web-{187F56D6-5190-3D70-5D75-EA1BA2316155}" dt="2025-02-12T14:23:10.786" v="63" actId="20577"/>
        <pc:sldMkLst>
          <pc:docMk/>
          <pc:sldMk cId="1000886991" sldId="2147481505"/>
        </pc:sldMkLst>
        <pc:spChg chg="mod">
          <ac:chgData name="Fournier, William" userId="S::william.fournier@mcn.gouv.qc.ca::a6e08864-763c-4356-a819-e58270d4e929" providerId="AD" clId="Web-{187F56D6-5190-3D70-5D75-EA1BA2316155}" dt="2025-02-12T14:23:10.786" v="63" actId="20577"/>
          <ac:spMkLst>
            <pc:docMk/>
            <pc:sldMk cId="1000886991" sldId="2147481505"/>
            <ac:spMk id="3" creationId="{EBEE5107-1090-B6A9-6C4D-75649AA56F9B}"/>
          </ac:spMkLst>
        </pc:spChg>
        <pc:spChg chg="mod">
          <ac:chgData name="Fournier, William" userId="S::william.fournier@mcn.gouv.qc.ca::a6e08864-763c-4356-a819-e58270d4e929" providerId="AD" clId="Web-{187F56D6-5190-3D70-5D75-EA1BA2316155}" dt="2025-02-12T14:23:04.161" v="60" actId="20577"/>
          <ac:spMkLst>
            <pc:docMk/>
            <pc:sldMk cId="1000886991" sldId="2147481505"/>
            <ac:spMk id="5" creationId="{A024F9CE-4CE2-5B42-70F9-E512425AB502}"/>
          </ac:spMkLst>
        </pc:spChg>
      </pc:sldChg>
      <pc:sldChg chg="modSp">
        <pc:chgData name="Fournier, William" userId="S::william.fournier@mcn.gouv.qc.ca::a6e08864-763c-4356-a819-e58270d4e929" providerId="AD" clId="Web-{187F56D6-5190-3D70-5D75-EA1BA2316155}" dt="2025-02-12T14:19:38.814" v="36" actId="20577"/>
        <pc:sldMkLst>
          <pc:docMk/>
          <pc:sldMk cId="2636819135" sldId="2147481510"/>
        </pc:sldMkLst>
        <pc:spChg chg="mod">
          <ac:chgData name="Fournier, William" userId="S::william.fournier@mcn.gouv.qc.ca::a6e08864-763c-4356-a819-e58270d4e929" providerId="AD" clId="Web-{187F56D6-5190-3D70-5D75-EA1BA2316155}" dt="2025-02-12T14:18:54.610" v="34" actId="20577"/>
          <ac:spMkLst>
            <pc:docMk/>
            <pc:sldMk cId="2636819135" sldId="2147481510"/>
            <ac:spMk id="2" creationId="{3C9CB00F-A1B3-A17C-35A7-0B31B05B0010}"/>
          </ac:spMkLst>
        </pc:spChg>
        <pc:spChg chg="mod">
          <ac:chgData name="Fournier, William" userId="S::william.fournier@mcn.gouv.qc.ca::a6e08864-763c-4356-a819-e58270d4e929" providerId="AD" clId="Web-{187F56D6-5190-3D70-5D75-EA1BA2316155}" dt="2025-02-12T14:19:38.814" v="36" actId="20577"/>
          <ac:spMkLst>
            <pc:docMk/>
            <pc:sldMk cId="2636819135" sldId="2147481510"/>
            <ac:spMk id="3" creationId="{607DD625-BA68-B558-5A6A-0A9E57E7DAEB}"/>
          </ac:spMkLst>
        </pc:spChg>
      </pc:sldChg>
      <pc:sldChg chg="modSp">
        <pc:chgData name="Fournier, William" userId="S::william.fournier@mcn.gouv.qc.ca::a6e08864-763c-4356-a819-e58270d4e929" providerId="AD" clId="Web-{187F56D6-5190-3D70-5D75-EA1BA2316155}" dt="2025-02-12T14:49:03.319" v="70" actId="20577"/>
        <pc:sldMkLst>
          <pc:docMk/>
          <pc:sldMk cId="1068674973" sldId="2147481511"/>
        </pc:sldMkLst>
        <pc:spChg chg="mod">
          <ac:chgData name="Fournier, William" userId="S::william.fournier@mcn.gouv.qc.ca::a6e08864-763c-4356-a819-e58270d4e929" providerId="AD" clId="Web-{187F56D6-5190-3D70-5D75-EA1BA2316155}" dt="2025-02-12T14:49:03.319" v="70" actId="20577"/>
          <ac:spMkLst>
            <pc:docMk/>
            <pc:sldMk cId="1068674973" sldId="2147481511"/>
            <ac:spMk id="2" creationId="{3853F35B-4922-E43D-562D-AAA21221F8BB}"/>
          </ac:spMkLst>
        </pc:spChg>
      </pc:sldChg>
      <pc:sldChg chg="modSp">
        <pc:chgData name="Fournier, William" userId="S::william.fournier@mcn.gouv.qc.ca::a6e08864-763c-4356-a819-e58270d4e929" providerId="AD" clId="Web-{187F56D6-5190-3D70-5D75-EA1BA2316155}" dt="2025-02-12T14:50:15.586" v="74" actId="20577"/>
        <pc:sldMkLst>
          <pc:docMk/>
          <pc:sldMk cId="1353450773" sldId="2147481512"/>
        </pc:sldMkLst>
        <pc:spChg chg="mod">
          <ac:chgData name="Fournier, William" userId="S::william.fournier@mcn.gouv.qc.ca::a6e08864-763c-4356-a819-e58270d4e929" providerId="AD" clId="Web-{187F56D6-5190-3D70-5D75-EA1BA2316155}" dt="2025-02-12T14:50:15.586" v="74" actId="20577"/>
          <ac:spMkLst>
            <pc:docMk/>
            <pc:sldMk cId="1353450773" sldId="2147481512"/>
            <ac:spMk id="12" creationId="{88123B32-4835-C8FB-5506-3B756D565A92}"/>
          </ac:spMkLst>
        </pc:spChg>
      </pc:sldChg>
      <pc:sldChg chg="modSp">
        <pc:chgData name="Fournier, William" userId="S::william.fournier@mcn.gouv.qc.ca::a6e08864-763c-4356-a819-e58270d4e929" providerId="AD" clId="Web-{187F56D6-5190-3D70-5D75-EA1BA2316155}" dt="2025-02-12T14:51:29.947" v="90" actId="20577"/>
        <pc:sldMkLst>
          <pc:docMk/>
          <pc:sldMk cId="1673476473" sldId="2147481513"/>
        </pc:sldMkLst>
        <pc:spChg chg="mod">
          <ac:chgData name="Fournier, William" userId="S::william.fournier@mcn.gouv.qc.ca::a6e08864-763c-4356-a819-e58270d4e929" providerId="AD" clId="Web-{187F56D6-5190-3D70-5D75-EA1BA2316155}" dt="2025-02-12T14:51:29.947" v="90" actId="20577"/>
          <ac:spMkLst>
            <pc:docMk/>
            <pc:sldMk cId="1673476473" sldId="2147481513"/>
            <ac:spMk id="3" creationId="{804D07A6-18C2-059D-5DA3-DE35DBE7D6BB}"/>
          </ac:spMkLst>
        </pc:spChg>
      </pc:sldChg>
    </pc:docChg>
  </pc:docChgLst>
  <pc:docChgLst>
    <pc:chgData name="Fournier, William" userId="a6e08864-763c-4356-a819-e58270d4e929" providerId="ADAL" clId="{FFA33998-D346-4EFF-89C0-111770CE91E6}"/>
    <pc:docChg chg="undo custSel modSld sldOrd">
      <pc:chgData name="Fournier, William" userId="a6e08864-763c-4356-a819-e58270d4e929" providerId="ADAL" clId="{FFA33998-D346-4EFF-89C0-111770CE91E6}" dt="2025-02-12T14:57:19.958" v="100"/>
      <pc:docMkLst>
        <pc:docMk/>
      </pc:docMkLst>
      <pc:sldChg chg="modSp mod">
        <pc:chgData name="Fournier, William" userId="a6e08864-763c-4356-a819-e58270d4e929" providerId="ADAL" clId="{FFA33998-D346-4EFF-89C0-111770CE91E6}" dt="2025-02-12T14:54:09.545" v="30" actId="20577"/>
        <pc:sldMkLst>
          <pc:docMk/>
          <pc:sldMk cId="4240037283" sldId="2147481468"/>
        </pc:sldMkLst>
        <pc:spChg chg="mod">
          <ac:chgData name="Fournier, William" userId="a6e08864-763c-4356-a819-e58270d4e929" providerId="ADAL" clId="{FFA33998-D346-4EFF-89C0-111770CE91E6}" dt="2025-02-12T14:54:09.545" v="30" actId="20577"/>
          <ac:spMkLst>
            <pc:docMk/>
            <pc:sldMk cId="4240037283" sldId="2147481468"/>
            <ac:spMk id="2" creationId="{B509E115-2E5A-DA66-C30F-09F9912DF056}"/>
          </ac:spMkLst>
        </pc:spChg>
      </pc:sldChg>
      <pc:sldChg chg="ord">
        <pc:chgData name="Fournier, William" userId="a6e08864-763c-4356-a819-e58270d4e929" providerId="ADAL" clId="{FFA33998-D346-4EFF-89C0-111770CE91E6}" dt="2025-02-12T14:57:19.958" v="100"/>
        <pc:sldMkLst>
          <pc:docMk/>
          <pc:sldMk cId="1220109014" sldId="2147481484"/>
        </pc:sldMkLst>
      </pc:sldChg>
      <pc:sldChg chg="modSp mod">
        <pc:chgData name="Fournier, William" userId="a6e08864-763c-4356-a819-e58270d4e929" providerId="ADAL" clId="{FFA33998-D346-4EFF-89C0-111770CE91E6}" dt="2025-02-12T14:56:27.421" v="93" actId="20577"/>
        <pc:sldMkLst>
          <pc:docMk/>
          <pc:sldMk cId="77264285" sldId="2147481491"/>
        </pc:sldMkLst>
        <pc:spChg chg="mod">
          <ac:chgData name="Fournier, William" userId="a6e08864-763c-4356-a819-e58270d4e929" providerId="ADAL" clId="{FFA33998-D346-4EFF-89C0-111770CE91E6}" dt="2025-02-12T14:56:27.421" v="93" actId="20577"/>
          <ac:spMkLst>
            <pc:docMk/>
            <pc:sldMk cId="77264285" sldId="2147481491"/>
            <ac:spMk id="3" creationId="{BAD77658-A210-23D4-01CD-A9757CC91DC9}"/>
          </ac:spMkLst>
        </pc:spChg>
      </pc:sldChg>
      <pc:sldChg chg="modSp mod">
        <pc:chgData name="Fournier, William" userId="a6e08864-763c-4356-a819-e58270d4e929" providerId="ADAL" clId="{FFA33998-D346-4EFF-89C0-111770CE91E6}" dt="2025-02-12T14:54:27.062" v="56" actId="20577"/>
        <pc:sldMkLst>
          <pc:docMk/>
          <pc:sldMk cId="3261126150" sldId="2147481494"/>
        </pc:sldMkLst>
        <pc:spChg chg="mod">
          <ac:chgData name="Fournier, William" userId="a6e08864-763c-4356-a819-e58270d4e929" providerId="ADAL" clId="{FFA33998-D346-4EFF-89C0-111770CE91E6}" dt="2025-02-12T14:54:27.062" v="56" actId="20577"/>
          <ac:spMkLst>
            <pc:docMk/>
            <pc:sldMk cId="3261126150" sldId="2147481494"/>
            <ac:spMk id="2" creationId="{702AB6D2-A8E9-A994-CA80-D0F882291507}"/>
          </ac:spMkLst>
        </pc:spChg>
      </pc:sldChg>
      <pc:sldChg chg="modSp mod">
        <pc:chgData name="Fournier, William" userId="a6e08864-763c-4356-a819-e58270d4e929" providerId="ADAL" clId="{FFA33998-D346-4EFF-89C0-111770CE91E6}" dt="2025-02-12T14:55:08.443" v="69" actId="20577"/>
        <pc:sldMkLst>
          <pc:docMk/>
          <pc:sldMk cId="2231598640" sldId="2147481495"/>
        </pc:sldMkLst>
        <pc:spChg chg="mod">
          <ac:chgData name="Fournier, William" userId="a6e08864-763c-4356-a819-e58270d4e929" providerId="ADAL" clId="{FFA33998-D346-4EFF-89C0-111770CE91E6}" dt="2025-02-12T14:55:08.443" v="69" actId="20577"/>
          <ac:spMkLst>
            <pc:docMk/>
            <pc:sldMk cId="2231598640" sldId="2147481495"/>
            <ac:spMk id="3" creationId="{DBF4371E-21A9-D39C-58F6-B93D145DD20D}"/>
          </ac:spMkLst>
        </pc:spChg>
      </pc:sldChg>
      <pc:sldChg chg="modSp mod">
        <pc:chgData name="Fournier, William" userId="a6e08864-763c-4356-a819-e58270d4e929" providerId="ADAL" clId="{FFA33998-D346-4EFF-89C0-111770CE91E6}" dt="2025-02-12T14:54:31.539" v="59" actId="20577"/>
        <pc:sldMkLst>
          <pc:docMk/>
          <pc:sldMk cId="3332556297" sldId="2147481498"/>
        </pc:sldMkLst>
        <pc:spChg chg="mod">
          <ac:chgData name="Fournier, William" userId="a6e08864-763c-4356-a819-e58270d4e929" providerId="ADAL" clId="{FFA33998-D346-4EFF-89C0-111770CE91E6}" dt="2025-02-12T14:54:31.539" v="59" actId="20577"/>
          <ac:spMkLst>
            <pc:docMk/>
            <pc:sldMk cId="3332556297" sldId="2147481498"/>
            <ac:spMk id="2" creationId="{C2A50E21-B229-3D64-3503-BB0F86255313}"/>
          </ac:spMkLst>
        </pc:spChg>
        <pc:spChg chg="mod">
          <ac:chgData name="Fournier, William" userId="a6e08864-763c-4356-a819-e58270d4e929" providerId="ADAL" clId="{FFA33998-D346-4EFF-89C0-111770CE91E6}" dt="2025-02-12T14:54:23.578" v="53" actId="20577"/>
          <ac:spMkLst>
            <pc:docMk/>
            <pc:sldMk cId="3332556297" sldId="2147481498"/>
            <ac:spMk id="3" creationId="{8E0AA8EE-1766-C672-90E0-F88E96C8C8FE}"/>
          </ac:spMkLst>
        </pc:spChg>
      </pc:sldChg>
      <pc:sldChg chg="modSp mod">
        <pc:chgData name="Fournier, William" userId="a6e08864-763c-4356-a819-e58270d4e929" providerId="ADAL" clId="{FFA33998-D346-4EFF-89C0-111770CE91E6}" dt="2025-02-12T14:56:59.228" v="98" actId="20577"/>
        <pc:sldMkLst>
          <pc:docMk/>
          <pc:sldMk cId="2402896661" sldId="2147481499"/>
        </pc:sldMkLst>
        <pc:spChg chg="mod">
          <ac:chgData name="Fournier, William" userId="a6e08864-763c-4356-a819-e58270d4e929" providerId="ADAL" clId="{FFA33998-D346-4EFF-89C0-111770CE91E6}" dt="2025-02-12T14:54:32.119" v="60" actId="20577"/>
          <ac:spMkLst>
            <pc:docMk/>
            <pc:sldMk cId="2402896661" sldId="2147481499"/>
            <ac:spMk id="2" creationId="{F505DD79-1E65-43BD-A3F0-EAEAA01470CA}"/>
          </ac:spMkLst>
        </pc:spChg>
        <pc:spChg chg="mod">
          <ac:chgData name="Fournier, William" userId="a6e08864-763c-4356-a819-e58270d4e929" providerId="ADAL" clId="{FFA33998-D346-4EFF-89C0-111770CE91E6}" dt="2025-02-12T14:56:59.228" v="98" actId="20577"/>
          <ac:spMkLst>
            <pc:docMk/>
            <pc:sldMk cId="2402896661" sldId="2147481499"/>
            <ac:spMk id="3" creationId="{C383AD3D-1732-1BBA-C1A2-8CAD8ED7B0F2}"/>
          </ac:spMkLst>
        </pc:spChg>
      </pc:sldChg>
      <pc:sldChg chg="modSp mod">
        <pc:chgData name="Fournier, William" userId="a6e08864-763c-4356-a819-e58270d4e929" providerId="ADAL" clId="{FFA33998-D346-4EFF-89C0-111770CE91E6}" dt="2025-02-12T14:55:29.456" v="72" actId="20577"/>
        <pc:sldMkLst>
          <pc:docMk/>
          <pc:sldMk cId="2755394438" sldId="2147481500"/>
        </pc:sldMkLst>
        <pc:spChg chg="mod">
          <ac:chgData name="Fournier, William" userId="a6e08864-763c-4356-a819-e58270d4e929" providerId="ADAL" clId="{FFA33998-D346-4EFF-89C0-111770CE91E6}" dt="2025-02-12T14:54:32.747" v="62" actId="20577"/>
          <ac:spMkLst>
            <pc:docMk/>
            <pc:sldMk cId="2755394438" sldId="2147481500"/>
            <ac:spMk id="2" creationId="{3E430571-8ECC-105F-F836-C95241196A83}"/>
          </ac:spMkLst>
        </pc:spChg>
        <pc:spChg chg="mod">
          <ac:chgData name="Fournier, William" userId="a6e08864-763c-4356-a819-e58270d4e929" providerId="ADAL" clId="{FFA33998-D346-4EFF-89C0-111770CE91E6}" dt="2025-02-12T14:55:29.456" v="72" actId="20577"/>
          <ac:spMkLst>
            <pc:docMk/>
            <pc:sldMk cId="2755394438" sldId="2147481500"/>
            <ac:spMk id="3" creationId="{3AB601C9-26D9-3973-6B6F-F98811D3A1BF}"/>
          </ac:spMkLst>
        </pc:spChg>
      </pc:sldChg>
      <pc:sldChg chg="modSp mod">
        <pc:chgData name="Fournier, William" userId="a6e08864-763c-4356-a819-e58270d4e929" providerId="ADAL" clId="{FFA33998-D346-4EFF-89C0-111770CE91E6}" dt="2025-02-12T14:54:40.335" v="66" actId="14100"/>
        <pc:sldMkLst>
          <pc:docMk/>
          <pc:sldMk cId="3652292955" sldId="2147481501"/>
        </pc:sldMkLst>
        <pc:spChg chg="mod">
          <ac:chgData name="Fournier, William" userId="a6e08864-763c-4356-a819-e58270d4e929" providerId="ADAL" clId="{FFA33998-D346-4EFF-89C0-111770CE91E6}" dt="2025-02-12T14:54:33.045" v="63" actId="20577"/>
          <ac:spMkLst>
            <pc:docMk/>
            <pc:sldMk cId="3652292955" sldId="2147481501"/>
            <ac:spMk id="2" creationId="{3DDEC886-497F-7C5A-7A9E-888361568B18}"/>
          </ac:spMkLst>
        </pc:spChg>
        <pc:spChg chg="mod">
          <ac:chgData name="Fournier, William" userId="a6e08864-763c-4356-a819-e58270d4e929" providerId="ADAL" clId="{FFA33998-D346-4EFF-89C0-111770CE91E6}" dt="2025-02-12T14:54:23.899" v="54" actId="20577"/>
          <ac:spMkLst>
            <pc:docMk/>
            <pc:sldMk cId="3652292955" sldId="2147481501"/>
            <ac:spMk id="3" creationId="{06C226D8-707E-3122-0E65-498EF0000AE6}"/>
          </ac:spMkLst>
        </pc:spChg>
        <pc:spChg chg="mod">
          <ac:chgData name="Fournier, William" userId="a6e08864-763c-4356-a819-e58270d4e929" providerId="ADAL" clId="{FFA33998-D346-4EFF-89C0-111770CE91E6}" dt="2025-02-12T14:54:40.335" v="66" actId="14100"/>
          <ac:spMkLst>
            <pc:docMk/>
            <pc:sldMk cId="3652292955" sldId="2147481501"/>
            <ac:spMk id="8" creationId="{0FF5DB86-12CF-70AF-6623-DCCE417E4288}"/>
          </ac:spMkLst>
        </pc:spChg>
        <pc:spChg chg="mod">
          <ac:chgData name="Fournier, William" userId="a6e08864-763c-4356-a819-e58270d4e929" providerId="ADAL" clId="{FFA33998-D346-4EFF-89C0-111770CE91E6}" dt="2025-02-12T14:54:20.662" v="52" actId="20577"/>
          <ac:spMkLst>
            <pc:docMk/>
            <pc:sldMk cId="3652292955" sldId="2147481501"/>
            <ac:spMk id="60" creationId="{0D89F273-55FC-A176-049C-D50C1E0C5D86}"/>
          </ac:spMkLst>
        </pc:spChg>
        <pc:spChg chg="mod">
          <ac:chgData name="Fournier, William" userId="a6e08864-763c-4356-a819-e58270d4e929" providerId="ADAL" clId="{FFA33998-D346-4EFF-89C0-111770CE91E6}" dt="2025-02-12T14:54:17.755" v="50" actId="20577"/>
          <ac:spMkLst>
            <pc:docMk/>
            <pc:sldMk cId="3652292955" sldId="2147481501"/>
            <ac:spMk id="61" creationId="{542FA497-8CF7-9DA7-4D94-E82F482E5169}"/>
          </ac:spMkLst>
        </pc:spChg>
      </pc:sldChg>
      <pc:sldChg chg="modSp mod">
        <pc:chgData name="Fournier, William" userId="a6e08864-763c-4356-a819-e58270d4e929" providerId="ADAL" clId="{FFA33998-D346-4EFF-89C0-111770CE91E6}" dt="2025-02-12T14:56:34.881" v="94" actId="20577"/>
        <pc:sldMkLst>
          <pc:docMk/>
          <pc:sldMk cId="1415460331" sldId="2147481503"/>
        </pc:sldMkLst>
        <pc:spChg chg="mod">
          <ac:chgData name="Fournier, William" userId="a6e08864-763c-4356-a819-e58270d4e929" providerId="ADAL" clId="{FFA33998-D346-4EFF-89C0-111770CE91E6}" dt="2025-02-12T14:54:33.391" v="64" actId="20577"/>
          <ac:spMkLst>
            <pc:docMk/>
            <pc:sldMk cId="1415460331" sldId="2147481503"/>
            <ac:spMk id="2" creationId="{13D1C634-D5D6-F2EB-4A29-AA971F7FC1D6}"/>
          </ac:spMkLst>
        </pc:spChg>
        <pc:spChg chg="mod">
          <ac:chgData name="Fournier, William" userId="a6e08864-763c-4356-a819-e58270d4e929" providerId="ADAL" clId="{FFA33998-D346-4EFF-89C0-111770CE91E6}" dt="2025-02-12T14:56:34.881" v="94" actId="20577"/>
          <ac:spMkLst>
            <pc:docMk/>
            <pc:sldMk cId="1415460331" sldId="2147481503"/>
            <ac:spMk id="3" creationId="{CDDF3E68-E9CD-DC0A-75D9-3DE728DBA19F}"/>
          </ac:spMkLst>
        </pc:spChg>
      </pc:sldChg>
      <pc:sldChg chg="modSp mod">
        <pc:chgData name="Fournier, William" userId="a6e08864-763c-4356-a819-e58270d4e929" providerId="ADAL" clId="{FFA33998-D346-4EFF-89C0-111770CE91E6}" dt="2025-02-12T14:54:32.480" v="61" actId="20577"/>
        <pc:sldMkLst>
          <pc:docMk/>
          <pc:sldMk cId="1000886991" sldId="2147481505"/>
        </pc:sldMkLst>
        <pc:spChg chg="mod">
          <ac:chgData name="Fournier, William" userId="a6e08864-763c-4356-a819-e58270d4e929" providerId="ADAL" clId="{FFA33998-D346-4EFF-89C0-111770CE91E6}" dt="2025-02-12T14:54:27.383" v="57" actId="20577"/>
          <ac:spMkLst>
            <pc:docMk/>
            <pc:sldMk cId="1000886991" sldId="2147481505"/>
            <ac:spMk id="3" creationId="{EBEE5107-1090-B6A9-6C4D-75649AA56F9B}"/>
          </ac:spMkLst>
        </pc:spChg>
        <pc:spChg chg="mod">
          <ac:chgData name="Fournier, William" userId="a6e08864-763c-4356-a819-e58270d4e929" providerId="ADAL" clId="{FFA33998-D346-4EFF-89C0-111770CE91E6}" dt="2025-02-12T14:54:32.480" v="61" actId="20577"/>
          <ac:spMkLst>
            <pc:docMk/>
            <pc:sldMk cId="1000886991" sldId="2147481505"/>
            <ac:spMk id="6" creationId="{CBBB0F4E-772B-5EC0-DBA1-B916F30D347F}"/>
          </ac:spMkLst>
        </pc:spChg>
      </pc:sldChg>
      <pc:sldChg chg="modSp mod">
        <pc:chgData name="Fournier, William" userId="a6e08864-763c-4356-a819-e58270d4e929" providerId="ADAL" clId="{FFA33998-D346-4EFF-89C0-111770CE91E6}" dt="2025-02-12T14:54:31.163" v="58" actId="20577"/>
        <pc:sldMkLst>
          <pc:docMk/>
          <pc:sldMk cId="416814286" sldId="2147481509"/>
        </pc:sldMkLst>
        <pc:spChg chg="mod">
          <ac:chgData name="Fournier, William" userId="a6e08864-763c-4356-a819-e58270d4e929" providerId="ADAL" clId="{FFA33998-D346-4EFF-89C0-111770CE91E6}" dt="2025-02-12T14:54:31.163" v="58" actId="20577"/>
          <ac:spMkLst>
            <pc:docMk/>
            <pc:sldMk cId="416814286" sldId="2147481509"/>
            <ac:spMk id="3" creationId="{83D58A2B-3AD3-BD31-6149-902E7084F8D3}"/>
          </ac:spMkLst>
        </pc:spChg>
      </pc:sldChg>
      <pc:sldChg chg="modSp mod">
        <pc:chgData name="Fournier, William" userId="a6e08864-763c-4356-a819-e58270d4e929" providerId="ADAL" clId="{FFA33998-D346-4EFF-89C0-111770CE91E6}" dt="2025-02-12T14:56:46.027" v="96" actId="20577"/>
        <pc:sldMkLst>
          <pc:docMk/>
          <pc:sldMk cId="1068674973" sldId="2147481511"/>
        </pc:sldMkLst>
        <pc:spChg chg="mod">
          <ac:chgData name="Fournier, William" userId="a6e08864-763c-4356-a819-e58270d4e929" providerId="ADAL" clId="{FFA33998-D346-4EFF-89C0-111770CE91E6}" dt="2025-02-12T14:56:46.027" v="96" actId="20577"/>
          <ac:spMkLst>
            <pc:docMk/>
            <pc:sldMk cId="1068674973" sldId="2147481511"/>
            <ac:spMk id="2" creationId="{3853F35B-4922-E43D-562D-AAA21221F8BB}"/>
          </ac:spMkLst>
        </pc:spChg>
        <pc:spChg chg="mod">
          <ac:chgData name="Fournier, William" userId="a6e08864-763c-4356-a819-e58270d4e929" providerId="ADAL" clId="{FFA33998-D346-4EFF-89C0-111770CE91E6}" dt="2025-02-12T14:54:13.635" v="45" actId="20577"/>
          <ac:spMkLst>
            <pc:docMk/>
            <pc:sldMk cId="1068674973" sldId="2147481511"/>
            <ac:spMk id="5" creationId="{9C444F72-3D9C-E8CC-D7A4-C22CB4BBEA15}"/>
          </ac:spMkLst>
        </pc:spChg>
        <pc:spChg chg="mod">
          <ac:chgData name="Fournier, William" userId="a6e08864-763c-4356-a819-e58270d4e929" providerId="ADAL" clId="{FFA33998-D346-4EFF-89C0-111770CE91E6}" dt="2025-02-12T14:54:13.857" v="46" actId="20577"/>
          <ac:spMkLst>
            <pc:docMk/>
            <pc:sldMk cId="1068674973" sldId="2147481511"/>
            <ac:spMk id="11" creationId="{A2BBBDFB-F0A0-D054-6424-6EFE6BD25337}"/>
          </ac:spMkLst>
        </pc:spChg>
      </pc:sldChg>
      <pc:sldChg chg="modSp mod">
        <pc:chgData name="Fournier, William" userId="a6e08864-763c-4356-a819-e58270d4e929" providerId="ADAL" clId="{FFA33998-D346-4EFF-89C0-111770CE91E6}" dt="2025-02-12T14:56:01.588" v="74" actId="20577"/>
        <pc:sldMkLst>
          <pc:docMk/>
          <pc:sldMk cId="1673476473" sldId="2147481513"/>
        </pc:sldMkLst>
        <pc:spChg chg="mod">
          <ac:chgData name="Fournier, William" userId="a6e08864-763c-4356-a819-e58270d4e929" providerId="ADAL" clId="{FFA33998-D346-4EFF-89C0-111770CE91E6}" dt="2025-02-12T14:56:01.588" v="74" actId="20577"/>
          <ac:spMkLst>
            <pc:docMk/>
            <pc:sldMk cId="1673476473" sldId="2147481513"/>
            <ac:spMk id="3" creationId="{804D07A6-18C2-059D-5DA3-DE35DBE7D6BB}"/>
          </ac:spMkLst>
        </pc:spChg>
      </pc:sldChg>
      <pc:sldChg chg="modSp mod">
        <pc:chgData name="Fournier, William" userId="a6e08864-763c-4356-a819-e58270d4e929" providerId="ADAL" clId="{FFA33998-D346-4EFF-89C0-111770CE91E6}" dt="2025-02-12T14:54:15.005" v="49" actId="20577"/>
        <pc:sldMkLst>
          <pc:docMk/>
          <pc:sldMk cId="2173886076" sldId="2147481515"/>
        </pc:sldMkLst>
        <pc:spChg chg="mod">
          <ac:chgData name="Fournier, William" userId="a6e08864-763c-4356-a819-e58270d4e929" providerId="ADAL" clId="{FFA33998-D346-4EFF-89C0-111770CE91E6}" dt="2025-02-12T14:54:14.683" v="48" actId="20577"/>
          <ac:spMkLst>
            <pc:docMk/>
            <pc:sldMk cId="2173886076" sldId="2147481515"/>
            <ac:spMk id="3" creationId="{C45709A9-5ABA-D4EC-FCD3-1AFEA793B736}"/>
          </ac:spMkLst>
        </pc:spChg>
        <pc:spChg chg="mod">
          <ac:chgData name="Fournier, William" userId="a6e08864-763c-4356-a819-e58270d4e929" providerId="ADAL" clId="{FFA33998-D346-4EFF-89C0-111770CE91E6}" dt="2025-02-12T14:54:15.005" v="49" actId="20577"/>
          <ac:spMkLst>
            <pc:docMk/>
            <pc:sldMk cId="2173886076" sldId="2147481515"/>
            <ac:spMk id="6" creationId="{5F3A5F3A-5219-04E4-114F-19EA937DAE01}"/>
          </ac:spMkLst>
        </pc:spChg>
      </pc:sldChg>
    </pc:docChg>
  </pc:docChgLst>
  <pc:docChgLst>
    <pc:chgData clId="Web-{187F56D6-5190-3D70-5D75-EA1BA2316155}"/>
    <pc:docChg chg="modSld">
      <pc:chgData name="" userId="" providerId="" clId="Web-{187F56D6-5190-3D70-5D75-EA1BA2316155}" dt="2025-02-12T14:12:36.277" v="3" actId="20577"/>
      <pc:docMkLst>
        <pc:docMk/>
      </pc:docMkLst>
      <pc:sldChg chg="modSp">
        <pc:chgData name="" userId="" providerId="" clId="Web-{187F56D6-5190-3D70-5D75-EA1BA2316155}" dt="2025-02-12T14:12:36.277" v="3" actId="20577"/>
        <pc:sldMkLst>
          <pc:docMk/>
          <pc:sldMk cId="3336007459" sldId="259"/>
        </pc:sldMkLst>
        <pc:spChg chg="mod">
          <ac:chgData name="" userId="" providerId="" clId="Web-{187F56D6-5190-3D70-5D75-EA1BA2316155}" dt="2025-02-12T14:12:36.277" v="3" actId="20577"/>
          <ac:spMkLst>
            <pc:docMk/>
            <pc:sldMk cId="3336007459" sldId="259"/>
            <ac:spMk id="8" creationId="{F307F451-2F38-4FCC-9F0A-FA29B7E5C0E8}"/>
          </ac:spMkLst>
        </pc:spChg>
      </pc:sldChg>
    </pc:docChg>
  </pc:docChgLst>
  <pc:docChgLst>
    <pc:chgData name="St-Hilaire-Tremblay, Marie" userId="S::marie.st-hilaire-tremblay@mcn.gouv.qc.ca::71e270a3-a8e7-4a37-b958-5ca53013e38a" providerId="AD" clId="Web-{FBA69CA1-C5BD-275A-8B7C-53FA9B5CF310}"/>
    <pc:docChg chg="modSld">
      <pc:chgData name="St-Hilaire-Tremblay, Marie" userId="S::marie.st-hilaire-tremblay@mcn.gouv.qc.ca::71e270a3-a8e7-4a37-b958-5ca53013e38a" providerId="AD" clId="Web-{FBA69CA1-C5BD-275A-8B7C-53FA9B5CF310}" dt="2025-02-13T14:36:39.160" v="9" actId="20577"/>
      <pc:docMkLst>
        <pc:docMk/>
      </pc:docMkLst>
      <pc:sldChg chg="modSp modCm">
        <pc:chgData name="St-Hilaire-Tremblay, Marie" userId="S::marie.st-hilaire-tremblay@mcn.gouv.qc.ca::71e270a3-a8e7-4a37-b958-5ca53013e38a" providerId="AD" clId="Web-{FBA69CA1-C5BD-275A-8B7C-53FA9B5CF310}" dt="2025-02-13T14:36:39.160" v="9" actId="20577"/>
        <pc:sldMkLst>
          <pc:docMk/>
          <pc:sldMk cId="3261126150" sldId="2147481494"/>
        </pc:sldMkLst>
        <pc:spChg chg="mod">
          <ac:chgData name="St-Hilaire-Tremblay, Marie" userId="S::marie.st-hilaire-tremblay@mcn.gouv.qc.ca::71e270a3-a8e7-4a37-b958-5ca53013e38a" providerId="AD" clId="Web-{FBA69CA1-C5BD-275A-8B7C-53FA9B5CF310}" dt="2025-02-13T14:36:39.160" v="9" actId="20577"/>
          <ac:spMkLst>
            <pc:docMk/>
            <pc:sldMk cId="3261126150" sldId="2147481494"/>
            <ac:spMk id="7" creationId="{C77EC1F7-EF90-EF26-B184-1FF5B08EB649}"/>
          </ac:spMkLst>
        </pc:spChg>
        <pc:extLst>
          <p:ext xmlns:p="http://schemas.openxmlformats.org/presentationml/2006/main" uri="{D6D511B9-2390-475A-947B-AFAB55BFBCF1}">
            <pc226:cmChg xmlns:pc226="http://schemas.microsoft.com/office/powerpoint/2022/06/main/command" chg="mod">
              <pc226:chgData name="St-Hilaire-Tremblay, Marie" userId="S::marie.st-hilaire-tremblay@mcn.gouv.qc.ca::71e270a3-a8e7-4a37-b958-5ca53013e38a" providerId="AD" clId="Web-{FBA69CA1-C5BD-275A-8B7C-53FA9B5CF310}" dt="2025-02-13T14:36:14.192" v="8" actId="20577"/>
              <pc2:cmMkLst xmlns:pc2="http://schemas.microsoft.com/office/powerpoint/2019/9/main/command">
                <pc:docMk/>
                <pc:sldMk cId="3261126150" sldId="2147481494"/>
                <pc2:cmMk id="{36907028-86D6-43F4-8FA9-273E7BA9BD3D}"/>
              </pc2:cmMkLst>
            </pc226:cmChg>
          </p:ext>
        </pc:ext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pgouvqc.sharepoint.com/teams/MCN-CentreQcExcellenceNum2-DG-SMATNG/Documents%20partages/&#201;quipe%20Technologies%20&#201;mergentes%20et%20innovation/Mandats/IA%20G&#233;n&#233;rative%20(dont%20ChatGPT)/Documents/Projet%20pilote%20Strat&#233;gie%20d'exp&#233;rimentation%20de%20l'IA%20g&#233;n&#233;rative/Consultation"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pgouvqc.sharepoint.com/teams/MCN-CentreQcExcellenceNum2-DG-SMATNG/Documents%20partages/&#201;quipe%20Technologies%20&#201;mergentes%20et%20innovation/Mandats/IA%20G&#233;n&#233;rative%20(dont%20ChatGPT)/Documents/Projet%20pilote%20Strat&#233;gie%20d'exp&#233;rimentation%20de%20l'IA%20g&#233;n&#233;rative/Consultation"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fr-CA"/>
              <a:t>En moyenne, combien de jours par semaine utilisez-vous l’outil Copilot M365 ?</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'[Comparaison des résultats des sondages.xlsx]Tx efficacité tâches'!$R$16</c:f>
              <c:strCache>
                <c:ptCount val="1"/>
                <c:pt idx="0">
                  <c:v>Après 1 mois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'[Comparaison des résultats des sondages.xlsx]Tx efficacité tâches'!$Q$17:$Q$22</c:f>
              <c:strCache>
                <c:ptCount val="6"/>
                <c:pt idx="0">
                  <c:v>Je n’utilise pas l’outil Copilot M365</c:v>
                </c:pt>
                <c:pt idx="1">
                  <c:v>1 jour par semaine</c:v>
                </c:pt>
                <c:pt idx="2">
                  <c:v>2 jours par semaine</c:v>
                </c:pt>
                <c:pt idx="3">
                  <c:v>3 jours par semaine</c:v>
                </c:pt>
                <c:pt idx="4">
                  <c:v>4 jours par semaine</c:v>
                </c:pt>
                <c:pt idx="5">
                  <c:v>Tous les jours</c:v>
                </c:pt>
              </c:strCache>
            </c:strRef>
          </c:cat>
          <c:val>
            <c:numRef>
              <c:f>'[Comparaison des résultats des sondages.xlsx]Tx efficacité tâches'!$R$17:$R$22</c:f>
              <c:numCache>
                <c:formatCode>0%</c:formatCode>
                <c:ptCount val="6"/>
                <c:pt idx="0">
                  <c:v>9.6153846153846173E-2</c:v>
                </c:pt>
                <c:pt idx="1">
                  <c:v>0.15384615384615385</c:v>
                </c:pt>
                <c:pt idx="2">
                  <c:v>0.15384615384615385</c:v>
                </c:pt>
                <c:pt idx="3">
                  <c:v>0.21153846153846154</c:v>
                </c:pt>
                <c:pt idx="4">
                  <c:v>7.6923076923076927E-2</c:v>
                </c:pt>
                <c:pt idx="5">
                  <c:v>0.30769230769230771</c:v>
                </c:pt>
              </c:numCache>
            </c:numRef>
          </c:val>
          <c:extLst>
            <c:ext xmlns:c16="http://schemas.microsoft.com/office/drawing/2014/chart" uri="{C3380CC4-5D6E-409C-BE32-E72D297353CC}">
              <c16:uniqueId val="{00000000-A508-47B8-9594-0D3F54FEF8B4}"/>
            </c:ext>
          </c:extLst>
        </c:ser>
        <c:ser>
          <c:idx val="1"/>
          <c:order val="1"/>
          <c:tx>
            <c:strRef>
              <c:f>'[Comparaison des résultats des sondages.xlsx]Tx efficacité tâches'!$S$16</c:f>
              <c:strCache>
                <c:ptCount val="1"/>
                <c:pt idx="0">
                  <c:v>Après 2 mois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'[Comparaison des résultats des sondages.xlsx]Tx efficacité tâches'!$Q$17:$Q$22</c:f>
              <c:strCache>
                <c:ptCount val="6"/>
                <c:pt idx="0">
                  <c:v>Je n’utilise pas l’outil Copilot M365</c:v>
                </c:pt>
                <c:pt idx="1">
                  <c:v>1 jour par semaine</c:v>
                </c:pt>
                <c:pt idx="2">
                  <c:v>2 jours par semaine</c:v>
                </c:pt>
                <c:pt idx="3">
                  <c:v>3 jours par semaine</c:v>
                </c:pt>
                <c:pt idx="4">
                  <c:v>4 jours par semaine</c:v>
                </c:pt>
                <c:pt idx="5">
                  <c:v>Tous les jours</c:v>
                </c:pt>
              </c:strCache>
            </c:strRef>
          </c:cat>
          <c:val>
            <c:numRef>
              <c:f>'[Comparaison des résultats des sondages.xlsx]Tx efficacité tâches'!$S$17:$S$22</c:f>
              <c:numCache>
                <c:formatCode>0%</c:formatCode>
                <c:ptCount val="6"/>
                <c:pt idx="0">
                  <c:v>0.14814814814814814</c:v>
                </c:pt>
                <c:pt idx="1">
                  <c:v>0.22222222222222221</c:v>
                </c:pt>
                <c:pt idx="2">
                  <c:v>0.14814814814814814</c:v>
                </c:pt>
                <c:pt idx="3">
                  <c:v>0.16666666666666663</c:v>
                </c:pt>
                <c:pt idx="4">
                  <c:v>9.2592592592592601E-2</c:v>
                </c:pt>
                <c:pt idx="5">
                  <c:v>0.22222222222222221</c:v>
                </c:pt>
              </c:numCache>
            </c:numRef>
          </c:val>
          <c:extLst>
            <c:ext xmlns:c16="http://schemas.microsoft.com/office/drawing/2014/chart" uri="{C3380CC4-5D6E-409C-BE32-E72D297353CC}">
              <c16:uniqueId val="{00000001-A508-47B8-9594-0D3F54FEF8B4}"/>
            </c:ext>
          </c:extLst>
        </c:ser>
        <c:dLbls>
          <c:showLegendKey val="0"/>
          <c:showVal val="0"/>
          <c:showCatName val="0"/>
          <c:showSerName val="0"/>
          <c:showPercent val="0"/>
          <c:showBubbleSize val="0"/>
        </c:dLbls>
        <c:gapWidth val="219"/>
        <c:overlap val="-27"/>
        <c:axId val="1826719263"/>
        <c:axId val="1826721663"/>
      </c:barChart>
      <c:catAx>
        <c:axId val="1826719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crossAx val="1826721663"/>
        <c:crosses val="autoZero"/>
        <c:auto val="1"/>
        <c:lblAlgn val="ctr"/>
        <c:lblOffset val="100"/>
        <c:noMultiLvlLbl val="0"/>
      </c:catAx>
      <c:valAx>
        <c:axId val="1826721663"/>
        <c:scaling>
          <c:orientation val="minMax"/>
        </c:scaling>
        <c:delete val="1"/>
        <c:axPos val="l"/>
        <c:numFmt formatCode="0%" sourceLinked="1"/>
        <c:majorTickMark val="none"/>
        <c:minorTickMark val="none"/>
        <c:tickLblPos val="nextTo"/>
        <c:crossAx val="1826719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fr-CA"/>
              <a:t>Observation d'un gain avec l'utilisation de Copilot M365</a:t>
            </a:r>
          </a:p>
        </c:rich>
      </c:tx>
      <c:layout>
        <c:manualLayout>
          <c:xMode val="edge"/>
          <c:yMode val="edge"/>
          <c:x val="0.31914916532040927"/>
          <c:y val="7.6179507712425362E-2"/>
        </c:manualLayout>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'[Comparaison des résultats des sondages.xlsx]Aspects travail'!$B$60</c:f>
              <c:strCache>
                <c:ptCount val="1"/>
                <c:pt idx="0">
                  <c:v>Va ou a augmenté après 1 semaine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'[Comparaison des résultats des sondages.xlsx]Aspects travail'!$A$61:$A$71</c:f>
              <c:strCache>
                <c:ptCount val="7"/>
                <c:pt idx="0">
                  <c:v>Rapidité au travail</c:v>
                </c:pt>
                <c:pt idx="1">
                  <c:v>Niveau de créativité</c:v>
                </c:pt>
                <c:pt idx="2">
                  <c:v>Qualité du travail et des livrables</c:v>
                </c:pt>
                <c:pt idx="3">
                  <c:v>Niveau d’aisance dans l’exécution des tâches</c:v>
                </c:pt>
                <c:pt idx="4">
                  <c:v>Gestion efficace de la charge de travail</c:v>
                </c:pt>
                <c:pt idx="5">
                  <c:v>Capacité à atteindre des objectifs fixés </c:v>
                </c:pt>
                <c:pt idx="6">
                  <c:v>Capacité de résolution des problèmes complexes</c:v>
                </c:pt>
              </c:strCache>
              <c:extLst/>
            </c:strRef>
          </c:cat>
          <c:val>
            <c:numRef>
              <c:f>'[Comparaison des résultats des sondages.xlsx]Aspects travail'!$B$61:$B$71</c:f>
              <c:numCache>
                <c:formatCode>0%</c:formatCode>
                <c:ptCount val="7"/>
                <c:pt idx="0">
                  <c:v>0.7931034482758621</c:v>
                </c:pt>
                <c:pt idx="1">
                  <c:v>0.75862068965517238</c:v>
                </c:pt>
                <c:pt idx="2">
                  <c:v>0.68965517241379315</c:v>
                </c:pt>
                <c:pt idx="3">
                  <c:v>0.55172413793103448</c:v>
                </c:pt>
                <c:pt idx="4">
                  <c:v>0.51724137931034486</c:v>
                </c:pt>
                <c:pt idx="5">
                  <c:v>0.51724137931034486</c:v>
                </c:pt>
                <c:pt idx="6">
                  <c:v>0.48275862068965519</c:v>
                </c:pt>
              </c:numCache>
              <c:extLst/>
            </c:numRef>
          </c:val>
          <c:extLst>
            <c:ext xmlns:c16="http://schemas.microsoft.com/office/drawing/2014/chart" uri="{C3380CC4-5D6E-409C-BE32-E72D297353CC}">
              <c16:uniqueId val="{00000000-64BC-462A-871F-9A59E086625F}"/>
            </c:ext>
          </c:extLst>
        </c:ser>
        <c:ser>
          <c:idx val="1"/>
          <c:order val="1"/>
          <c:tx>
            <c:strRef>
              <c:f>'[Comparaison des résultats des sondages.xlsx]Aspects travail'!$C$60</c:f>
              <c:strCache>
                <c:ptCount val="1"/>
                <c:pt idx="0">
                  <c:v>A augmenté après 1 mois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'[Comparaison des résultats des sondages.xlsx]Aspects travail'!$A$61:$A$71</c:f>
              <c:strCache>
                <c:ptCount val="7"/>
                <c:pt idx="0">
                  <c:v>Rapidité au travail</c:v>
                </c:pt>
                <c:pt idx="1">
                  <c:v>Niveau de créativité</c:v>
                </c:pt>
                <c:pt idx="2">
                  <c:v>Qualité du travail et des livrables</c:v>
                </c:pt>
                <c:pt idx="3">
                  <c:v>Niveau d’aisance dans l’exécution des tâches</c:v>
                </c:pt>
                <c:pt idx="4">
                  <c:v>Gestion efficace de la charge de travail</c:v>
                </c:pt>
                <c:pt idx="5">
                  <c:v>Capacité à atteindre des objectifs fixés </c:v>
                </c:pt>
                <c:pt idx="6">
                  <c:v>Capacité de résolution des problèmes complexes</c:v>
                </c:pt>
              </c:strCache>
              <c:extLst/>
            </c:strRef>
          </c:cat>
          <c:val>
            <c:numRef>
              <c:f>'[Comparaison des résultats des sondages.xlsx]Aspects travail'!$C$61:$C$71</c:f>
              <c:numCache>
                <c:formatCode>0%</c:formatCode>
                <c:ptCount val="7"/>
                <c:pt idx="0">
                  <c:v>0.5957446808510638</c:v>
                </c:pt>
                <c:pt idx="1">
                  <c:v>0.5957446808510638</c:v>
                </c:pt>
                <c:pt idx="2">
                  <c:v>0.53191489361702127</c:v>
                </c:pt>
                <c:pt idx="3">
                  <c:v>0.25531914893617019</c:v>
                </c:pt>
                <c:pt idx="4">
                  <c:v>0.4042553191489362</c:v>
                </c:pt>
                <c:pt idx="5">
                  <c:v>0.36170212765957444</c:v>
                </c:pt>
                <c:pt idx="6">
                  <c:v>0.31914893617021278</c:v>
                </c:pt>
              </c:numCache>
              <c:extLst/>
            </c:numRef>
          </c:val>
          <c:extLst>
            <c:ext xmlns:c16="http://schemas.microsoft.com/office/drawing/2014/chart" uri="{C3380CC4-5D6E-409C-BE32-E72D297353CC}">
              <c16:uniqueId val="{00000001-64BC-462A-871F-9A59E086625F}"/>
            </c:ext>
          </c:extLst>
        </c:ser>
        <c:ser>
          <c:idx val="2"/>
          <c:order val="2"/>
          <c:tx>
            <c:strRef>
              <c:f>'[Comparaison des résultats des sondages.xlsx]Aspects travail'!$D$60</c:f>
              <c:strCache>
                <c:ptCount val="1"/>
                <c:pt idx="0">
                  <c:v>A augmenté après 2 mois</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'[Comparaison des résultats des sondages.xlsx]Aspects travail'!$A$61:$A$71</c:f>
              <c:strCache>
                <c:ptCount val="7"/>
                <c:pt idx="0">
                  <c:v>Rapidité au travail</c:v>
                </c:pt>
                <c:pt idx="1">
                  <c:v>Niveau de créativité</c:v>
                </c:pt>
                <c:pt idx="2">
                  <c:v>Qualité du travail et des livrables</c:v>
                </c:pt>
                <c:pt idx="3">
                  <c:v>Niveau d’aisance dans l’exécution des tâches</c:v>
                </c:pt>
                <c:pt idx="4">
                  <c:v>Gestion efficace de la charge de travail</c:v>
                </c:pt>
                <c:pt idx="5">
                  <c:v>Capacité à atteindre des objectifs fixés </c:v>
                </c:pt>
                <c:pt idx="6">
                  <c:v>Capacité de résolution des problèmes complexes</c:v>
                </c:pt>
              </c:strCache>
              <c:extLst/>
            </c:strRef>
          </c:cat>
          <c:val>
            <c:numRef>
              <c:f>'[Comparaison des résultats des sondages.xlsx]Aspects travail'!$D$61:$D$71</c:f>
              <c:numCache>
                <c:formatCode>0%</c:formatCode>
                <c:ptCount val="7"/>
                <c:pt idx="0">
                  <c:v>0.63043478260869568</c:v>
                </c:pt>
                <c:pt idx="1">
                  <c:v>0.65217391304347827</c:v>
                </c:pt>
                <c:pt idx="2">
                  <c:v>0.58695652173913038</c:v>
                </c:pt>
                <c:pt idx="3">
                  <c:v>0.47826086956521741</c:v>
                </c:pt>
                <c:pt idx="4">
                  <c:v>0.39130434782608692</c:v>
                </c:pt>
                <c:pt idx="5">
                  <c:v>0.41304347826086951</c:v>
                </c:pt>
                <c:pt idx="6">
                  <c:v>0.45652173913043481</c:v>
                </c:pt>
              </c:numCache>
              <c:extLst/>
            </c:numRef>
          </c:val>
          <c:extLst>
            <c:ext xmlns:c16="http://schemas.microsoft.com/office/drawing/2014/chart" uri="{C3380CC4-5D6E-409C-BE32-E72D297353CC}">
              <c16:uniqueId val="{00000002-64BC-462A-871F-9A59E086625F}"/>
            </c:ext>
          </c:extLst>
        </c:ser>
        <c:dLbls>
          <c:showLegendKey val="0"/>
          <c:showVal val="0"/>
          <c:showCatName val="0"/>
          <c:showSerName val="0"/>
          <c:showPercent val="0"/>
          <c:showBubbleSize val="0"/>
        </c:dLbls>
        <c:gapWidth val="219"/>
        <c:axId val="1580009967"/>
        <c:axId val="1580014767"/>
      </c:barChart>
      <c:catAx>
        <c:axId val="1580009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crossAx val="1580014767"/>
        <c:crosses val="autoZero"/>
        <c:auto val="1"/>
        <c:lblAlgn val="ctr"/>
        <c:lblOffset val="100"/>
        <c:noMultiLvlLbl val="0"/>
      </c:catAx>
      <c:valAx>
        <c:axId val="1580014767"/>
        <c:scaling>
          <c:orientation val="minMax"/>
        </c:scaling>
        <c:delete val="1"/>
        <c:axPos val="l"/>
        <c:numFmt formatCode="0%" sourceLinked="1"/>
        <c:majorTickMark val="none"/>
        <c:minorTickMark val="none"/>
        <c:tickLblPos val="nextTo"/>
        <c:crossAx val="1580009967"/>
        <c:crosses val="autoZero"/>
        <c:crossBetween val="between"/>
      </c:valAx>
      <c:spPr>
        <a:noFill/>
        <a:ln>
          <a:noFill/>
        </a:ln>
        <a:effectLst/>
      </c:spPr>
    </c:plotArea>
    <c:legend>
      <c:legendPos val="b"/>
      <c:layout>
        <c:manualLayout>
          <c:xMode val="edge"/>
          <c:yMode val="edge"/>
          <c:x val="0.2041797158230827"/>
          <c:y val="0.90822605082869068"/>
          <c:w val="0.61641170459508399"/>
          <c:h val="7.0997719795193273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F796_C260D606.xml><?xml version="1.0" encoding="utf-8"?>
<p188:cmLst xmlns:a="http://schemas.openxmlformats.org/drawingml/2006/main" xmlns:r="http://schemas.openxmlformats.org/officeDocument/2006/relationships" xmlns:p188="http://schemas.microsoft.com/office/powerpoint/2018/8/main">
  <p188:cm id="{36907028-86D6-43F4-8FA9-273E7BA9BD3D}" authorId="{C751BC8F-D8A3-F9F2-FE7E-465F8ACE9E2A}" status="resolved" created="2025-02-12T14:13:45.356" complete="100000">
    <ac:txMkLst xmlns:ac="http://schemas.microsoft.com/office/drawing/2013/main/command">
      <pc:docMk xmlns:pc="http://schemas.microsoft.com/office/powerpoint/2013/main/command"/>
      <pc:sldMk xmlns:pc="http://schemas.microsoft.com/office/powerpoint/2013/main/command" cId="3261126150" sldId="2147481494"/>
      <ac:spMk id="7" creationId="{C77EC1F7-EF90-EF26-B184-1FF5B08EB649}"/>
      <ac:txMk cp="127" len="10">
        <ac:context len="591" hash="746121066"/>
      </ac:txMk>
    </ac:txMkLst>
    <p188:pos x="6682153" y="869461"/>
    <p188:txBody>
      <a:bodyPr/>
      <a:lstStyle/>
      <a:p>
        <a:r>
          <a:rPr lang="fr-CA"/>
          <a:t>L'adoption de quoi?</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D3FD8C-AB8C-4ED2-8A71-E48040E03B0D}" type="datetimeFigureOut">
              <a:rPr lang="fr-CA" smtClean="0"/>
              <a:t>2025-03-19</a:t>
            </a:fld>
            <a:endParaRPr lang="fr-CA"/>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63D704-B3DE-4362-B744-DF3AC3482AE2}" type="slidenum">
              <a:rPr lang="fr-CA" smtClean="0"/>
              <a:t>‹N°›</a:t>
            </a:fld>
            <a:endParaRPr lang="fr-CA"/>
          </a:p>
        </p:txBody>
      </p:sp>
    </p:spTree>
    <p:extLst>
      <p:ext uri="{BB962C8B-B14F-4D97-AF65-F5344CB8AC3E}">
        <p14:creationId xmlns:p14="http://schemas.microsoft.com/office/powerpoint/2010/main" val="18706155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A63DC8-C6F9-4622-8DFC-2F20DC9BB91F}" type="datetimeFigureOut">
              <a:rPr lang="fr-CA" smtClean="0"/>
              <a:t>2025-03-19</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C41C64-3B65-4897-8D3B-3B1D0179E22D}" type="slidenum">
              <a:rPr lang="fr-CA" smtClean="0"/>
              <a:t>‹N°›</a:t>
            </a:fld>
            <a:endParaRPr lang="fr-CA"/>
          </a:p>
        </p:txBody>
      </p:sp>
    </p:spTree>
    <p:extLst>
      <p:ext uri="{BB962C8B-B14F-4D97-AF65-F5344CB8AC3E}">
        <p14:creationId xmlns:p14="http://schemas.microsoft.com/office/powerpoint/2010/main" val="3228181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a:t>
            </a:fld>
            <a:endParaRPr lang="fr-CA"/>
          </a:p>
        </p:txBody>
      </p:sp>
    </p:spTree>
    <p:extLst>
      <p:ext uri="{BB962C8B-B14F-4D97-AF65-F5344CB8AC3E}">
        <p14:creationId xmlns:p14="http://schemas.microsoft.com/office/powerpoint/2010/main" val="336352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a:cs typeface="+mn-lt"/>
              </a:rPr>
              <a:t>Karolanne:</a:t>
            </a:r>
            <a:br>
              <a:rPr lang="fr-CA">
                <a:cs typeface="+mn-lt"/>
              </a:rPr>
            </a:br>
            <a:r>
              <a:rPr lang="fr-CA"/>
              <a:t>Cette image reflète toute l’énergie et l’enthousiasme autour de la progression fulgurante de l’IA générative. Alors que l’Internet et l’ordinateur personnel ont mis du temps à s’installer, l’IA générative a franchi ces étapes à une vitesse vertigineuse, au point de devenir la technologie à la croissance la plus rapide de l’histoire moderne, et son impact continue de se faire sentir de manière exponentielle en continue. En seulement quelques années, elle pourrait bien devenir aussi omniprésente que l’ordinateur ou l’internet. </a:t>
            </a:r>
            <a:endParaRPr lang="fr-FR"/>
          </a:p>
          <a:p>
            <a:r>
              <a:rPr lang="fr-CA"/>
              <a:t>Une des raisons de cette rapide démocratisation est l’arrivée de </a:t>
            </a:r>
            <a:r>
              <a:rPr lang="fr-CA" err="1"/>
              <a:t>ChatGPT</a:t>
            </a:r>
            <a:r>
              <a:rPr lang="fr-CA"/>
              <a:t> sur le marché. En quelques mois à peine, des millions de personnes à travers le monde se sont mises à l’utiliser, et pas seulement dans le domaine technologique. On retrouve désormais une utilisation de l’intelligence artificielle générative dans une panoplie de secteurs : l’éducation, la recherche, le service client et bien d’autres.</a:t>
            </a:r>
          </a:p>
          <a:p>
            <a:r>
              <a:rPr lang="fr-CA"/>
              <a:t>Cette popularité s’explique par la transformation radicale de l’interaction humain-machine. Avant, il fallait avoir de solides bases techniques pour interagir avec l’intelligence artificielle. Aujourd’hui, grâce au langage naturel, tout le monde peut discuter avec un système complexe sans devoir taper des commandes compliquées ou maîtriser des algorithmes. Il suffit de poser une question, de faire une requête dans un langage courant, et l’intelligence artificielle générative répond de façon pertinente, presque comme un échange avec un autre être humain.</a:t>
            </a:r>
            <a:endParaRPr lang="fr-CA">
              <a:ea typeface="Calibri"/>
              <a:cs typeface="Calibri"/>
            </a:endParaRPr>
          </a:p>
          <a:p>
            <a:r>
              <a:rPr lang="fr-CA"/>
              <a:t>Cette transformation de l’interaction humain-machine ne se limite pas à une simple évolution technologique, mais elle redéfinit la manière dont on utilise la technologie au quotidien. Dans le contexte professionnel, cela se traduit déjà par de nouvelles façons de travailler, où chacun peut exploiter la puissance de l’IA sans avoir besoin de compétences spécialisées. </a:t>
            </a:r>
            <a:endParaRPr lang="fr-CA">
              <a:ea typeface="Calibri"/>
              <a:cs typeface="Calibri"/>
            </a:endParaRPr>
          </a:p>
          <a:p>
            <a:endParaRPr lang="fr-CA" sz="1200">
              <a:cs typeface="+mn-lt"/>
            </a:endParaRP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2</a:t>
            </a:fld>
            <a:endParaRPr lang="fr-CA"/>
          </a:p>
        </p:txBody>
      </p:sp>
    </p:spTree>
    <p:extLst>
      <p:ext uri="{BB962C8B-B14F-4D97-AF65-F5344CB8AC3E}">
        <p14:creationId xmlns:p14="http://schemas.microsoft.com/office/powerpoint/2010/main" val="930605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err="1">
                <a:cs typeface="+mn-lt"/>
              </a:rPr>
              <a:t>Karolanne</a:t>
            </a:r>
            <a:r>
              <a:rPr lang="fr-CA" b="1">
                <a:cs typeface="+mn-lt"/>
              </a:rPr>
              <a:t>: </a:t>
            </a:r>
            <a:br>
              <a:rPr lang="fr-CA">
                <a:cs typeface="+mn-lt"/>
              </a:rPr>
            </a:br>
            <a:r>
              <a:rPr lang="fr-CA"/>
              <a:t>D’ailleurs, selon un sondage auprès des milliers d'entreprise à travers le monde de Gartner, 98% des dirigeants informatiques indiquent que les employés sont désireux d'essayer de nouveaux outils informatiques . Et ils estiment que 80% des fournisseurs de logiciels pourraient avoir intégré d’ici 2026 des capacités d’intelligence artificielle générative dans leurs applications d’entreprise. </a:t>
            </a:r>
          </a:p>
          <a:p>
            <a:endParaRPr lang="fr-CA">
              <a:cs typeface="+mn-lt"/>
            </a:endParaRPr>
          </a:p>
          <a:p>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3</a:t>
            </a:fld>
            <a:endParaRPr lang="fr-CA"/>
          </a:p>
        </p:txBody>
      </p:sp>
    </p:spTree>
    <p:extLst>
      <p:ext uri="{BB962C8B-B14F-4D97-AF65-F5344CB8AC3E}">
        <p14:creationId xmlns:p14="http://schemas.microsoft.com/office/powerpoint/2010/main" val="270068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err="1">
                <a:ea typeface="Calibri"/>
                <a:cs typeface="Calibri"/>
              </a:rPr>
              <a:t>Karolanne</a:t>
            </a:r>
            <a:r>
              <a:rPr lang="fr-CA" b="1">
                <a:ea typeface="Calibri"/>
                <a:cs typeface="Calibri"/>
              </a:rPr>
              <a:t>:</a:t>
            </a:r>
          </a:p>
          <a:p>
            <a:r>
              <a:rPr lang="fr-CA">
                <a:ea typeface="Calibri"/>
                <a:cs typeface="Calibri"/>
              </a:rPr>
              <a:t>C'est dans ce contexte que vient s'inscrire notre stratégie d'expérimentation de l'IAG. </a:t>
            </a:r>
          </a:p>
          <a:p>
            <a:endParaRPr lang="en-US">
              <a:ea typeface="Calibri"/>
              <a:cs typeface="Calibri"/>
            </a:endParaRPr>
          </a:p>
          <a:p>
            <a:endParaRPr lang="fr-CA">
              <a:ea typeface="Calibri" panose="020F0502020204030204"/>
              <a:cs typeface="Calibri" panose="020F0502020204030204"/>
            </a:endParaRP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4</a:t>
            </a:fld>
            <a:endParaRPr lang="fr-CA"/>
          </a:p>
        </p:txBody>
      </p:sp>
    </p:spTree>
    <p:extLst>
      <p:ext uri="{BB962C8B-B14F-4D97-AF65-F5344CB8AC3E}">
        <p14:creationId xmlns:p14="http://schemas.microsoft.com/office/powerpoint/2010/main" val="1008502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Sophie</a:t>
            </a:r>
          </a:p>
          <a:p>
            <a:r>
              <a:rPr lang="fr-CA" b="0" i="0">
                <a:solidFill>
                  <a:srgbClr val="000000"/>
                </a:solidFill>
                <a:effectLst/>
                <a:latin typeface="Segoe UI" panose="020B0502040204020203" pitchFamily="34" charset="0"/>
              </a:rPr>
              <a:t>Cette initiative d’expérimentation vise à évaluer l'impact de l’IA générative sur la productivité, la créativité et la qualité du travail de nos utilisateurs.</a:t>
            </a:r>
          </a:p>
          <a:p>
            <a:endParaRPr lang="fr-CA" b="0" i="0">
              <a:solidFill>
                <a:srgbClr val="000000"/>
              </a:solidFill>
              <a:effectLst/>
              <a:latin typeface="Segoe UI" panose="020B0502040204020203" pitchFamily="34" charset="0"/>
            </a:endParaRPr>
          </a:p>
          <a:p>
            <a:r>
              <a:rPr lang="fr-CA" b="0" i="0">
                <a:solidFill>
                  <a:srgbClr val="000000"/>
                </a:solidFill>
                <a:effectLst/>
                <a:latin typeface="Segoe UI" panose="020B0502040204020203" pitchFamily="34" charset="0"/>
              </a:rPr>
              <a:t>Pour cette première phase, nous avons limité l’expérimentation au MCN, et à environ 80 participants. Le tout s’est déroulé de juin à septembre et nous avons restreint l’utilisation de M365 Copilot aux applications de la suite Office dont Outlook, Teams, Word, Excel, PowerPoint et le clavardage avec Copilot sur l’interface Web.</a:t>
            </a:r>
          </a:p>
          <a:p>
            <a:endParaRPr lang="fr-CA" b="0" i="0">
              <a:solidFill>
                <a:srgbClr val="000000"/>
              </a:solidFill>
              <a:effectLst/>
              <a:latin typeface="Segoe UI" panose="020B0502040204020203" pitchFamily="34" charset="0"/>
            </a:endParaRPr>
          </a:p>
          <a:p>
            <a:r>
              <a:rPr lang="fr-CA" b="0" i="0">
                <a:solidFill>
                  <a:srgbClr val="000000"/>
                </a:solidFill>
                <a:effectLst/>
                <a:latin typeface="Segoe UI" panose="020B0502040204020203" pitchFamily="34" charset="0"/>
              </a:rPr>
              <a:t>Cette expérimentation s’est appuyée sur une veille permettant de répertorier des gains auxquels on pouvait s’attendre et nous avons offert une activité de sensibilisation aux participants sur les bonnes pratiques d’utilisation, les limites et les risques d’utilisation de ce type d’outils. Des liens d’autoformation ont été proposé aux participants tout comme des ateliers de dépannage mais l’accompagnement est resté léger. Aussi, la période d’appropriation de l’outil par les participants a été impactée comme le tout se déroulait pendant l’été et que pratiquement tous avaient des vacances pendant les 3 mois d’expérimentation. L’expérience des employés a été suivie par sondages et par entrevues et leurs gestionnaires ont également été consultés afin d’obtenir leur perception.</a:t>
            </a:r>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5</a:t>
            </a:fld>
            <a:endParaRPr lang="fr-CA"/>
          </a:p>
        </p:txBody>
      </p:sp>
    </p:spTree>
    <p:extLst>
      <p:ext uri="{BB962C8B-B14F-4D97-AF65-F5344CB8AC3E}">
        <p14:creationId xmlns:p14="http://schemas.microsoft.com/office/powerpoint/2010/main" val="424212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pPr>
              <a:defRPr/>
            </a:pPr>
            <a:r>
              <a:rPr lang="fr-CA" b="1">
                <a:ea typeface="Calibri"/>
                <a:cs typeface="Calibri"/>
              </a:rPr>
              <a:t>Sophie</a:t>
            </a:r>
            <a:endParaRPr lang="fr-CA" b="1"/>
          </a:p>
          <a:p>
            <a:pPr algn="l">
              <a:spcBef>
                <a:spcPts val="375"/>
              </a:spcBef>
              <a:spcAft>
                <a:spcPts val="375"/>
              </a:spcAft>
            </a:pPr>
            <a:r>
              <a:rPr lang="fr-CA" b="0" i="0">
                <a:solidFill>
                  <a:srgbClr val="000000"/>
                </a:solidFill>
                <a:effectLst/>
                <a:latin typeface="Segoe UI" panose="020B0502040204020203" pitchFamily="34" charset="0"/>
              </a:rPr>
              <a:t>Ce qui était souhaité, c’est de tester un outil d’IA générative, peu importe l’outil. Donc, pourquoi la solution M365 Copilot a été choisie pour l'expérimentation? </a:t>
            </a:r>
          </a:p>
          <a:p>
            <a:pPr algn="l">
              <a:spcBef>
                <a:spcPts val="375"/>
              </a:spcBef>
              <a:spcAft>
                <a:spcPts val="375"/>
              </a:spcAft>
            </a:pPr>
            <a:endParaRPr lang="fr-CA" b="0" i="0">
              <a:solidFill>
                <a:srgbClr val="000000"/>
              </a:solidFill>
              <a:effectLst/>
              <a:latin typeface="Segoe UI" panose="020B0502040204020203" pitchFamily="34" charset="0"/>
            </a:endParaRPr>
          </a:p>
          <a:p>
            <a:pPr algn="l">
              <a:spcBef>
                <a:spcPts val="375"/>
              </a:spcBef>
              <a:spcAft>
                <a:spcPts val="375"/>
              </a:spcAft>
            </a:pPr>
            <a:r>
              <a:rPr lang="fr-CA" b="0" i="0">
                <a:solidFill>
                  <a:srgbClr val="000000"/>
                </a:solidFill>
                <a:effectLst/>
                <a:latin typeface="Segoe UI" panose="020B0502040204020203" pitchFamily="34" charset="0"/>
              </a:rPr>
              <a:t>Voici les points principaux :</a:t>
            </a:r>
          </a:p>
          <a:p>
            <a:pPr algn="l">
              <a:buFont typeface="Arial" panose="020B0604020202020204" pitchFamily="34" charset="0"/>
              <a:buChar char="•"/>
            </a:pPr>
            <a:r>
              <a:rPr lang="fr-CA" b="1" i="0">
                <a:solidFill>
                  <a:srgbClr val="000000"/>
                </a:solidFill>
                <a:effectLst/>
                <a:latin typeface="Segoe UI" panose="020B0502040204020203" pitchFamily="34" charset="0"/>
              </a:rPr>
              <a:t>Familiarité</a:t>
            </a:r>
            <a:r>
              <a:rPr lang="fr-CA" b="0" i="0">
                <a:solidFill>
                  <a:srgbClr val="000000"/>
                </a:solidFill>
                <a:effectLst/>
                <a:latin typeface="Segoe UI" panose="020B0502040204020203" pitchFamily="34" charset="0"/>
              </a:rPr>
              <a:t> : Les capacités d'IA sont intégrées dans des outils que les employés utilisent déjà, et nous avions l’impression que cela minimiserait la courbe d'apprentissage et aiderait à améliorer la productivité dans des flux de travail familiers.</a:t>
            </a:r>
          </a:p>
          <a:p>
            <a:pPr algn="l">
              <a:buFont typeface="Arial" panose="020B0604020202020204" pitchFamily="34" charset="0"/>
              <a:buChar char="•"/>
            </a:pPr>
            <a:r>
              <a:rPr lang="fr-CA" b="1" i="0">
                <a:solidFill>
                  <a:srgbClr val="000000"/>
                </a:solidFill>
                <a:effectLst/>
                <a:latin typeface="Segoe UI" panose="020B0502040204020203" pitchFamily="34" charset="0"/>
              </a:rPr>
              <a:t>Déploiement rapide</a:t>
            </a:r>
            <a:r>
              <a:rPr lang="fr-CA" b="0" i="0">
                <a:solidFill>
                  <a:srgbClr val="000000"/>
                </a:solidFill>
                <a:effectLst/>
                <a:latin typeface="Segoe UI" panose="020B0502040204020203" pitchFamily="34" charset="0"/>
              </a:rPr>
              <a:t> : car aucun changement significatif de l'infrastructure n’était nécessaire, et qu’une configuration minimale était requise.</a:t>
            </a:r>
          </a:p>
          <a:p>
            <a:pPr algn="l">
              <a:buFont typeface="Arial" panose="020B0604020202020204" pitchFamily="34" charset="0"/>
              <a:buChar char="•"/>
            </a:pPr>
            <a:r>
              <a:rPr lang="fr-CA" b="1" i="0">
                <a:solidFill>
                  <a:srgbClr val="000000"/>
                </a:solidFill>
                <a:effectLst/>
                <a:latin typeface="Segoe UI" panose="020B0502040204020203" pitchFamily="34" charset="0"/>
              </a:rPr>
              <a:t>Sécurité et conformité</a:t>
            </a:r>
            <a:r>
              <a:rPr lang="fr-CA" b="0" i="0">
                <a:solidFill>
                  <a:srgbClr val="000000"/>
                </a:solidFill>
                <a:effectLst/>
                <a:latin typeface="Segoe UI" panose="020B0502040204020203" pitchFamily="34" charset="0"/>
              </a:rPr>
              <a:t> : Le modèle d'IA générative n'est pas entraîné sur les données organisationnelles, élément essentiel, et les garanties de Microsoft étaient conformes en matière de confidentialité et de sécurité. De plus, des fonctions intégrées de protection des données et de la vie privée sont présentes et assuraient une protection contre les attaques.</a:t>
            </a:r>
          </a:p>
          <a:p>
            <a:pPr algn="l">
              <a:buFont typeface="Arial" panose="020B0604020202020204" pitchFamily="34" charset="0"/>
              <a:buChar char="•"/>
            </a:pPr>
            <a:endParaRPr lang="fr-CA" b="0" i="0">
              <a:solidFill>
                <a:srgbClr val="000000"/>
              </a:solidFill>
              <a:effectLst/>
              <a:latin typeface="Segoe UI" panose="020B0502040204020203" pitchFamily="34" charset="0"/>
            </a:endParaRPr>
          </a:p>
          <a:p>
            <a:pPr algn="l">
              <a:buFont typeface="Arial" panose="020B0604020202020204" pitchFamily="34" charset="0"/>
              <a:buNone/>
            </a:pPr>
            <a:r>
              <a:rPr lang="fr-CA" b="0" i="0">
                <a:solidFill>
                  <a:srgbClr val="000000"/>
                </a:solidFill>
                <a:effectLst/>
                <a:latin typeface="Segoe UI" panose="020B0502040204020203" pitchFamily="34" charset="0"/>
              </a:rPr>
              <a:t>Il s’agit d’un premier pas dans l’expérimentation avec un de ces outils prêts à l’emploi et une comparaison des performances obtenues avec d’autres outils d’IA générative serait de mise ultérieurement.</a:t>
            </a:r>
          </a:p>
          <a:p>
            <a:pPr>
              <a:defRPr/>
            </a:pPr>
            <a:endParaRPr lang="fr-CA"/>
          </a:p>
          <a:p>
            <a:pPr>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endParaRPr lang="fr-CA">
              <a:ea typeface="Calibri"/>
              <a:cs typeface="Calibri"/>
            </a:endParaRPr>
          </a:p>
          <a:p>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6</a:t>
            </a:fld>
            <a:endParaRPr lang="fr-CA"/>
          </a:p>
        </p:txBody>
      </p:sp>
    </p:spTree>
    <p:extLst>
      <p:ext uri="{BB962C8B-B14F-4D97-AF65-F5344CB8AC3E}">
        <p14:creationId xmlns:p14="http://schemas.microsoft.com/office/powerpoint/2010/main" val="3348240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b="1">
                <a:ea typeface="Calibri"/>
                <a:cs typeface="Calibri"/>
              </a:rPr>
              <a:t>Sophie</a:t>
            </a:r>
            <a:br>
              <a:rPr lang="fr-CA">
                <a:ea typeface="Calibri"/>
                <a:cs typeface="+mn-lt"/>
              </a:rPr>
            </a:br>
            <a:r>
              <a:rPr lang="fr-CA">
                <a:ea typeface="Calibri"/>
                <a:cs typeface="+mn-lt"/>
              </a:rPr>
              <a:t>Maintenant, passons aux résultats:</a:t>
            </a:r>
          </a:p>
          <a:p>
            <a:r>
              <a:rPr lang="fr-CA" b="0" i="0">
                <a:solidFill>
                  <a:srgbClr val="000000"/>
                </a:solidFill>
                <a:effectLst/>
                <a:latin typeface="Segoe UI" panose="020B0502040204020203" pitchFamily="34" charset="0"/>
              </a:rPr>
              <a:t>Le premier constat est que l'utilisation de l'outil a été relativement limitée. Environ 80% des détenteurs d'une licence utilisaient l'outil après 3 mois d’expérimentation. Bien sûr, comme nous étions en période de vacances, l’utilisation a pu en être impacté, par contre après vérification ultérieure en automne, le taux d’utilisation récolté par Viva Insight demeurait autour de 85%.</a:t>
            </a:r>
          </a:p>
          <a:p>
            <a:endParaRPr lang="fr-CA" b="0" i="0">
              <a:solidFill>
                <a:srgbClr val="000000"/>
              </a:solidFill>
              <a:effectLst/>
              <a:latin typeface="Segoe UI" panose="020B0502040204020203" pitchFamily="34" charset="0"/>
            </a:endParaRPr>
          </a:p>
          <a:p>
            <a:r>
              <a:rPr lang="fr-CA" b="0" i="0">
                <a:solidFill>
                  <a:srgbClr val="000000"/>
                </a:solidFill>
                <a:effectLst/>
                <a:latin typeface="Segoe UI" panose="020B0502040204020203" pitchFamily="34" charset="0"/>
              </a:rPr>
              <a:t>Aussi, seulement 30% l'ont utilisé quotidiennement, tandis que 15% l'ont utilisé moins d'une fois par semaine ou jamais. Et donc une majorité de participants l’utilisaient  occasionnellement, soit de un à 3 jours par semaine.</a:t>
            </a:r>
            <a:endParaRPr lang="fr-CA" sz="3300">
              <a:ea typeface="Calibri"/>
              <a:cs typeface="Calibri"/>
            </a:endParaRPr>
          </a:p>
          <a:p>
            <a:endParaRPr lang="fr-CA">
              <a:ea typeface="Calibri"/>
              <a:cs typeface="Calibri"/>
            </a:endParaRPr>
          </a:p>
          <a:p>
            <a:endParaRPr lang="fr-CA">
              <a:latin typeface="Calibri" panose="020F0502020204030204"/>
              <a:ea typeface="Calibri" panose="020F0502020204030204"/>
              <a:cs typeface="Calibri" panose="020F0502020204030204"/>
            </a:endParaRPr>
          </a:p>
          <a:p>
            <a:pPr marL="1008380" indent="-1008380" algn="just">
              <a:lnSpc>
                <a:spcPct val="107000"/>
              </a:lnSpc>
              <a:spcAft>
                <a:spcPts val="800"/>
              </a:spcAft>
            </a:pPr>
            <a:r>
              <a:rPr lang="fr-CA" sz="1800">
                <a:effectLst/>
                <a:latin typeface="Calibri"/>
                <a:ea typeface="Calibri"/>
                <a:cs typeface="Calibri"/>
              </a:rPr>
              <a:t> </a:t>
            </a:r>
          </a:p>
          <a:p>
            <a:pPr>
              <a:spcAft>
                <a:spcPts val="800"/>
              </a:spcAft>
            </a:pPr>
            <a:r>
              <a:rPr lang="fr-CA" sz="1800">
                <a:effectLst/>
                <a:latin typeface="Calibri"/>
                <a:ea typeface="Calibri"/>
                <a:cs typeface="Calibri"/>
              </a:rPr>
              <a:t> </a:t>
            </a:r>
            <a:endParaRPr lang="fr-CA">
              <a:latin typeface="Calibri"/>
              <a:ea typeface="Calibri"/>
              <a:cs typeface="Calibri"/>
            </a:endParaRPr>
          </a:p>
          <a:p>
            <a:endParaRPr lang="fr-CA"/>
          </a:p>
          <a:p>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7</a:t>
            </a:fld>
            <a:endParaRPr lang="fr-CA"/>
          </a:p>
        </p:txBody>
      </p:sp>
    </p:spTree>
    <p:extLst>
      <p:ext uri="{BB962C8B-B14F-4D97-AF65-F5344CB8AC3E}">
        <p14:creationId xmlns:p14="http://schemas.microsoft.com/office/powerpoint/2010/main" val="4092656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241A-90DD-BB87-FD31-84DA73341D9F}"/>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BBD51715-FE35-4B1E-3B67-F8F2D9E833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000619-6A29-BF2C-EFBD-B411A5F99622}"/>
              </a:ext>
            </a:extLst>
          </p:cNvPr>
          <p:cNvSpPr>
            <a:spLocks noGrp="1"/>
          </p:cNvSpPr>
          <p:nvPr>
            <p:ph type="body" idx="1"/>
          </p:nvPr>
        </p:nvSpPr>
        <p:spPr/>
        <p:txBody>
          <a:bodyPr/>
          <a:lstStyle/>
          <a:p>
            <a:r>
              <a:rPr lang="fr-CA" b="1">
                <a:ea typeface="Calibri" panose="020F0502020204030204"/>
                <a:cs typeface="+mn-lt"/>
              </a:rPr>
              <a:t>Karolanne: </a:t>
            </a:r>
            <a:br>
              <a:rPr lang="fr-CA" b="1">
                <a:ea typeface="Calibri" panose="020F0502020204030204"/>
                <a:cs typeface="+mn-lt"/>
              </a:rPr>
            </a:br>
            <a:r>
              <a:rPr lang="fr-CA"/>
              <a:t>Malgré l’enthousiasme suscité par l’intelligence artificielle générative, son intégration dans le quotidien des employés n’est pas aussi simple qu’on pourrait le penser. Selon une étude de Gartner, 72 % des dirigeants informatiques déclarent que leurs équipes éprouvent des difficultés à intégrer l’IA générative dans leurs tâches quotidiennes. Cette statistique nous démontre que même les outils les plus prometteurs peuvent rencontrer des obstacles s’ils ne sont pas accompagnés d’une gestion du changement adaptée et de notre côté, on a eu un constat similaire. </a:t>
            </a:r>
            <a:endParaRPr lang="fr-FR"/>
          </a:p>
          <a:p>
            <a:r>
              <a:rPr lang="fr-CA"/>
              <a:t>Dans notre expérimentation, les principales raisons pourquoi les utilisateurs ont abandonné l’outil sont assez révélatrices. Beaucoup ont exprimé leur difficulté à savoir par où commencer ou comment intégrer l’outil dans leurs habitudes de travail, ainsi qu’un manque de temps pour se familiariser. Certains utilisateurs ont aussi eu une première expérience décevante qui a démotivé l’utilisation de </a:t>
            </a:r>
            <a:r>
              <a:rPr lang="fr-CA" err="1"/>
              <a:t>Copilot</a:t>
            </a:r>
            <a:r>
              <a:rPr lang="fr-CA"/>
              <a:t>.</a:t>
            </a:r>
            <a:endParaRPr lang="fr-CA">
              <a:ea typeface="Calibri"/>
              <a:cs typeface="Calibri"/>
            </a:endParaRPr>
          </a:p>
          <a:p>
            <a:r>
              <a:rPr lang="fr-CA"/>
              <a:t>Ces raisons soulignent que l’adoption d’un nouvel outil de travail, même intuitif en apparence, nécessite plus qu’une simple mise à disposition. Car il faut mener le changement en créant un environnement propice, où les utilisateurs sont soutenus, formés et encouragés à explorer le potentiel que l’IA générative. Et ça ne doit pas être vu comme une perte de temps ou d’argent, parce qu’au final, c’est majoritairement ça qui va déterminer son adoption et son utilisation.</a:t>
            </a:r>
            <a:endParaRPr lang="fr-CA">
              <a:ea typeface="Calibri"/>
              <a:cs typeface="Calibri"/>
            </a:endParaRPr>
          </a:p>
          <a:p>
            <a:endParaRPr lang="fr-CA" b="1">
              <a:ea typeface="Calibri"/>
              <a:cs typeface="+mn-lt"/>
            </a:endParaRPr>
          </a:p>
          <a:p>
            <a:endParaRPr lang="fr-CA"/>
          </a:p>
        </p:txBody>
      </p:sp>
      <p:sp>
        <p:nvSpPr>
          <p:cNvPr id="4" name="Espace réservé du numéro de diapositive 3">
            <a:extLst>
              <a:ext uri="{FF2B5EF4-FFF2-40B4-BE49-F238E27FC236}">
                <a16:creationId xmlns:a16="http://schemas.microsoft.com/office/drawing/2014/main" id="{13FDF2E3-C6B9-BA33-06B5-792910E54151}"/>
              </a:ext>
            </a:extLst>
          </p:cNvPr>
          <p:cNvSpPr>
            <a:spLocks noGrp="1"/>
          </p:cNvSpPr>
          <p:nvPr>
            <p:ph type="sldNum" sz="quarter" idx="5"/>
          </p:nvPr>
        </p:nvSpPr>
        <p:spPr/>
        <p:txBody>
          <a:bodyPr/>
          <a:lstStyle/>
          <a:p>
            <a:fld id="{9FC41C64-3B65-4897-8D3B-3B1D0179E22D}" type="slidenum">
              <a:rPr lang="fr-CA" smtClean="0"/>
              <a:t>8</a:t>
            </a:fld>
            <a:endParaRPr lang="fr-CA"/>
          </a:p>
        </p:txBody>
      </p:sp>
    </p:spTree>
    <p:extLst>
      <p:ext uri="{BB962C8B-B14F-4D97-AF65-F5344CB8AC3E}">
        <p14:creationId xmlns:p14="http://schemas.microsoft.com/office/powerpoint/2010/main" val="1172683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defRPr/>
            </a:pPr>
            <a:r>
              <a:rPr lang="fr-CA">
                <a:ea typeface="Calibri"/>
                <a:cs typeface="Calibri"/>
              </a:rPr>
              <a:t>Sophie</a:t>
            </a:r>
            <a:endParaRPr lang="fr-CA"/>
          </a:p>
          <a:p>
            <a:pPr marL="0" marR="0" lvl="0" indent="0" algn="l" defTabSz="914400">
              <a:lnSpc>
                <a:spcPct val="100000"/>
              </a:lnSpc>
              <a:spcBef>
                <a:spcPts val="0"/>
              </a:spcBef>
              <a:spcAft>
                <a:spcPts val="0"/>
              </a:spcAft>
              <a:buClrTx/>
              <a:buSzTx/>
              <a:buFontTx/>
              <a:buNone/>
              <a:tabLst/>
              <a:defRPr/>
            </a:pPr>
            <a:r>
              <a:rPr lang="fr-CA" b="0" i="0">
                <a:solidFill>
                  <a:srgbClr val="000000"/>
                </a:solidFill>
                <a:effectLst/>
                <a:latin typeface="Segoe UI" panose="020B0502040204020203" pitchFamily="34" charset="0"/>
              </a:rPr>
              <a:t>Notre 2</a:t>
            </a:r>
            <a:r>
              <a:rPr lang="fr-CA" b="0" i="0" baseline="30000">
                <a:solidFill>
                  <a:srgbClr val="000000"/>
                </a:solidFill>
                <a:effectLst/>
                <a:latin typeface="Segoe UI" panose="020B0502040204020203" pitchFamily="34" charset="0"/>
              </a:rPr>
              <a:t>e</a:t>
            </a:r>
            <a:r>
              <a:rPr lang="fr-CA" b="0" i="0">
                <a:solidFill>
                  <a:srgbClr val="000000"/>
                </a:solidFill>
                <a:effectLst/>
                <a:latin typeface="Segoe UI" panose="020B0502040204020203" pitchFamily="34" charset="0"/>
              </a:rPr>
              <a:t> constat est que la perception de l’outil évolue avec son utilisation. Nous avons noté un grand enthousiasme initialement qui s’est tempéré par la suite pour peut-être devenir plus réaliste des capacités de l’outil. </a:t>
            </a:r>
          </a:p>
          <a:p>
            <a:pPr marL="0" marR="0" lvl="0" indent="0" algn="l" defTabSz="914400">
              <a:lnSpc>
                <a:spcPct val="100000"/>
              </a:lnSpc>
              <a:spcBef>
                <a:spcPts val="0"/>
              </a:spcBef>
              <a:spcAft>
                <a:spcPts val="0"/>
              </a:spcAft>
              <a:buClrTx/>
              <a:buSzTx/>
              <a:buFontTx/>
              <a:buNone/>
              <a:tabLst/>
              <a:defRPr/>
            </a:pPr>
            <a:endParaRPr lang="fr-CA" b="0" i="0">
              <a:solidFill>
                <a:srgbClr val="000000"/>
              </a:solidFill>
              <a:effectLst/>
              <a:latin typeface="Segoe UI" panose="020B0502040204020203" pitchFamily="34" charset="0"/>
            </a:endParaRPr>
          </a:p>
          <a:p>
            <a:pPr marL="0" marR="0" lvl="0" indent="0" algn="l" defTabSz="914400">
              <a:lnSpc>
                <a:spcPct val="100000"/>
              </a:lnSpc>
              <a:spcBef>
                <a:spcPts val="0"/>
              </a:spcBef>
              <a:spcAft>
                <a:spcPts val="0"/>
              </a:spcAft>
              <a:buClrTx/>
              <a:buSzTx/>
              <a:buFontTx/>
              <a:buNone/>
              <a:tabLst/>
              <a:defRPr/>
            </a:pPr>
            <a:r>
              <a:rPr lang="fr-CA" b="0" i="0">
                <a:solidFill>
                  <a:srgbClr val="000000"/>
                </a:solidFill>
                <a:effectLst/>
                <a:latin typeface="Segoe UI" panose="020B0502040204020203" pitchFamily="34" charset="0"/>
              </a:rPr>
              <a:t>Ainsi, nous avons demandé aux employés de s’autoévaluer sur certains aspects liés au travail avant le début de l’expérimentation et nous leur avons demandé d’évaluer l’outil à la fin des 3 mois d’expérimentation sur ces mêmes aspects. Nous avons observé que l'outil a moins performé que les employés dans la réalisation de leurs tâches, sur tous les aspects. </a:t>
            </a:r>
          </a:p>
          <a:p>
            <a:pPr marL="0" marR="0" lvl="0" indent="0" algn="l" defTabSz="914400">
              <a:lnSpc>
                <a:spcPct val="100000"/>
              </a:lnSpc>
              <a:spcBef>
                <a:spcPts val="0"/>
              </a:spcBef>
              <a:spcAft>
                <a:spcPts val="0"/>
              </a:spcAft>
              <a:buClrTx/>
              <a:buSzTx/>
              <a:buFontTx/>
              <a:buNone/>
              <a:tabLst/>
              <a:defRPr/>
            </a:pPr>
            <a:endParaRPr lang="fr-CA" b="0" i="0">
              <a:solidFill>
                <a:srgbClr val="000000"/>
              </a:solidFill>
              <a:effectLst/>
              <a:latin typeface="Segoe UI" panose="020B0502040204020203" pitchFamily="34" charset="0"/>
            </a:endParaRPr>
          </a:p>
          <a:p>
            <a:pPr marL="0" marR="0" lvl="0" indent="0" algn="l" defTabSz="914400">
              <a:lnSpc>
                <a:spcPct val="100000"/>
              </a:lnSpc>
              <a:spcBef>
                <a:spcPts val="0"/>
              </a:spcBef>
              <a:spcAft>
                <a:spcPts val="0"/>
              </a:spcAft>
              <a:buClrTx/>
              <a:buSzTx/>
              <a:buFontTx/>
              <a:buNone/>
              <a:tabLst/>
              <a:defRPr/>
            </a:pPr>
            <a:r>
              <a:rPr lang="fr-CA" b="0" i="0">
                <a:solidFill>
                  <a:srgbClr val="000000"/>
                </a:solidFill>
                <a:effectLst/>
                <a:latin typeface="Segoe UI" panose="020B0502040204020203" pitchFamily="34" charset="0"/>
              </a:rPr>
              <a:t>Des gains ont tout de même été observés sur tous ces éléments avec l’utilisation de l'outil, bien que l'ampleur de ces gains ait été moindre que celle initialement envisagée</a:t>
            </a:r>
            <a:r>
              <a:rPr lang="fr-CA" b="0" i="0" u="none" strike="noStrike">
                <a:solidFill>
                  <a:srgbClr val="000000"/>
                </a:solidFill>
                <a:effectLst/>
                <a:latin typeface="Segoe UI" panose="020B0502040204020203" pitchFamily="34" charset="0"/>
              </a:rPr>
              <a:t>. </a:t>
            </a:r>
          </a:p>
          <a:p>
            <a:pPr marL="0" marR="0" lvl="0" indent="0" algn="l" defTabSz="914400">
              <a:lnSpc>
                <a:spcPct val="100000"/>
              </a:lnSpc>
              <a:spcBef>
                <a:spcPts val="0"/>
              </a:spcBef>
              <a:spcAft>
                <a:spcPts val="0"/>
              </a:spcAft>
              <a:buClrTx/>
              <a:buSzTx/>
              <a:buFontTx/>
              <a:buNone/>
              <a:tabLst/>
              <a:defRPr/>
            </a:pPr>
            <a:endParaRPr lang="fr-CA" b="0" i="0" u="none" strike="noStrike">
              <a:solidFill>
                <a:srgbClr val="000000"/>
              </a:solidFill>
              <a:effectLst/>
              <a:latin typeface="Segoe UI" panose="020B0502040204020203" pitchFamily="34" charset="0"/>
            </a:endParaRPr>
          </a:p>
          <a:p>
            <a:pPr marL="0" marR="0" lvl="0" indent="0" algn="l" defTabSz="914400">
              <a:lnSpc>
                <a:spcPct val="100000"/>
              </a:lnSpc>
              <a:spcBef>
                <a:spcPts val="0"/>
              </a:spcBef>
              <a:spcAft>
                <a:spcPts val="0"/>
              </a:spcAft>
              <a:buClrTx/>
              <a:buSzTx/>
              <a:buFontTx/>
              <a:buNone/>
              <a:tabLst/>
              <a:defRPr/>
            </a:pPr>
            <a:r>
              <a:rPr lang="fr-CA" b="0" i="0">
                <a:solidFill>
                  <a:srgbClr val="000000"/>
                </a:solidFill>
                <a:effectLst/>
                <a:latin typeface="Segoe UI" panose="020B0502040204020203" pitchFamily="34" charset="0"/>
              </a:rPr>
              <a:t>Ainsi, l’outil peut-être un appui intéressant aux employés dans l’exécution de leurs tâches, bien qu’il n’égale pas leur performance.</a:t>
            </a:r>
            <a:endParaRPr lang="fr-CA"/>
          </a:p>
          <a:p>
            <a:pPr marL="0" marR="0" lvl="0" indent="0" algn="l" defTabSz="914400">
              <a:lnSpc>
                <a:spcPct val="100000"/>
              </a:lnSpc>
              <a:spcBef>
                <a:spcPts val="0"/>
              </a:spcBef>
              <a:spcAft>
                <a:spcPts val="0"/>
              </a:spcAft>
              <a:buClrTx/>
              <a:buSzTx/>
              <a:buFontTx/>
              <a:buNone/>
              <a:tabLst/>
              <a:defRPr/>
            </a:pPr>
            <a:endParaRPr lang="fr-CA"/>
          </a:p>
          <a:p>
            <a:pPr marR="0" lvl="1" indent="0" algn="l" defTabSz="914400">
              <a:lnSpc>
                <a:spcPct val="100000"/>
              </a:lnSpc>
              <a:spcBef>
                <a:spcPts val="0"/>
              </a:spcBef>
              <a:spcAft>
                <a:spcPts val="0"/>
              </a:spcAft>
              <a:buClr>
                <a:srgbClr val="2D2E83"/>
              </a:buClr>
              <a:buSzTx/>
              <a:buFont typeface="Courier New" panose="020B0604020202020204" pitchFamily="34" charset="0"/>
              <a:buChar char="o"/>
              <a:tabLst/>
              <a:defRPr/>
            </a:pPr>
            <a:endParaRPr lang="fr-CA" sz="3300">
              <a:latin typeface="Calibri" panose="020F0502020204030204" pitchFamily="34" charset="0"/>
              <a:ea typeface="Calibri" panose="020F0502020204030204" pitchFamily="34" charset="0"/>
              <a:cs typeface="Calibri"/>
            </a:endParaRPr>
          </a:p>
          <a:p>
            <a:pPr lvl="1">
              <a:buClr>
                <a:srgbClr val="2D2E83"/>
              </a:buClr>
              <a:buFont typeface="Courier New" panose="020B0604020202020204" pitchFamily="34" charset="0"/>
              <a:buChar char="o"/>
            </a:pPr>
            <a:endParaRPr lang="fr-CA" sz="3300">
              <a:effectLst/>
              <a:latin typeface="Calibri" panose="020F0502020204030204" pitchFamily="34" charset="0"/>
              <a:ea typeface="Calibri" panose="020F0502020204030204" pitchFamily="34" charset="0"/>
              <a:cs typeface="Calibri"/>
            </a:endParaRPr>
          </a:p>
          <a:p>
            <a:pPr marR="0" lvl="0" defTabSz="914400" rtl="0" eaLnBrk="1" fontAlgn="auto" latinLnBrk="0" hangingPunct="1">
              <a:spcBef>
                <a:spcPts val="0"/>
              </a:spcBef>
              <a:buClrTx/>
              <a:buSzTx/>
              <a:buFontTx/>
              <a:buNone/>
              <a:tabLst/>
              <a:defRPr/>
            </a:pPr>
            <a:endParaRPr lang="fr-CA">
              <a:effectLst/>
              <a:latin typeface="Calibri" panose="020F0502020204030204" pitchFamily="34" charset="0"/>
              <a:ea typeface="Calibri" panose="020F0502020204030204" pitchFamily="34" charset="0"/>
              <a:cs typeface="Calibri"/>
            </a:endParaRPr>
          </a:p>
          <a:p>
            <a:pPr marL="1008380" marR="0" lvl="0" indent="-1008380" algn="just" defTabSz="914400" rtl="0" eaLnBrk="1" fontAlgn="auto" latinLnBrk="0" hangingPunct="1">
              <a:lnSpc>
                <a:spcPct val="107000"/>
              </a:lnSpc>
              <a:spcBef>
                <a:spcPts val="0"/>
              </a:spcBef>
              <a:spcAft>
                <a:spcPts val="800"/>
              </a:spcAft>
              <a:buClrTx/>
              <a:buSzTx/>
              <a:buFontTx/>
              <a:buNone/>
              <a:tabLst/>
              <a:defRPr/>
            </a:pPr>
            <a:endParaRPr lang="fr-CA" sz="1800">
              <a:latin typeface="Calibri" panose="020F0502020204030204" pitchFamily="34" charset="0"/>
              <a:ea typeface="Calibri" panose="020F0502020204030204" pitchFamily="34" charset="0"/>
              <a:cs typeface="Times New Roman" panose="02020603050405020304" pitchFamily="18" charset="0"/>
            </a:endParaRPr>
          </a:p>
          <a:p>
            <a:endParaRPr lang="fr-CA" sz="1800">
              <a:latin typeface="Calibri" panose="020F0502020204030204" pitchFamily="34" charset="0"/>
              <a:ea typeface="Calibri" panose="020F0502020204030204" pitchFamily="34" charset="0"/>
              <a:cs typeface="Times New Roman" panose="02020603050405020304" pitchFamily="18" charset="0"/>
            </a:endParaRPr>
          </a:p>
          <a:p>
            <a:endParaRPr lang="fr-CA">
              <a:latin typeface="Calibri" panose="020F0502020204030204" pitchFamily="34" charset="0"/>
              <a:ea typeface="Calibri" panose="020F0502020204030204" pitchFamily="34" charset="0"/>
              <a:cs typeface="Calibri" panose="020F0502020204030204"/>
            </a:endParaRPr>
          </a:p>
          <a:p>
            <a:endParaRPr lang="fr-CA">
              <a:latin typeface="Calibri" panose="020F0502020204030204" pitchFamily="34" charset="0"/>
              <a:ea typeface="Calibri" panose="020F0502020204030204" pitchFamily="34" charset="0"/>
              <a:cs typeface="Calibri" panose="020F0502020204030204"/>
            </a:endParaRP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9</a:t>
            </a:fld>
            <a:endParaRPr lang="fr-CA"/>
          </a:p>
        </p:txBody>
      </p:sp>
    </p:spTree>
    <p:extLst>
      <p:ext uri="{BB962C8B-B14F-4D97-AF65-F5344CB8AC3E}">
        <p14:creationId xmlns:p14="http://schemas.microsoft.com/office/powerpoint/2010/main" val="3070841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1"/>
            <a:r>
              <a:rPr lang="fr-CA" b="1">
                <a:cs typeface="+mn-lt"/>
              </a:rPr>
              <a:t>Karolanne: </a:t>
            </a:r>
          </a:p>
          <a:p>
            <a:pPr lvl="1"/>
            <a:endParaRPr lang="fr-CA" b="1">
              <a:ea typeface="Calibri"/>
              <a:cs typeface="+mn-lt"/>
            </a:endParaRPr>
          </a:p>
          <a:p>
            <a:pPr lvl="1"/>
            <a:r>
              <a:rPr lang="fr-CA"/>
              <a:t>Quand on parle de nouvelles technologies, il est facile de se laisser emporter par l’enthousiasme initial. Mais il est essentiel de rester réaliste face à ses performances. Par exemple, plusieurs limites ont été identifiées au cours de l’expérimentation. Comme, le faible potentiel d’automatisation formelle de certaines tâches, une efficacité réduite pour les travaux créatifs ou ceux nécessitant un raisonnement complexe. On a aussi observé des limites dans les requêtes, une efficacité variable selon les applications utilisées, ainsi qu’une inconstance générale des résultats. Aussi, puisque la qualité des réponses générées dépend fortement des données accessibles, ça peut engendrer des réponses moins pertinentes ou incomplètes.</a:t>
            </a:r>
          </a:p>
          <a:p>
            <a:pPr lvl="1"/>
            <a:r>
              <a:rPr lang="fr-CA"/>
              <a:t>Et pourquoi il y tant de limites ? C’est parce que parce que l’IA générative reste une technologie en développement. Bien qu’elle soit déjà performante avec un très haut potentiel à long terme, </a:t>
            </a:r>
            <a:r>
              <a:rPr lang="fr-CA" err="1"/>
              <a:t>Copilot</a:t>
            </a:r>
            <a:r>
              <a:rPr lang="fr-CA"/>
              <a:t> reste un outil très récent et toujours en développement.</a:t>
            </a:r>
            <a:endParaRPr lang="fr-CA">
              <a:ea typeface="Calibri"/>
              <a:cs typeface="Calibri"/>
            </a:endParaRPr>
          </a:p>
          <a:p>
            <a:pPr lvl="1"/>
            <a:r>
              <a:rPr lang="fr-CA"/>
              <a:t>Aussi, l’IA générative utilisée dans cette expérimentation est intégrée, ça veut dire qu’elle est peu configurable et n’est pas entraînée sur nos données organisationnelles spécifiques. Cela en fait une IA générique, qui ne peut pas toujours répondre aux besoins uniques de notre contexte.</a:t>
            </a:r>
            <a:endParaRPr lang="fr-CA">
              <a:ea typeface="Calibri"/>
              <a:cs typeface="Calibri"/>
            </a:endParaRPr>
          </a:p>
          <a:p>
            <a:pPr lvl="1"/>
            <a:r>
              <a:rPr lang="fr-CA"/>
              <a:t>Ces observations renforcent l’importance de gérer les attentes des utilisateurs : il ne s’agit pas de rejeter ces outils, mais de les comprendre pour mieux les exploiter. Il est essentiel que ces limites soient bien comprises et intégrées dans les stratégies d’adoption. Et cela passe par une communication claire et une adaptation des attentes pour que les employés puissent tirer le meilleur parti de la technologie sans frustrations inutiles. Gérer les attentes, c’est aussi préparer le terrain pour une adoption durable et réaliste</a:t>
            </a:r>
            <a:endParaRPr lang="fr-CA">
              <a:ea typeface="Calibri"/>
              <a:cs typeface="Calibri"/>
            </a:endParaRPr>
          </a:p>
          <a:p>
            <a:pPr lvl="1"/>
            <a:endParaRPr lang="fr-CA">
              <a:ea typeface="Calibri"/>
              <a:cs typeface="+mn-lt"/>
            </a:endParaRP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10</a:t>
            </a:fld>
            <a:endParaRPr lang="fr-CA"/>
          </a:p>
        </p:txBody>
      </p:sp>
    </p:spTree>
    <p:extLst>
      <p:ext uri="{BB962C8B-B14F-4D97-AF65-F5344CB8AC3E}">
        <p14:creationId xmlns:p14="http://schemas.microsoft.com/office/powerpoint/2010/main" val="15767390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Sophie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algn="l">
              <a:spcBef>
                <a:spcPts val="375"/>
              </a:spcBef>
              <a:spcAft>
                <a:spcPts val="375"/>
              </a:spcAft>
            </a:pPr>
            <a:r>
              <a:rPr lang="fr-CA" b="0" i="0">
                <a:solidFill>
                  <a:srgbClr val="000000"/>
                </a:solidFill>
                <a:effectLst/>
                <a:latin typeface="Segoe UI" panose="020B0502040204020203" pitchFamily="34" charset="0"/>
              </a:rPr>
              <a:t>Notre 3</a:t>
            </a:r>
            <a:r>
              <a:rPr lang="fr-CA" b="0" i="0" baseline="30000">
                <a:solidFill>
                  <a:srgbClr val="000000"/>
                </a:solidFill>
                <a:effectLst/>
                <a:latin typeface="Segoe UI" panose="020B0502040204020203" pitchFamily="34" charset="0"/>
              </a:rPr>
              <a:t>e</a:t>
            </a:r>
            <a:r>
              <a:rPr lang="fr-CA" b="0" i="0">
                <a:solidFill>
                  <a:srgbClr val="000000"/>
                </a:solidFill>
                <a:effectLst/>
                <a:latin typeface="Segoe UI" panose="020B0502040204020203" pitchFamily="34" charset="0"/>
              </a:rPr>
              <a:t> constat est que certains usages de l'outil d’IA générative se sont démarqués plus que d’autre lors de notre expérimentation. Nous avons observé que les tâches simples, qui ne nécessitent pas d'intégration complexe dans les processus de travail, ont été les plus appréciées. Par exemple, le résumé de réunion de travail ou de document volumineux, la recherche documentaire dans les environnements Microsoft ou encore la génération de brouillons de courriel ont été particulièrement bien perçus.</a:t>
            </a:r>
          </a:p>
          <a:p>
            <a:pPr algn="l">
              <a:spcBef>
                <a:spcPts val="375"/>
              </a:spcBef>
              <a:spcAft>
                <a:spcPts val="375"/>
              </a:spcAft>
            </a:pPr>
            <a:endParaRPr lang="fr-CA" b="0" i="0">
              <a:solidFill>
                <a:srgbClr val="000000"/>
              </a:solidFill>
              <a:effectLst/>
              <a:latin typeface="Segoe UI" panose="020B0502040204020203" pitchFamily="34" charset="0"/>
            </a:endParaRPr>
          </a:p>
          <a:p>
            <a:pPr algn="l">
              <a:spcBef>
                <a:spcPts val="375"/>
              </a:spcBef>
              <a:spcAft>
                <a:spcPts val="375"/>
              </a:spcAft>
            </a:pPr>
            <a:r>
              <a:rPr lang="fr-CA" b="0" i="0">
                <a:solidFill>
                  <a:srgbClr val="000000"/>
                </a:solidFill>
                <a:effectLst/>
                <a:latin typeface="Segoe UI" panose="020B0502040204020203" pitchFamily="34" charset="0"/>
              </a:rPr>
              <a:t>Copilot s'est révélé être également une aide intéressante à la rédaction en aidant à améliorer le style, à être plus précis dans les écrits et à améliorer la qualité linguistique des documents, élément noté ente autres par les gestionnaires. Cependant, les avis sur la génération de contenu sont plus mitigés et il faut mentionner que certains gestionnaires ont noté une baisse de qualité dans certaines analyses fournies.</a:t>
            </a:r>
          </a:p>
          <a:p>
            <a:pPr algn="l">
              <a:spcBef>
                <a:spcPts val="375"/>
              </a:spcBef>
              <a:spcAft>
                <a:spcPts val="375"/>
              </a:spcAft>
            </a:pPr>
            <a:endParaRPr lang="fr-CA" b="0" i="0">
              <a:solidFill>
                <a:srgbClr val="000000"/>
              </a:solidFill>
              <a:effectLst/>
              <a:latin typeface="Segoe UI" panose="020B0502040204020203" pitchFamily="34" charset="0"/>
            </a:endParaRPr>
          </a:p>
          <a:p>
            <a:pPr algn="l">
              <a:spcBef>
                <a:spcPts val="375"/>
              </a:spcBef>
              <a:spcAft>
                <a:spcPts val="375"/>
              </a:spcAft>
            </a:pPr>
            <a:r>
              <a:rPr lang="fr-CA" b="0" i="0">
                <a:solidFill>
                  <a:srgbClr val="000000"/>
                </a:solidFill>
                <a:effectLst/>
                <a:latin typeface="Segoe UI" panose="020B0502040204020203" pitchFamily="34" charset="0"/>
              </a:rPr>
              <a:t>Au niveau de la créativité, Copilot peut également être considéré comme un atout pour aider l’employé à être plus créatif, par exemple, en l’aidant à surmonter le syndrome de la page blanche ou à rebondir sur des idées plus ou moins pertinentes, mais qui lui permettent d’en arriver à une idée à laquelle il n’aurait pas pensé. Toutefois, la créativité du contenu généré demandait un travail supplémentaire de l’employé.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11</a:t>
            </a:fld>
            <a:endParaRPr lang="fr-CA"/>
          </a:p>
        </p:txBody>
      </p:sp>
    </p:spTree>
    <p:extLst>
      <p:ext uri="{BB962C8B-B14F-4D97-AF65-F5344CB8AC3E}">
        <p14:creationId xmlns:p14="http://schemas.microsoft.com/office/powerpoint/2010/main" val="3581811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a:ea typeface="Calibri"/>
                <a:cs typeface="Calibri"/>
              </a:rPr>
              <a:t>Karolanne:</a:t>
            </a:r>
          </a:p>
          <a:p>
            <a:endParaRPr lang="en-US" b="1">
              <a:ea typeface="Calibri"/>
              <a:cs typeface="Calibri"/>
            </a:endParaRPr>
          </a:p>
          <a:p>
            <a:r>
              <a:rPr lang="en-US" err="1"/>
              <a:t>L’utilisation</a:t>
            </a:r>
            <a:r>
              <a:rPr lang="en-US"/>
              <a:t> </a:t>
            </a:r>
            <a:r>
              <a:rPr lang="en-US" err="1"/>
              <a:t>efficace</a:t>
            </a:r>
            <a:r>
              <a:rPr lang="en-US"/>
              <a:t> de </a:t>
            </a:r>
            <a:r>
              <a:rPr lang="en-US" err="1"/>
              <a:t>l’intelligence</a:t>
            </a:r>
            <a:r>
              <a:rPr lang="en-US"/>
              <a:t> </a:t>
            </a:r>
            <a:r>
              <a:rPr lang="en-US" err="1"/>
              <a:t>artificielle</a:t>
            </a:r>
            <a:r>
              <a:rPr lang="en-US"/>
              <a:t> </a:t>
            </a:r>
            <a:r>
              <a:rPr lang="en-US" err="1"/>
              <a:t>générative</a:t>
            </a:r>
            <a:r>
              <a:rPr lang="en-US"/>
              <a:t> </a:t>
            </a:r>
            <a:r>
              <a:rPr lang="en-US" err="1"/>
              <a:t>ainsi</a:t>
            </a:r>
            <a:r>
              <a:rPr lang="en-US"/>
              <a:t> que son adoption repose sur un ensemble de </a:t>
            </a:r>
            <a:r>
              <a:rPr lang="en-US" err="1"/>
              <a:t>compétences</a:t>
            </a:r>
            <a:r>
              <a:rPr lang="en-US"/>
              <a:t> </a:t>
            </a:r>
            <a:r>
              <a:rPr lang="en-US" err="1"/>
              <a:t>numériques</a:t>
            </a:r>
            <a:r>
              <a:rPr lang="en-US"/>
              <a:t> qui </a:t>
            </a:r>
            <a:r>
              <a:rPr lang="en-US" err="1"/>
              <a:t>influencent</a:t>
            </a:r>
            <a:r>
              <a:rPr lang="en-US"/>
              <a:t> </a:t>
            </a:r>
            <a:r>
              <a:rPr lang="en-US" err="1"/>
              <a:t>directement</a:t>
            </a:r>
            <a:r>
              <a:rPr lang="en-US"/>
              <a:t> la </a:t>
            </a:r>
            <a:r>
              <a:rPr lang="en-US" err="1"/>
              <a:t>capacité</a:t>
            </a:r>
            <a:r>
              <a:rPr lang="en-US"/>
              <a:t> </a:t>
            </a:r>
            <a:r>
              <a:rPr lang="en-US" err="1"/>
              <a:t>individuelle</a:t>
            </a:r>
            <a:r>
              <a:rPr lang="en-US"/>
              <a:t> à </a:t>
            </a:r>
            <a:r>
              <a:rPr lang="en-US" err="1"/>
              <a:t>tirer</a:t>
            </a:r>
            <a:r>
              <a:rPr lang="en-US"/>
              <a:t> parti de </a:t>
            </a:r>
            <a:r>
              <a:rPr lang="en-US" err="1"/>
              <a:t>cette</a:t>
            </a:r>
            <a:r>
              <a:rPr lang="en-US"/>
              <a:t> </a:t>
            </a:r>
            <a:r>
              <a:rPr lang="en-US" err="1"/>
              <a:t>technologie</a:t>
            </a:r>
            <a:r>
              <a:rPr lang="en-US"/>
              <a:t>.</a:t>
            </a:r>
          </a:p>
          <a:p>
            <a:r>
              <a:rPr lang="en-US"/>
              <a:t>Tout </a:t>
            </a:r>
            <a:r>
              <a:rPr lang="en-US" err="1"/>
              <a:t>d’abord</a:t>
            </a:r>
            <a:r>
              <a:rPr lang="en-US"/>
              <a:t>, la </a:t>
            </a:r>
            <a:r>
              <a:rPr lang="en-US" b="1" err="1"/>
              <a:t>littératie</a:t>
            </a:r>
            <a:r>
              <a:rPr lang="en-US" b="1"/>
              <a:t> numérique</a:t>
            </a:r>
            <a:r>
              <a:rPr lang="en-US"/>
              <a:t> </a:t>
            </a:r>
            <a:r>
              <a:rPr lang="en-US" err="1"/>
              <a:t>joue</a:t>
            </a:r>
            <a:r>
              <a:rPr lang="en-US"/>
              <a:t> un </a:t>
            </a:r>
            <a:r>
              <a:rPr lang="en-US" err="1"/>
              <a:t>rôle</a:t>
            </a:r>
            <a:r>
              <a:rPr lang="en-US"/>
              <a:t> </a:t>
            </a:r>
            <a:r>
              <a:rPr lang="en-US" err="1"/>
              <a:t>fondamental</a:t>
            </a:r>
            <a:r>
              <a:rPr lang="en-US"/>
              <a:t>. </a:t>
            </a:r>
            <a:r>
              <a:rPr lang="en-US" err="1"/>
              <a:t>Comprendre</a:t>
            </a:r>
            <a:r>
              <a:rPr lang="en-US"/>
              <a:t> les bases du </a:t>
            </a:r>
            <a:r>
              <a:rPr lang="en-US" err="1"/>
              <a:t>fonctionnement</a:t>
            </a:r>
            <a:r>
              <a:rPr lang="en-US"/>
              <a:t> de </a:t>
            </a:r>
            <a:r>
              <a:rPr lang="en-US" err="1"/>
              <a:t>l’IA</a:t>
            </a:r>
            <a:r>
              <a:rPr lang="en-US"/>
              <a:t> </a:t>
            </a:r>
            <a:r>
              <a:rPr lang="en-US" err="1"/>
              <a:t>générative</a:t>
            </a:r>
            <a:r>
              <a:rPr lang="en-US"/>
              <a:t>, </a:t>
            </a:r>
            <a:r>
              <a:rPr lang="en-US" err="1"/>
              <a:t>ses</a:t>
            </a:r>
            <a:r>
              <a:rPr lang="en-US"/>
              <a:t> </a:t>
            </a:r>
            <a:r>
              <a:rPr lang="en-US" err="1"/>
              <a:t>limites</a:t>
            </a:r>
            <a:r>
              <a:rPr lang="en-US"/>
              <a:t> et son </a:t>
            </a:r>
            <a:r>
              <a:rPr lang="en-US" err="1"/>
              <a:t>potentiel</a:t>
            </a:r>
            <a:r>
              <a:rPr lang="en-US"/>
              <a:t> </a:t>
            </a:r>
            <a:r>
              <a:rPr lang="en-US" err="1"/>
              <a:t>est</a:t>
            </a:r>
            <a:r>
              <a:rPr lang="en-US"/>
              <a:t> </a:t>
            </a:r>
            <a:r>
              <a:rPr lang="en-US" err="1"/>
              <a:t>essentiel</a:t>
            </a:r>
            <a:r>
              <a:rPr lang="en-US"/>
              <a:t> pour </a:t>
            </a:r>
            <a:r>
              <a:rPr lang="en-US" err="1"/>
              <a:t>pouvoir</a:t>
            </a:r>
            <a:r>
              <a:rPr lang="en-US"/>
              <a:t> </a:t>
            </a:r>
            <a:r>
              <a:rPr lang="en-US" err="1"/>
              <a:t>l’intégrer</a:t>
            </a:r>
            <a:r>
              <a:rPr lang="en-US"/>
              <a:t> dans </a:t>
            </a:r>
            <a:r>
              <a:rPr lang="en-US" err="1"/>
              <a:t>ses</a:t>
            </a:r>
            <a:r>
              <a:rPr lang="en-US"/>
              <a:t> pratiques </a:t>
            </a:r>
            <a:r>
              <a:rPr lang="en-US" err="1"/>
              <a:t>professionnelles</a:t>
            </a:r>
            <a:r>
              <a:rPr lang="en-US"/>
              <a:t>. </a:t>
            </a:r>
            <a:r>
              <a:rPr lang="en-US" err="1"/>
              <a:t>Cela</a:t>
            </a:r>
            <a:r>
              <a:rPr lang="en-US"/>
              <a:t> </a:t>
            </a:r>
            <a:r>
              <a:rPr lang="en-US" err="1"/>
              <a:t>inclut</a:t>
            </a:r>
            <a:r>
              <a:rPr lang="en-US"/>
              <a:t> la </a:t>
            </a:r>
            <a:r>
              <a:rPr lang="en-US" err="1"/>
              <a:t>capacité</a:t>
            </a:r>
            <a:r>
              <a:rPr lang="en-US"/>
              <a:t> à </a:t>
            </a:r>
            <a:r>
              <a:rPr lang="en-US" err="1"/>
              <a:t>naviguer</a:t>
            </a:r>
            <a:r>
              <a:rPr lang="en-US"/>
              <a:t> dans des </a:t>
            </a:r>
            <a:r>
              <a:rPr lang="en-US" err="1"/>
              <a:t>environnements</a:t>
            </a:r>
            <a:r>
              <a:rPr lang="en-US"/>
              <a:t> </a:t>
            </a:r>
            <a:r>
              <a:rPr lang="en-US" err="1"/>
              <a:t>numériques</a:t>
            </a:r>
            <a:r>
              <a:rPr lang="en-US"/>
              <a:t> complexes et à </a:t>
            </a:r>
            <a:r>
              <a:rPr lang="en-US" err="1"/>
              <a:t>interpréter</a:t>
            </a:r>
            <a:r>
              <a:rPr lang="en-US"/>
              <a:t> les </a:t>
            </a:r>
            <a:r>
              <a:rPr lang="en-US" err="1"/>
              <a:t>résultats</a:t>
            </a:r>
            <a:r>
              <a:rPr lang="en-US"/>
              <a:t> </a:t>
            </a:r>
            <a:r>
              <a:rPr lang="en-US" err="1"/>
              <a:t>produits</a:t>
            </a:r>
            <a:r>
              <a:rPr lang="en-US"/>
              <a:t> par </a:t>
            </a:r>
            <a:r>
              <a:rPr lang="en-US" err="1"/>
              <a:t>l’IA</a:t>
            </a:r>
            <a:r>
              <a:rPr lang="en-US"/>
              <a:t>.</a:t>
            </a:r>
            <a:endParaRPr lang="en-US">
              <a:ea typeface="Calibri"/>
              <a:cs typeface="Calibri"/>
            </a:endParaRPr>
          </a:p>
          <a:p>
            <a:r>
              <a:rPr lang="en-US"/>
              <a:t>Ensuite, les </a:t>
            </a:r>
            <a:r>
              <a:rPr lang="en-US" err="1"/>
              <a:t>compétences</a:t>
            </a:r>
            <a:r>
              <a:rPr lang="en-US"/>
              <a:t> </a:t>
            </a:r>
            <a:r>
              <a:rPr lang="en-US" err="1"/>
              <a:t>liées</a:t>
            </a:r>
            <a:r>
              <a:rPr lang="en-US"/>
              <a:t> à la </a:t>
            </a:r>
            <a:r>
              <a:rPr lang="en-US" b="1" err="1"/>
              <a:t>création</a:t>
            </a:r>
            <a:r>
              <a:rPr lang="en-US" b="1"/>
              <a:t> de </a:t>
            </a:r>
            <a:r>
              <a:rPr lang="en-US" b="1" err="1"/>
              <a:t>contenu</a:t>
            </a:r>
            <a:r>
              <a:rPr lang="en-US" b="1"/>
              <a:t> numérique</a:t>
            </a:r>
            <a:r>
              <a:rPr lang="en-US"/>
              <a:t> </a:t>
            </a:r>
            <a:r>
              <a:rPr lang="en-US" err="1"/>
              <a:t>sont</a:t>
            </a:r>
            <a:r>
              <a:rPr lang="en-US"/>
              <a:t> </a:t>
            </a:r>
            <a:r>
              <a:rPr lang="en-US" err="1"/>
              <a:t>particulièrement</a:t>
            </a:r>
            <a:r>
              <a:rPr lang="en-US"/>
              <a:t> </a:t>
            </a:r>
            <a:r>
              <a:rPr lang="en-US" err="1"/>
              <a:t>importantes</a:t>
            </a:r>
            <a:r>
              <a:rPr lang="en-US"/>
              <a:t>. </a:t>
            </a:r>
            <a:r>
              <a:rPr lang="en-US" err="1"/>
              <a:t>Formuler</a:t>
            </a:r>
            <a:r>
              <a:rPr lang="en-US"/>
              <a:t> des </a:t>
            </a:r>
            <a:r>
              <a:rPr lang="en-US" err="1"/>
              <a:t>requêtes</a:t>
            </a:r>
            <a:r>
              <a:rPr lang="en-US"/>
              <a:t> </a:t>
            </a:r>
            <a:r>
              <a:rPr lang="en-US" err="1"/>
              <a:t>pertinentes</a:t>
            </a:r>
            <a:r>
              <a:rPr lang="en-US"/>
              <a:t> (</a:t>
            </a:r>
            <a:r>
              <a:rPr lang="en-US" err="1"/>
              <a:t>ou</a:t>
            </a:r>
            <a:r>
              <a:rPr lang="en-US"/>
              <a:t> prompts) </a:t>
            </a:r>
            <a:r>
              <a:rPr lang="en-US" err="1"/>
              <a:t>exige</a:t>
            </a:r>
            <a:r>
              <a:rPr lang="en-US"/>
              <a:t> non </a:t>
            </a:r>
            <a:r>
              <a:rPr lang="en-US" err="1"/>
              <a:t>seulement</a:t>
            </a:r>
            <a:r>
              <a:rPr lang="en-US"/>
              <a:t> </a:t>
            </a:r>
            <a:r>
              <a:rPr lang="en-US" err="1"/>
              <a:t>une</a:t>
            </a:r>
            <a:r>
              <a:rPr lang="en-US"/>
              <a:t> </a:t>
            </a:r>
            <a:r>
              <a:rPr lang="en-US" err="1"/>
              <a:t>maîtrise</a:t>
            </a:r>
            <a:r>
              <a:rPr lang="en-US"/>
              <a:t> des </a:t>
            </a:r>
            <a:r>
              <a:rPr lang="en-US" err="1"/>
              <a:t>outils</a:t>
            </a:r>
            <a:r>
              <a:rPr lang="en-US"/>
              <a:t>, </a:t>
            </a:r>
            <a:r>
              <a:rPr lang="en-US" err="1"/>
              <a:t>mais</a:t>
            </a:r>
            <a:r>
              <a:rPr lang="en-US"/>
              <a:t> </a:t>
            </a:r>
            <a:r>
              <a:rPr lang="en-US" err="1"/>
              <a:t>également</a:t>
            </a:r>
            <a:r>
              <a:rPr lang="en-US"/>
              <a:t> </a:t>
            </a:r>
            <a:r>
              <a:rPr lang="en-US" err="1"/>
              <a:t>une</a:t>
            </a:r>
            <a:r>
              <a:rPr lang="en-US"/>
              <a:t> </a:t>
            </a:r>
            <a:r>
              <a:rPr lang="en-US" err="1"/>
              <a:t>capacité</a:t>
            </a:r>
            <a:r>
              <a:rPr lang="en-US"/>
              <a:t> à structurer des </a:t>
            </a:r>
            <a:r>
              <a:rPr lang="en-US" err="1"/>
              <a:t>demandes</a:t>
            </a:r>
            <a:r>
              <a:rPr lang="en-US"/>
              <a:t> de manière </a:t>
            </a:r>
            <a:r>
              <a:rPr lang="en-US" err="1"/>
              <a:t>claire</a:t>
            </a:r>
            <a:r>
              <a:rPr lang="en-US"/>
              <a:t> et </a:t>
            </a:r>
            <a:r>
              <a:rPr lang="en-US" err="1"/>
              <a:t>stratégique</a:t>
            </a:r>
            <a:r>
              <a:rPr lang="en-US"/>
              <a:t>.</a:t>
            </a:r>
            <a:endParaRPr lang="en-US">
              <a:ea typeface="Calibri"/>
              <a:cs typeface="Calibri"/>
            </a:endParaRPr>
          </a:p>
          <a:p>
            <a:r>
              <a:rPr lang="en-US"/>
              <a:t>La </a:t>
            </a:r>
            <a:r>
              <a:rPr lang="en-US" b="1"/>
              <a:t>pensée critique</a:t>
            </a:r>
            <a:r>
              <a:rPr lang="en-US"/>
              <a:t> </a:t>
            </a:r>
            <a:r>
              <a:rPr lang="en-US" err="1"/>
              <a:t>est</a:t>
            </a:r>
            <a:r>
              <a:rPr lang="en-US"/>
              <a:t> </a:t>
            </a:r>
            <a:r>
              <a:rPr lang="en-US" err="1"/>
              <a:t>une</a:t>
            </a:r>
            <a:r>
              <a:rPr lang="en-US"/>
              <a:t> </a:t>
            </a:r>
            <a:r>
              <a:rPr lang="en-US" err="1"/>
              <a:t>autre</a:t>
            </a:r>
            <a:r>
              <a:rPr lang="en-US"/>
              <a:t> </a:t>
            </a:r>
            <a:r>
              <a:rPr lang="en-US" err="1"/>
              <a:t>compétence</a:t>
            </a:r>
            <a:r>
              <a:rPr lang="en-US"/>
              <a:t> </a:t>
            </a:r>
            <a:r>
              <a:rPr lang="en-US" err="1"/>
              <a:t>clé</a:t>
            </a:r>
            <a:r>
              <a:rPr lang="en-US"/>
              <a:t>. Face à des </a:t>
            </a:r>
            <a:r>
              <a:rPr lang="en-US" err="1"/>
              <a:t>résultats</a:t>
            </a:r>
            <a:r>
              <a:rPr lang="en-US"/>
              <a:t> </a:t>
            </a:r>
            <a:r>
              <a:rPr lang="en-US" err="1"/>
              <a:t>parfois</a:t>
            </a:r>
            <a:r>
              <a:rPr lang="en-US"/>
              <a:t> variables </a:t>
            </a:r>
            <a:r>
              <a:rPr lang="en-US" err="1"/>
              <a:t>ou</a:t>
            </a:r>
            <a:r>
              <a:rPr lang="en-US"/>
              <a:t> </a:t>
            </a:r>
            <a:r>
              <a:rPr lang="en-US" err="1"/>
              <a:t>inexacts</a:t>
            </a:r>
            <a:r>
              <a:rPr lang="en-US"/>
              <a:t>, il </a:t>
            </a:r>
            <a:r>
              <a:rPr lang="en-US" err="1"/>
              <a:t>est</a:t>
            </a:r>
            <a:r>
              <a:rPr lang="en-US"/>
              <a:t> indispensable de </a:t>
            </a:r>
            <a:r>
              <a:rPr lang="en-US" err="1"/>
              <a:t>valider</a:t>
            </a:r>
            <a:r>
              <a:rPr lang="en-US"/>
              <a:t> les </a:t>
            </a:r>
            <a:r>
              <a:rPr lang="en-US" err="1"/>
              <a:t>contenus</a:t>
            </a:r>
            <a:r>
              <a:rPr lang="en-US"/>
              <a:t> </a:t>
            </a:r>
            <a:r>
              <a:rPr lang="en-US" err="1"/>
              <a:t>générés</a:t>
            </a:r>
            <a:r>
              <a:rPr lang="en-US"/>
              <a:t> et </a:t>
            </a:r>
            <a:r>
              <a:rPr lang="en-US" err="1"/>
              <a:t>d’évaluer</a:t>
            </a:r>
            <a:r>
              <a:rPr lang="en-US"/>
              <a:t> </a:t>
            </a:r>
            <a:r>
              <a:rPr lang="en-US" err="1"/>
              <a:t>leur</a:t>
            </a:r>
            <a:r>
              <a:rPr lang="en-US"/>
              <a:t> pertinence dans le </a:t>
            </a:r>
            <a:r>
              <a:rPr lang="en-US" err="1"/>
              <a:t>contexte</a:t>
            </a:r>
            <a:r>
              <a:rPr lang="en-US"/>
              <a:t> </a:t>
            </a:r>
            <a:r>
              <a:rPr lang="en-US" err="1"/>
              <a:t>organisationnel</a:t>
            </a:r>
            <a:r>
              <a:rPr lang="en-US"/>
              <a:t>.</a:t>
            </a:r>
            <a:endParaRPr lang="en-US">
              <a:ea typeface="Calibri"/>
              <a:cs typeface="Calibri"/>
            </a:endParaRPr>
          </a:p>
          <a:p>
            <a:r>
              <a:rPr lang="en-US"/>
              <a:t>De plus, les </a:t>
            </a:r>
            <a:r>
              <a:rPr lang="en-US" err="1"/>
              <a:t>compétences</a:t>
            </a:r>
            <a:r>
              <a:rPr lang="en-US"/>
              <a:t> </a:t>
            </a:r>
            <a:r>
              <a:rPr lang="en-US" err="1"/>
              <a:t>en</a:t>
            </a:r>
            <a:r>
              <a:rPr lang="en-US"/>
              <a:t> </a:t>
            </a:r>
            <a:r>
              <a:rPr lang="en-US" b="1"/>
              <a:t>gestion des données</a:t>
            </a:r>
            <a:r>
              <a:rPr lang="en-US"/>
              <a:t> </a:t>
            </a:r>
            <a:r>
              <a:rPr lang="en-US" err="1"/>
              <a:t>sont</a:t>
            </a:r>
            <a:r>
              <a:rPr lang="en-US"/>
              <a:t> </a:t>
            </a:r>
            <a:r>
              <a:rPr lang="en-US" err="1"/>
              <a:t>cruciales</a:t>
            </a:r>
            <a:r>
              <a:rPr lang="en-US"/>
              <a:t>. La </a:t>
            </a:r>
            <a:r>
              <a:rPr lang="en-US" err="1"/>
              <a:t>qualité</a:t>
            </a:r>
            <a:r>
              <a:rPr lang="en-US"/>
              <a:t> des </a:t>
            </a:r>
            <a:r>
              <a:rPr lang="en-US" err="1"/>
              <a:t>résultats</a:t>
            </a:r>
            <a:r>
              <a:rPr lang="en-US"/>
              <a:t> </a:t>
            </a:r>
            <a:r>
              <a:rPr lang="en-US" err="1"/>
              <a:t>produits</a:t>
            </a:r>
            <a:r>
              <a:rPr lang="en-US"/>
              <a:t> par </a:t>
            </a:r>
            <a:r>
              <a:rPr lang="en-US" err="1"/>
              <a:t>l’IA</a:t>
            </a:r>
            <a:r>
              <a:rPr lang="en-US"/>
              <a:t> </a:t>
            </a:r>
            <a:r>
              <a:rPr lang="en-US" err="1"/>
              <a:t>générative</a:t>
            </a:r>
            <a:r>
              <a:rPr lang="en-US"/>
              <a:t> </a:t>
            </a:r>
            <a:r>
              <a:rPr lang="en-US" err="1"/>
              <a:t>dépend</a:t>
            </a:r>
            <a:r>
              <a:rPr lang="en-US"/>
              <a:t> des données </a:t>
            </a:r>
            <a:r>
              <a:rPr lang="en-US" err="1"/>
              <a:t>accessibles</a:t>
            </a:r>
            <a:r>
              <a:rPr lang="en-US"/>
              <a:t> : savoir </a:t>
            </a:r>
            <a:r>
              <a:rPr lang="en-US" err="1"/>
              <a:t>manipuler</a:t>
            </a:r>
            <a:r>
              <a:rPr lang="en-US"/>
              <a:t>, </a:t>
            </a:r>
            <a:r>
              <a:rPr lang="en-US" err="1"/>
              <a:t>organiser</a:t>
            </a:r>
            <a:r>
              <a:rPr lang="en-US"/>
              <a:t> et </a:t>
            </a:r>
            <a:r>
              <a:rPr lang="en-US" err="1"/>
              <a:t>protéger</a:t>
            </a:r>
            <a:r>
              <a:rPr lang="en-US"/>
              <a:t> </a:t>
            </a:r>
            <a:r>
              <a:rPr lang="en-US" err="1"/>
              <a:t>ces</a:t>
            </a:r>
            <a:r>
              <a:rPr lang="en-US"/>
              <a:t> données </a:t>
            </a:r>
            <a:r>
              <a:rPr lang="en-US" err="1"/>
              <a:t>garantit</a:t>
            </a:r>
            <a:r>
              <a:rPr lang="en-US"/>
              <a:t> </a:t>
            </a:r>
            <a:r>
              <a:rPr lang="en-US" err="1"/>
              <a:t>une</a:t>
            </a:r>
            <a:r>
              <a:rPr lang="en-US"/>
              <a:t> </a:t>
            </a:r>
            <a:r>
              <a:rPr lang="en-US" err="1"/>
              <a:t>utilisation</a:t>
            </a:r>
            <a:r>
              <a:rPr lang="en-US"/>
              <a:t> plus </a:t>
            </a:r>
            <a:r>
              <a:rPr lang="en-US" err="1"/>
              <a:t>pertinente</a:t>
            </a:r>
            <a:r>
              <a:rPr lang="en-US"/>
              <a:t> et </a:t>
            </a:r>
            <a:r>
              <a:rPr lang="en-US" err="1"/>
              <a:t>sécurisée</a:t>
            </a:r>
            <a:r>
              <a:rPr lang="en-US"/>
              <a:t> des </a:t>
            </a:r>
            <a:r>
              <a:rPr lang="en-US" err="1"/>
              <a:t>outils</a:t>
            </a:r>
            <a:r>
              <a:rPr lang="en-US"/>
              <a:t>.</a:t>
            </a:r>
            <a:endParaRPr lang="en-US">
              <a:ea typeface="Calibri"/>
              <a:cs typeface="Calibri"/>
            </a:endParaRPr>
          </a:p>
          <a:p>
            <a:r>
              <a:rPr lang="en-US" err="1"/>
              <a:t>Enfin</a:t>
            </a:r>
            <a:r>
              <a:rPr lang="en-US"/>
              <a:t>, la </a:t>
            </a:r>
            <a:r>
              <a:rPr lang="en-US" b="1" err="1"/>
              <a:t>flexibilité</a:t>
            </a:r>
            <a:r>
              <a:rPr lang="en-US" b="1"/>
              <a:t> cognitive</a:t>
            </a:r>
            <a:r>
              <a:rPr lang="en-US"/>
              <a:t> </a:t>
            </a:r>
            <a:r>
              <a:rPr lang="en-US" err="1"/>
              <a:t>favorise</a:t>
            </a:r>
            <a:r>
              <a:rPr lang="en-US"/>
              <a:t> </a:t>
            </a:r>
            <a:r>
              <a:rPr lang="en-US" err="1"/>
              <a:t>l’adaptation</a:t>
            </a:r>
            <a:r>
              <a:rPr lang="en-US"/>
              <a:t> face à </a:t>
            </a:r>
            <a:r>
              <a:rPr lang="en-US" err="1"/>
              <a:t>l’évolution</a:t>
            </a:r>
            <a:r>
              <a:rPr lang="en-US"/>
              <a:t> </a:t>
            </a:r>
            <a:r>
              <a:rPr lang="en-US" err="1"/>
              <a:t>rapide</a:t>
            </a:r>
            <a:r>
              <a:rPr lang="en-US"/>
              <a:t> des technologies </a:t>
            </a:r>
            <a:r>
              <a:rPr lang="en-US" err="1"/>
              <a:t>numériques</a:t>
            </a:r>
            <a:r>
              <a:rPr lang="en-US"/>
              <a:t>. Les </a:t>
            </a:r>
            <a:r>
              <a:rPr lang="en-US" err="1"/>
              <a:t>individus</a:t>
            </a:r>
            <a:r>
              <a:rPr lang="en-US"/>
              <a:t> </a:t>
            </a:r>
            <a:r>
              <a:rPr lang="en-US" err="1"/>
              <a:t>capables</a:t>
            </a:r>
            <a:r>
              <a:rPr lang="en-US"/>
              <a:t> de </a:t>
            </a:r>
            <a:r>
              <a:rPr lang="en-US" err="1"/>
              <a:t>s’adapter</a:t>
            </a:r>
            <a:r>
              <a:rPr lang="en-US"/>
              <a:t> </a:t>
            </a:r>
            <a:r>
              <a:rPr lang="en-US" err="1"/>
              <a:t>rapidement</a:t>
            </a:r>
            <a:r>
              <a:rPr lang="en-US"/>
              <a:t> à de nouveaux </a:t>
            </a:r>
            <a:r>
              <a:rPr lang="en-US" err="1"/>
              <a:t>outils</a:t>
            </a:r>
            <a:r>
              <a:rPr lang="en-US"/>
              <a:t> et de modifier </a:t>
            </a:r>
            <a:r>
              <a:rPr lang="en-US" err="1"/>
              <a:t>leurs</a:t>
            </a:r>
            <a:r>
              <a:rPr lang="en-US"/>
              <a:t> habitudes de travail </a:t>
            </a:r>
            <a:r>
              <a:rPr lang="en-US" err="1"/>
              <a:t>sont</a:t>
            </a:r>
            <a:r>
              <a:rPr lang="en-US"/>
              <a:t> </a:t>
            </a:r>
            <a:r>
              <a:rPr lang="en-US" err="1"/>
              <a:t>mieux</a:t>
            </a:r>
            <a:r>
              <a:rPr lang="en-US"/>
              <a:t> </a:t>
            </a:r>
            <a:r>
              <a:rPr lang="en-US" err="1"/>
              <a:t>équipés</a:t>
            </a:r>
            <a:r>
              <a:rPr lang="en-US"/>
              <a:t> pour </a:t>
            </a:r>
            <a:r>
              <a:rPr lang="en-US" err="1"/>
              <a:t>intégrer</a:t>
            </a:r>
            <a:r>
              <a:rPr lang="en-US"/>
              <a:t> </a:t>
            </a:r>
            <a:r>
              <a:rPr lang="en-US" err="1"/>
              <a:t>l’IA</a:t>
            </a:r>
            <a:r>
              <a:rPr lang="en-US"/>
              <a:t> </a:t>
            </a:r>
            <a:r>
              <a:rPr lang="en-US" err="1"/>
              <a:t>générative</a:t>
            </a:r>
            <a:r>
              <a:rPr lang="en-US"/>
              <a:t> dans </a:t>
            </a:r>
            <a:r>
              <a:rPr lang="en-US" err="1"/>
              <a:t>leur</a:t>
            </a:r>
            <a:r>
              <a:rPr lang="en-US"/>
              <a:t> </a:t>
            </a:r>
            <a:r>
              <a:rPr lang="en-US" err="1"/>
              <a:t>quotidien</a:t>
            </a:r>
            <a:r>
              <a:rPr lang="en-US"/>
              <a:t>.</a:t>
            </a:r>
            <a:endParaRPr lang="en-US">
              <a:ea typeface="Calibri"/>
              <a:cs typeface="Calibri"/>
            </a:endParaRPr>
          </a:p>
          <a:p>
            <a:r>
              <a:rPr lang="en-US" err="1"/>
              <a:t>Ces</a:t>
            </a:r>
            <a:r>
              <a:rPr lang="en-US"/>
              <a:t> </a:t>
            </a:r>
            <a:r>
              <a:rPr lang="en-US" err="1"/>
              <a:t>compétences</a:t>
            </a:r>
            <a:r>
              <a:rPr lang="en-US"/>
              <a:t> </a:t>
            </a:r>
            <a:r>
              <a:rPr lang="en-US" err="1"/>
              <a:t>numériques</a:t>
            </a:r>
            <a:r>
              <a:rPr lang="en-US"/>
              <a:t> ne </a:t>
            </a:r>
            <a:r>
              <a:rPr lang="en-US" err="1"/>
              <a:t>sont</a:t>
            </a:r>
            <a:r>
              <a:rPr lang="en-US"/>
              <a:t> pas </a:t>
            </a:r>
            <a:r>
              <a:rPr lang="en-US" err="1"/>
              <a:t>uniquement</a:t>
            </a:r>
            <a:r>
              <a:rPr lang="en-US"/>
              <a:t> techniques ; </a:t>
            </a:r>
            <a:r>
              <a:rPr lang="en-US" err="1"/>
              <a:t>elles</a:t>
            </a:r>
            <a:r>
              <a:rPr lang="en-US"/>
              <a:t> </a:t>
            </a:r>
            <a:r>
              <a:rPr lang="en-US" err="1"/>
              <a:t>impliquent</a:t>
            </a:r>
            <a:r>
              <a:rPr lang="en-US"/>
              <a:t> </a:t>
            </a:r>
            <a:r>
              <a:rPr lang="en-US" err="1"/>
              <a:t>aussi</a:t>
            </a:r>
            <a:r>
              <a:rPr lang="en-US"/>
              <a:t> </a:t>
            </a:r>
            <a:r>
              <a:rPr lang="en-US" err="1"/>
              <a:t>une</a:t>
            </a:r>
            <a:r>
              <a:rPr lang="en-US"/>
              <a:t> </a:t>
            </a:r>
            <a:r>
              <a:rPr lang="en-US" err="1"/>
              <a:t>compréhension</a:t>
            </a:r>
            <a:r>
              <a:rPr lang="en-US"/>
              <a:t> plus large des impacts </a:t>
            </a:r>
            <a:r>
              <a:rPr lang="en-US" err="1"/>
              <a:t>organisationnels</a:t>
            </a:r>
            <a:r>
              <a:rPr lang="en-US"/>
              <a:t> et </a:t>
            </a:r>
            <a:r>
              <a:rPr lang="en-US" err="1"/>
              <a:t>éthiques</a:t>
            </a:r>
            <a:r>
              <a:rPr lang="en-US"/>
              <a:t> de </a:t>
            </a:r>
            <a:r>
              <a:rPr lang="en-US" err="1"/>
              <a:t>l’IA</a:t>
            </a:r>
            <a:r>
              <a:rPr lang="en-US"/>
              <a:t> générative. </a:t>
            </a:r>
            <a:r>
              <a:rPr lang="en-US" err="1"/>
              <a:t>Renforcer</a:t>
            </a:r>
            <a:r>
              <a:rPr lang="en-US"/>
              <a:t> </a:t>
            </a:r>
            <a:r>
              <a:rPr lang="en-US" err="1"/>
              <a:t>ces</a:t>
            </a:r>
            <a:r>
              <a:rPr lang="en-US"/>
              <a:t> </a:t>
            </a:r>
            <a:r>
              <a:rPr lang="en-US" err="1"/>
              <a:t>compétences</a:t>
            </a:r>
            <a:r>
              <a:rPr lang="en-US"/>
              <a:t> dans </a:t>
            </a:r>
            <a:r>
              <a:rPr lang="en-US" err="1"/>
              <a:t>l’ensemble</a:t>
            </a:r>
            <a:r>
              <a:rPr lang="en-US"/>
              <a:t> de </a:t>
            </a:r>
            <a:r>
              <a:rPr lang="en-US" err="1"/>
              <a:t>l’organisation</a:t>
            </a:r>
            <a:r>
              <a:rPr lang="en-US"/>
              <a:t> </a:t>
            </a:r>
            <a:r>
              <a:rPr lang="en-US" err="1"/>
              <a:t>est</a:t>
            </a:r>
            <a:r>
              <a:rPr lang="en-US"/>
              <a:t> un </a:t>
            </a:r>
            <a:r>
              <a:rPr lang="en-US" err="1"/>
              <a:t>investissement</a:t>
            </a:r>
            <a:r>
              <a:rPr lang="en-US"/>
              <a:t> </a:t>
            </a:r>
            <a:r>
              <a:rPr lang="en-US" err="1"/>
              <a:t>stratégique</a:t>
            </a:r>
            <a:r>
              <a:rPr lang="en-US"/>
              <a:t> pour maximiser les </a:t>
            </a:r>
            <a:r>
              <a:rPr lang="en-US" err="1"/>
              <a:t>bénéfices</a:t>
            </a:r>
            <a:r>
              <a:rPr lang="en-US"/>
              <a:t> de </a:t>
            </a:r>
            <a:r>
              <a:rPr lang="en-US" err="1"/>
              <a:t>l’intelligence</a:t>
            </a:r>
            <a:r>
              <a:rPr lang="en-US"/>
              <a:t> </a:t>
            </a:r>
            <a:r>
              <a:rPr lang="en-US" err="1"/>
              <a:t>artificielle</a:t>
            </a:r>
            <a:r>
              <a:rPr lang="en-US"/>
              <a:t> </a:t>
            </a:r>
            <a:r>
              <a:rPr lang="en-US" err="1"/>
              <a:t>générative</a:t>
            </a:r>
            <a:r>
              <a:rPr lang="en-US"/>
              <a:t> </a:t>
            </a:r>
            <a:r>
              <a:rPr lang="en-US" err="1"/>
              <a:t>mais</a:t>
            </a:r>
            <a:r>
              <a:rPr lang="en-US"/>
              <a:t> </a:t>
            </a:r>
            <a:r>
              <a:rPr lang="en-US" err="1"/>
              <a:t>aussi</a:t>
            </a:r>
            <a:r>
              <a:rPr lang="en-US"/>
              <a:t> pour </a:t>
            </a:r>
            <a:r>
              <a:rPr lang="en-US" err="1"/>
              <a:t>favoriser</a:t>
            </a:r>
            <a:r>
              <a:rPr lang="en-US"/>
              <a:t> </a:t>
            </a:r>
            <a:r>
              <a:rPr lang="en-US" err="1"/>
              <a:t>l’adoption</a:t>
            </a:r>
            <a:r>
              <a:rPr lang="en-US"/>
              <a:t> de </a:t>
            </a:r>
            <a:r>
              <a:rPr lang="en-US" err="1"/>
              <a:t>ces</a:t>
            </a:r>
            <a:r>
              <a:rPr lang="en-US"/>
              <a:t> </a:t>
            </a:r>
            <a:r>
              <a:rPr lang="en-US" err="1"/>
              <a:t>outils</a:t>
            </a:r>
            <a:r>
              <a:rPr lang="en-US"/>
              <a:t>.</a:t>
            </a: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12</a:t>
            </a:fld>
            <a:endParaRPr lang="fr-CA"/>
          </a:p>
        </p:txBody>
      </p:sp>
    </p:spTree>
    <p:extLst>
      <p:ext uri="{BB962C8B-B14F-4D97-AF65-F5344CB8AC3E}">
        <p14:creationId xmlns:p14="http://schemas.microsoft.com/office/powerpoint/2010/main" val="1682928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defRPr/>
            </a:pPr>
            <a:r>
              <a:rPr lang="fr-CA" b="1" i="0">
                <a:solidFill>
                  <a:srgbClr val="000000"/>
                </a:solidFill>
                <a:effectLst/>
                <a:latin typeface="Segoe UI" panose="020B0502040204020203" pitchFamily="34" charset="0"/>
              </a:rPr>
              <a:t>Sophie</a:t>
            </a:r>
          </a:p>
          <a:p>
            <a:pPr>
              <a:defRPr/>
            </a:pPr>
            <a:r>
              <a:rPr lang="fr-CA" b="0" i="0">
                <a:solidFill>
                  <a:srgbClr val="000000"/>
                </a:solidFill>
                <a:effectLst/>
                <a:latin typeface="Segoe UI" panose="020B0502040204020203" pitchFamily="34" charset="0"/>
              </a:rPr>
              <a:t>Le dernier constat est que les gains de productivité observés lors de l’expérimentation avec l'outil sont modérés et difficiles à quantifier et qualifier précisément. </a:t>
            </a:r>
          </a:p>
          <a:p>
            <a:pPr>
              <a:defRPr/>
            </a:pPr>
            <a:endParaRPr lang="fr-CA" b="0" i="0">
              <a:solidFill>
                <a:srgbClr val="000000"/>
              </a:solidFill>
              <a:effectLst/>
              <a:latin typeface="Segoe UI" panose="020B0502040204020203" pitchFamily="34" charset="0"/>
            </a:endParaRPr>
          </a:p>
          <a:p>
            <a:pPr>
              <a:defRPr/>
            </a:pPr>
            <a:r>
              <a:rPr lang="fr-CA" b="0" i="0">
                <a:solidFill>
                  <a:srgbClr val="000000"/>
                </a:solidFill>
                <a:effectLst/>
                <a:latin typeface="Segoe UI" panose="020B0502040204020203" pitchFamily="34" charset="0"/>
              </a:rPr>
              <a:t>Les trois quarts des répondants ont tout de même indiqué obtenir un gain de temps grâce à l’utilisation de Copilot, allant de 15 minutes à 1 heure par semaine dans la plupart des cas. </a:t>
            </a:r>
          </a:p>
          <a:p>
            <a:pPr>
              <a:defRPr/>
            </a:pPr>
            <a:r>
              <a:rPr lang="fr-CA" b="0" i="0">
                <a:solidFill>
                  <a:srgbClr val="000000"/>
                </a:solidFill>
                <a:effectLst/>
                <a:latin typeface="Segoe UI" panose="020B0502040204020203" pitchFamily="34" charset="0"/>
              </a:rPr>
              <a:t>Il faut toutefois mentionner que, selon une étude menée par Microsoft et citée par Gartner, les gains sont surestimés. Ainsi, lorsque Microsoft demandait l’avis à des employés du temps gagné versus la tâche chronométrée avec et sans l’outil, les employés percevaient un gain deux fois et demie plus élevé que la mesure chronométrée.</a:t>
            </a:r>
          </a:p>
          <a:p>
            <a:pPr>
              <a:defRPr/>
            </a:pPr>
            <a:endParaRPr lang="fr-CA" b="0" i="0">
              <a:solidFill>
                <a:srgbClr val="000000"/>
              </a:solidFill>
              <a:effectLst/>
              <a:latin typeface="Segoe UI" panose="020B0502040204020203" pitchFamily="34" charset="0"/>
            </a:endParaRPr>
          </a:p>
          <a:p>
            <a:pPr>
              <a:defRPr/>
            </a:pPr>
            <a:r>
              <a:rPr lang="fr-CA" b="0" i="0">
                <a:solidFill>
                  <a:srgbClr val="000000"/>
                </a:solidFill>
                <a:effectLst/>
                <a:latin typeface="Segoe UI" panose="020B0502040204020203" pitchFamily="34" charset="0"/>
              </a:rPr>
              <a:t>Aussi, l’expérimentation n’a pas documenté où ce temps gagné était réalloué. Les deux tiers des participants ont tout de même mentionné que Copilot les avait aidés à dépenser moins d’efforts sur des tâches banales ou répétitives.</a:t>
            </a: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endParaRPr lang="fr-CA"/>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13</a:t>
            </a:fld>
            <a:endParaRPr lang="fr-CA"/>
          </a:p>
        </p:txBody>
      </p:sp>
    </p:spTree>
    <p:extLst>
      <p:ext uri="{BB962C8B-B14F-4D97-AF65-F5344CB8AC3E}">
        <p14:creationId xmlns:p14="http://schemas.microsoft.com/office/powerpoint/2010/main" val="3606027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4DEA-CE4A-2370-B947-6B0404FA37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F93B6F-8E08-9ED0-F8F3-AE2953D9E6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100F42A-AC92-C7D8-C8FB-7886BA236C35}"/>
              </a:ext>
            </a:extLst>
          </p:cNvPr>
          <p:cNvSpPr>
            <a:spLocks noGrp="1"/>
          </p:cNvSpPr>
          <p:nvPr>
            <p:ph type="body" idx="1"/>
          </p:nvPr>
        </p:nvSpPr>
        <p:spPr/>
        <p:txBody>
          <a:bodyPr/>
          <a:lstStyle/>
          <a:p>
            <a:pPr>
              <a:defRPr/>
            </a:pPr>
            <a:r>
              <a:rPr lang="fr-CA" b="1" err="1">
                <a:ea typeface="Calibri"/>
                <a:cs typeface="Calibri"/>
              </a:rPr>
              <a:t>Karolanne</a:t>
            </a:r>
            <a:r>
              <a:rPr lang="fr-CA" b="1">
                <a:ea typeface="Calibri"/>
                <a:cs typeface="Calibri"/>
              </a:rPr>
              <a:t>: </a:t>
            </a:r>
            <a:endParaRPr lang="fr-CA">
              <a:ea typeface="Calibri"/>
              <a:cs typeface="Calibri"/>
            </a:endParaRPr>
          </a:p>
          <a:p>
            <a:pPr marL="0" marR="0" lvl="0" indent="0" algn="l" defTabSz="914400">
              <a:lnSpc>
                <a:spcPct val="100000"/>
              </a:lnSpc>
              <a:spcBef>
                <a:spcPts val="0"/>
              </a:spcBef>
              <a:spcAft>
                <a:spcPts val="0"/>
              </a:spcAft>
              <a:buClrTx/>
              <a:buSzTx/>
              <a:buFontTx/>
              <a:buNone/>
              <a:tabLst/>
              <a:defRPr/>
            </a:pPr>
            <a:endParaRPr lang="fr-CA" b="1">
              <a:ea typeface="Calibri"/>
              <a:cs typeface="Calibri"/>
            </a:endParaRPr>
          </a:p>
          <a:p>
            <a:r>
              <a:rPr lang="fr-CA"/>
              <a:t>Bien que les gestionnaires aient noté des gains limités sur la performance de leurs employés à ce stade, ils ont aussi perçu un potentiel significatif à long terme. Un potentiel qui pourrait être pleinement réalisé grâce à une gestion du changement adéquate, incluant un soutien constant et une adaptation progressive des pratiques de travail. D'ailleurs, 63% des gestionnaires interrogés étaient favorable à l'intégration de </a:t>
            </a:r>
            <a:r>
              <a:rPr lang="fr-CA" err="1"/>
              <a:t>Copilot</a:t>
            </a:r>
            <a:r>
              <a:rPr lang="fr-CA"/>
              <a:t> à tous leurs employés. </a:t>
            </a:r>
            <a:endParaRPr lang="fr-CA">
              <a:ea typeface="Calibri"/>
              <a:cs typeface="Calibri"/>
            </a:endParaRPr>
          </a:p>
          <a:p>
            <a:r>
              <a:rPr lang="fr-CA"/>
              <a:t>Les gestionnaires interrogés ont souligné qu’ils aimeraient être mieux préparés et plus impliqués. Ils ont d’ailleurs soulevés des préoccupations concernant la confidentialité des données et la sécurité. Ces aspects devront être pris en compte pour rassurer les gestionnaires et leurs équipes, en mettant en place des protocoles clairs et une sensibilisation accrue.</a:t>
            </a:r>
            <a:endParaRPr lang="fr-CA">
              <a:ea typeface="Calibri"/>
              <a:cs typeface="Calibri"/>
            </a:endParaRPr>
          </a:p>
          <a:p>
            <a:endParaRPr lang="fr-CA" b="1">
              <a:ea typeface="Calibri"/>
              <a:cs typeface="Calibri"/>
            </a:endParaRPr>
          </a:p>
          <a:p>
            <a:endParaRPr lang="fr-CA">
              <a:ea typeface="Calibri" panose="020F0502020204030204"/>
              <a:cs typeface="Calibri" panose="020F0502020204030204"/>
            </a:endParaRPr>
          </a:p>
          <a:p>
            <a:endParaRPr lang="fr-CA">
              <a:ea typeface="Calibri" panose="020F0502020204030204"/>
              <a:cs typeface="Calibri" panose="020F0502020204030204"/>
            </a:endParaRPr>
          </a:p>
        </p:txBody>
      </p:sp>
      <p:sp>
        <p:nvSpPr>
          <p:cNvPr id="4" name="Espace réservé du numéro de diapositive 3">
            <a:extLst>
              <a:ext uri="{FF2B5EF4-FFF2-40B4-BE49-F238E27FC236}">
                <a16:creationId xmlns:a16="http://schemas.microsoft.com/office/drawing/2014/main" id="{507605DA-B99E-F1BD-2669-3F545B3EE05A}"/>
              </a:ext>
            </a:extLst>
          </p:cNvPr>
          <p:cNvSpPr>
            <a:spLocks noGrp="1"/>
          </p:cNvSpPr>
          <p:nvPr>
            <p:ph type="sldNum" sz="quarter" idx="5"/>
          </p:nvPr>
        </p:nvSpPr>
        <p:spPr/>
        <p:txBody>
          <a:bodyPr/>
          <a:lstStyle/>
          <a:p>
            <a:fld id="{9FC41C64-3B65-4897-8D3B-3B1D0179E22D}" type="slidenum">
              <a:rPr lang="fr-CA" smtClean="0"/>
              <a:t>14</a:t>
            </a:fld>
            <a:endParaRPr lang="fr-CA"/>
          </a:p>
        </p:txBody>
      </p:sp>
    </p:spTree>
    <p:extLst>
      <p:ext uri="{BB962C8B-B14F-4D97-AF65-F5344CB8AC3E}">
        <p14:creationId xmlns:p14="http://schemas.microsoft.com/office/powerpoint/2010/main" val="4243538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À la suite de la fin de la phase 1, nous avons constaté que les participants ne tiraient pas profit de façon similaire de l’outil et des limites à l’expérimentation menée ne permettait pas de se prononcer concrètement sur la valeur ajoutée de l’outil. Ainsi, une 2</a:t>
            </a:r>
            <a:r>
              <a:rPr lang="fr-CA" baseline="30000"/>
              <a:t>e</a:t>
            </a:r>
            <a:r>
              <a:rPr lang="fr-CA"/>
              <a:t> phase d’expérimentation est pour le moment privilégiée, afin d’identifier les cas et les profils qui pourraient en bénéficier et éventuellement proposé un déploiement ciblé.</a:t>
            </a: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15</a:t>
            </a:fld>
            <a:endParaRPr lang="fr-CA"/>
          </a:p>
        </p:txBody>
      </p:sp>
    </p:spTree>
    <p:extLst>
      <p:ext uri="{BB962C8B-B14F-4D97-AF65-F5344CB8AC3E}">
        <p14:creationId xmlns:p14="http://schemas.microsoft.com/office/powerpoint/2010/main" val="268251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008380" marR="0" lvl="0" indent="-1008380" algn="just" defTabSz="914400" rtl="0" eaLnBrk="1" fontAlgn="auto" latinLnBrk="0" hangingPunct="1">
              <a:lnSpc>
                <a:spcPct val="107000"/>
              </a:lnSpc>
              <a:spcBef>
                <a:spcPts val="0"/>
              </a:spcBef>
              <a:spcAft>
                <a:spcPts val="800"/>
              </a:spcAft>
              <a:buClrTx/>
              <a:buSzTx/>
              <a:buFontTx/>
              <a:buNone/>
              <a:tabLst/>
              <a:defRPr/>
            </a:pPr>
            <a:r>
              <a:rPr lang="fr-CA" sz="1200" b="1" u="sng">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Sophie</a:t>
            </a:r>
          </a:p>
          <a:p>
            <a:pPr marL="1008380" marR="0" lvl="0" indent="-1008380" algn="just" defTabSz="914400" rtl="0" eaLnBrk="1" fontAlgn="auto" latinLnBrk="0" hangingPunct="1">
              <a:lnSpc>
                <a:spcPct val="107000"/>
              </a:lnSpc>
              <a:spcBef>
                <a:spcPts val="0"/>
              </a:spcBef>
              <a:spcAft>
                <a:spcPts val="800"/>
              </a:spcAft>
              <a:buClrTx/>
              <a:buSzTx/>
              <a:buFontTx/>
              <a:buNone/>
              <a:tabLst/>
              <a:defRPr/>
            </a:pPr>
            <a:endParaRPr lang="fr-CA" sz="1200" b="1" u="sng">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fr-CA"/>
              <a:t>À travers la première phase d’expérimentation, nous avons noté des pistes d’amélioration pour mener une 2</a:t>
            </a:r>
            <a:r>
              <a:rPr lang="fr-CA" baseline="30000"/>
              <a:t>e</a:t>
            </a:r>
            <a:r>
              <a:rPr lang="fr-CA"/>
              <a:t> phase.</a:t>
            </a:r>
          </a:p>
          <a:p>
            <a:endParaRPr lang="fr-CA"/>
          </a:p>
          <a:p>
            <a:r>
              <a:rPr lang="fr-CA"/>
              <a:t>Comme mentionné auparavant, le temps accordé aux participants doit être suffisant afin de leur permettre s’approprier l’outil, dont l’utilisation demande un temps d’adaptation. Les ressources proposées aux employés doivent également répondre à leurs besoins et la nomination d’ambassadeurs parmi les utilisateurs avancés de la première phase pourraient être une option intéressante.</a:t>
            </a:r>
          </a:p>
          <a:p>
            <a:endParaRPr lang="fr-CA"/>
          </a:p>
          <a:p>
            <a:r>
              <a:rPr lang="fr-CA"/>
              <a:t>La sélection des employés doit être ciblée selon divers critères, comme le profil, une tâche précise, le niveau d’expérience, ce qui permettra d’avoir des constats plus concrets. Il faut aussi s’assurer qu’ils ont l’espace nécessaire dans leur charge de travail pour utiliser l’outil et participer activement aux différentes mesures à effectuer.</a:t>
            </a:r>
          </a:p>
          <a:p>
            <a:endParaRPr lang="fr-CA"/>
          </a:p>
          <a:p>
            <a:r>
              <a:rPr lang="fr-CA"/>
              <a:t>Un point que nous avons peut-être moins abordé est la gestion documentaire. Il est primordial que les employés et les différentes équipes s’assurent que la gestion des accès aux différents répertoires et documents soit rigoureuse pour éviter l’exfiltration de données sensibles lors de requêtes effectuées à Copilot, c’est-à-dire l’exposition de données auxquelles l’employés ne devraient pas avoir accès. La gestion documentaire inclut aussi la gestion des versions de documents conservés. Copilot ne différencie pas les anciennes versions des plus récentes et pourraient générer du contenu qui a depuis été mis à jour.</a:t>
            </a: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16</a:t>
            </a:fld>
            <a:endParaRPr lang="fr-CA"/>
          </a:p>
        </p:txBody>
      </p:sp>
    </p:spTree>
    <p:extLst>
      <p:ext uri="{BB962C8B-B14F-4D97-AF65-F5344CB8AC3E}">
        <p14:creationId xmlns:p14="http://schemas.microsoft.com/office/powerpoint/2010/main" val="2047524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A7BF-D677-D19E-8D44-C75A0588A9C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DDC214-CD6F-9130-7905-258484987EE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06397F-4904-BBB1-1532-038711AFB512}"/>
              </a:ext>
            </a:extLst>
          </p:cNvPr>
          <p:cNvSpPr>
            <a:spLocks noGrp="1"/>
          </p:cNvSpPr>
          <p:nvPr>
            <p:ph type="body" idx="1"/>
          </p:nvPr>
        </p:nvSpPr>
        <p:spPr/>
        <p:txBody>
          <a:bodyPr/>
          <a:lstStyle/>
          <a:p>
            <a:pPr marL="1008380" marR="0" lvl="0" indent="-1008380" algn="just" defTabSz="914400" rtl="0" eaLnBrk="1" fontAlgn="auto" latinLnBrk="0" hangingPunct="1">
              <a:lnSpc>
                <a:spcPct val="107000"/>
              </a:lnSpc>
              <a:spcBef>
                <a:spcPts val="0"/>
              </a:spcBef>
              <a:spcAft>
                <a:spcPts val="800"/>
              </a:spcAft>
              <a:buClrTx/>
              <a:buSzTx/>
              <a:buFontTx/>
              <a:buNone/>
              <a:tabLst/>
              <a:defRPr/>
            </a:pPr>
            <a:r>
              <a:rPr lang="fr-CA" sz="1200" b="1" u="none">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Sophie</a:t>
            </a:r>
          </a:p>
          <a:p>
            <a:pPr marL="1008380" marR="0" lvl="0" indent="-1008380" algn="just" defTabSz="914400" rtl="0" eaLnBrk="1" fontAlgn="auto" latinLnBrk="0" hangingPunct="1">
              <a:lnSpc>
                <a:spcPct val="107000"/>
              </a:lnSpc>
              <a:spcBef>
                <a:spcPts val="0"/>
              </a:spcBef>
              <a:spcAft>
                <a:spcPts val="800"/>
              </a:spcAft>
              <a:buClrTx/>
              <a:buSzTx/>
              <a:buFontTx/>
              <a:buNone/>
              <a:tabLst/>
              <a:defRPr/>
            </a:pPr>
            <a:endParaRPr lang="fr-CA" sz="1200" b="0" u="none">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1008380" marR="0" lvl="0" indent="0" algn="just" defTabSz="914400" rtl="0" eaLnBrk="1" fontAlgn="auto" latinLnBrk="0" hangingPunct="1">
              <a:lnSpc>
                <a:spcPct val="107000"/>
              </a:lnSpc>
              <a:spcBef>
                <a:spcPts val="0"/>
              </a:spcBef>
              <a:spcAft>
                <a:spcPts val="800"/>
              </a:spcAft>
              <a:buClrTx/>
              <a:buSzTx/>
              <a:buFontTx/>
              <a:buNone/>
              <a:tabLst/>
              <a:defRPr/>
            </a:pPr>
            <a:r>
              <a:rPr lang="fr-CA" sz="1200" b="0" u="none">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La sensibilisation des employés quant à l’importance de valider tout contenu généré par l’outil est également un requis, même si cette étape supplémentaire peut contrebalancer les gains obtenus en utilisant l’outil d’IA générative</a:t>
            </a:r>
          </a:p>
          <a:p>
            <a:pPr marL="1008380" marR="0" lvl="0" indent="0" algn="just" defTabSz="914400" rtl="0" eaLnBrk="1" fontAlgn="auto" latinLnBrk="0" hangingPunct="1">
              <a:lnSpc>
                <a:spcPct val="107000"/>
              </a:lnSpc>
              <a:spcBef>
                <a:spcPts val="0"/>
              </a:spcBef>
              <a:spcAft>
                <a:spcPts val="800"/>
              </a:spcAft>
              <a:buClrTx/>
              <a:buSzTx/>
              <a:buFontTx/>
              <a:buNone/>
              <a:tabLst/>
              <a:defRPr/>
            </a:pPr>
            <a:endParaRPr lang="fr-CA" sz="1200" b="0" u="none">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1008380" marR="0" lvl="0" indent="0" algn="just" defTabSz="914400" rtl="0" eaLnBrk="1" fontAlgn="auto" latinLnBrk="0" hangingPunct="1">
              <a:lnSpc>
                <a:spcPct val="107000"/>
              </a:lnSpc>
              <a:spcBef>
                <a:spcPts val="0"/>
              </a:spcBef>
              <a:spcAft>
                <a:spcPts val="800"/>
              </a:spcAft>
              <a:buClrTx/>
              <a:buSzTx/>
              <a:buFontTx/>
              <a:buNone/>
              <a:tabLst/>
              <a:defRPr/>
            </a:pPr>
            <a:r>
              <a:rPr lang="fr-CA" sz="1200" b="0" u="none">
                <a:solidFill>
                  <a:srgbClr val="FF0000"/>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Enfin, les impressions recueillies donnent un premier aperçu des gains possibles, mais ne permettent pas de juger précisément si l’investissement somme toute important en vaut le coût. Une mesure précise pour des cas d’usage spécifiques devrait permettre d’obtenir une idée plus claire de l’absence ou de la présence de gain selon le cas et le profil et d’en évaluer le retour sur investissement.</a:t>
            </a:r>
          </a:p>
        </p:txBody>
      </p:sp>
      <p:sp>
        <p:nvSpPr>
          <p:cNvPr id="4" name="Espace réservé du numéro de diapositive 3">
            <a:extLst>
              <a:ext uri="{FF2B5EF4-FFF2-40B4-BE49-F238E27FC236}">
                <a16:creationId xmlns:a16="http://schemas.microsoft.com/office/drawing/2014/main" id="{D4A0968C-7100-71D2-A718-6F739F7DD9FA}"/>
              </a:ext>
            </a:extLst>
          </p:cNvPr>
          <p:cNvSpPr>
            <a:spLocks noGrp="1"/>
          </p:cNvSpPr>
          <p:nvPr>
            <p:ph type="sldNum" sz="quarter" idx="5"/>
          </p:nvPr>
        </p:nvSpPr>
        <p:spPr/>
        <p:txBody>
          <a:bodyPr/>
          <a:lstStyle/>
          <a:p>
            <a:fld id="{9FC41C64-3B65-4897-8D3B-3B1D0179E22D}" type="slidenum">
              <a:rPr lang="fr-CA" smtClean="0"/>
              <a:t>17</a:t>
            </a:fld>
            <a:endParaRPr lang="fr-CA"/>
          </a:p>
        </p:txBody>
      </p:sp>
    </p:spTree>
    <p:extLst>
      <p:ext uri="{BB962C8B-B14F-4D97-AF65-F5344CB8AC3E}">
        <p14:creationId xmlns:p14="http://schemas.microsoft.com/office/powerpoint/2010/main" val="1178760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Phrase de transition? Tout en ayant ces améliorations en tête, il faut se rappeler même si …</a:t>
            </a:r>
          </a:p>
        </p:txBody>
      </p:sp>
      <p:sp>
        <p:nvSpPr>
          <p:cNvPr id="4" name="Espace réservé du numéro de diapositive 3"/>
          <p:cNvSpPr>
            <a:spLocks noGrp="1"/>
          </p:cNvSpPr>
          <p:nvPr>
            <p:ph type="sldNum" sz="quarter" idx="5"/>
          </p:nvPr>
        </p:nvSpPr>
        <p:spPr/>
        <p:txBody>
          <a:bodyPr/>
          <a:lstStyle/>
          <a:p>
            <a:fld id="{9FC41C64-3B65-4897-8D3B-3B1D0179E22D}" type="slidenum">
              <a:rPr lang="fr-CA" smtClean="0"/>
              <a:t>18</a:t>
            </a:fld>
            <a:endParaRPr lang="fr-CA"/>
          </a:p>
        </p:txBody>
      </p:sp>
    </p:spTree>
    <p:extLst>
      <p:ext uri="{BB962C8B-B14F-4D97-AF65-F5344CB8AC3E}">
        <p14:creationId xmlns:p14="http://schemas.microsoft.com/office/powerpoint/2010/main" val="2372284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age de titre">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8788" y="1199536"/>
            <a:ext cx="11274424" cy="2035125"/>
          </a:xfrm>
        </p:spPr>
        <p:txBody>
          <a:bodyPr anchor="b">
            <a:normAutofit/>
          </a:bodyPr>
          <a:lstStyle>
            <a:lvl1pPr algn="ctr">
              <a:defRPr sz="6000" b="0">
                <a:latin typeface="+mn-lt"/>
              </a:defRPr>
            </a:lvl1pPr>
          </a:lstStyle>
          <a:p>
            <a:r>
              <a:rPr lang="fr-FR"/>
              <a:t>Cliquez pour ajouter un titre</a:t>
            </a:r>
            <a:endParaRPr lang="en-US"/>
          </a:p>
        </p:txBody>
      </p:sp>
      <p:sp>
        <p:nvSpPr>
          <p:cNvPr id="3" name="Subtitle 2"/>
          <p:cNvSpPr>
            <a:spLocks noGrp="1"/>
          </p:cNvSpPr>
          <p:nvPr>
            <p:ph type="subTitle" idx="1" hasCustomPrompt="1"/>
          </p:nvPr>
        </p:nvSpPr>
        <p:spPr>
          <a:xfrm>
            <a:off x="458787" y="3434891"/>
            <a:ext cx="11274423" cy="1164136"/>
          </a:xfrm>
        </p:spPr>
        <p:txBody>
          <a:bodyPr>
            <a:normAutofit/>
          </a:bodyPr>
          <a:lstStyle>
            <a:lvl1pPr marL="0" indent="0" algn="ctr">
              <a:buNone/>
              <a:defRPr sz="40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Cliquez pour ajouter un sous-titre</a:t>
            </a:r>
            <a:endParaRPr lang="en-US"/>
          </a:p>
        </p:txBody>
      </p:sp>
      <p:pic>
        <p:nvPicPr>
          <p:cNvPr id="4"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53976" y="5368326"/>
            <a:ext cx="3938024" cy="1487427"/>
          </a:xfrm>
          <a:prstGeom prst="rect">
            <a:avLst/>
          </a:prstGeom>
        </p:spPr>
      </p:pic>
      <p:pic>
        <p:nvPicPr>
          <p:cNvPr id="5" name="Imag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336" y="5371668"/>
            <a:ext cx="3685888" cy="1484086"/>
          </a:xfrm>
          <a:prstGeom prst="rect">
            <a:avLst/>
          </a:prstGeom>
        </p:spPr>
      </p:pic>
      <p:sp>
        <p:nvSpPr>
          <p:cNvPr id="9" name="Espace réservé du texte 8">
            <a:extLst>
              <a:ext uri="{FF2B5EF4-FFF2-40B4-BE49-F238E27FC236}">
                <a16:creationId xmlns:a16="http://schemas.microsoft.com/office/drawing/2014/main" id="{F7ADEA83-9478-45FA-81ED-938B4E4884EA}"/>
              </a:ext>
            </a:extLst>
          </p:cNvPr>
          <p:cNvSpPr>
            <a:spLocks noGrp="1"/>
          </p:cNvSpPr>
          <p:nvPr>
            <p:ph type="body" sz="quarter" idx="10" hasCustomPrompt="1"/>
          </p:nvPr>
        </p:nvSpPr>
        <p:spPr>
          <a:xfrm>
            <a:off x="458786" y="4799258"/>
            <a:ext cx="11274423" cy="641634"/>
          </a:xfrm>
        </p:spPr>
        <p:txBody>
          <a:bodyPr anchor="b" anchorCtr="0">
            <a:noAutofit/>
          </a:bodyPr>
          <a:lstStyle>
            <a:lvl1pPr marL="0" indent="0" algn="ctr">
              <a:buNone/>
              <a:defRPr sz="2000" i="0"/>
            </a:lvl1pPr>
          </a:lstStyle>
          <a:p>
            <a:pPr lvl="0"/>
            <a:r>
              <a:rPr lang="fr-FR"/>
              <a:t>Cliquez pour ajouter de l’info supplémentaire (public, date etc.)</a:t>
            </a:r>
          </a:p>
        </p:txBody>
      </p:sp>
    </p:spTree>
    <p:extLst>
      <p:ext uri="{BB962C8B-B14F-4D97-AF65-F5344CB8AC3E}">
        <p14:creationId xmlns:p14="http://schemas.microsoft.com/office/powerpoint/2010/main" val="16974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Page de sect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8787" y="2049758"/>
            <a:ext cx="11274425" cy="2035125"/>
          </a:xfrm>
        </p:spPr>
        <p:txBody>
          <a:bodyPr anchor="b">
            <a:normAutofit/>
          </a:bodyPr>
          <a:lstStyle>
            <a:lvl1pPr algn="l" defTabSz="914400" rtl="0" eaLnBrk="1" latinLnBrk="0" hangingPunct="1">
              <a:lnSpc>
                <a:spcPct val="90000"/>
              </a:lnSpc>
              <a:spcBef>
                <a:spcPct val="0"/>
              </a:spcBef>
              <a:buNone/>
              <a:defRPr lang="en-US" sz="3600" b="1" kern="1200" dirty="0">
                <a:solidFill>
                  <a:schemeClr val="tx1"/>
                </a:solidFill>
                <a:latin typeface="+mn-lt"/>
                <a:ea typeface="+mj-ea"/>
                <a:cs typeface="+mj-cs"/>
              </a:defRPr>
            </a:lvl1pPr>
          </a:lstStyle>
          <a:p>
            <a:r>
              <a:rPr lang="fr-FR"/>
              <a:t>Cliquez pour ajouter un titre</a:t>
            </a:r>
            <a:endParaRPr lang="en-US"/>
          </a:p>
        </p:txBody>
      </p:sp>
      <p:sp>
        <p:nvSpPr>
          <p:cNvPr id="3" name="Subtitle 2"/>
          <p:cNvSpPr>
            <a:spLocks noGrp="1"/>
          </p:cNvSpPr>
          <p:nvPr>
            <p:ph type="subTitle" idx="1" hasCustomPrompt="1"/>
          </p:nvPr>
        </p:nvSpPr>
        <p:spPr>
          <a:xfrm>
            <a:off x="458787" y="4173495"/>
            <a:ext cx="11274425" cy="1767380"/>
          </a:xfrm>
        </p:spPr>
        <p:txBody>
          <a:bodyPr>
            <a:normAutofit/>
          </a:bodyPr>
          <a:lstStyle>
            <a:lvl1pPr marL="0" indent="0" algn="l">
              <a:buNone/>
              <a:defRPr lang="en-US" sz="2400" b="1" kern="1200" dirty="0">
                <a:solidFill>
                  <a:schemeClr val="accent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1000"/>
              </a:spcBef>
              <a:buClr>
                <a:schemeClr val="accent3">
                  <a:lumMod val="40000"/>
                  <a:lumOff val="60000"/>
                </a:schemeClr>
              </a:buClr>
              <a:buFont typeface="Arial" panose="020B0604020202020204" pitchFamily="34" charset="0"/>
              <a:buNone/>
            </a:pPr>
            <a:r>
              <a:rPr lang="fr-FR"/>
              <a:t>Cliquez pour ajouter un sous-titre</a:t>
            </a:r>
            <a:endParaRPr lang="en-US"/>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37" name="Espace réservé du numéro de diapositive 3">
            <a:extLst>
              <a:ext uri="{FF2B5EF4-FFF2-40B4-BE49-F238E27FC236}">
                <a16:creationId xmlns:a16="http://schemas.microsoft.com/office/drawing/2014/main" id="{ECAAA9B6-0338-4E90-AF47-F5519B2082A8}"/>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Tree>
    <p:extLst>
      <p:ext uri="{BB962C8B-B14F-4D97-AF65-F5344CB8AC3E}">
        <p14:creationId xmlns:p14="http://schemas.microsoft.com/office/powerpoint/2010/main" val="266434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ge de contenu">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A41B36-EE59-41DB-BDEB-33DB67650B7D}"/>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le 1"/>
          <p:cNvSpPr>
            <a:spLocks noGrp="1"/>
          </p:cNvSpPr>
          <p:nvPr>
            <p:ph type="title" hasCustomPrompt="1"/>
          </p:nvPr>
        </p:nvSpPr>
        <p:spPr>
          <a:xfrm>
            <a:off x="432779" y="367096"/>
            <a:ext cx="11274425" cy="449999"/>
          </a:xfrm>
        </p:spPr>
        <p:txBody>
          <a:bodyPr>
            <a:normAutofit/>
          </a:bodyPr>
          <a:lstStyle>
            <a:lvl1pPr>
              <a:defRPr/>
            </a:lvl1pPr>
          </a:lstStyle>
          <a:p>
            <a:r>
              <a:rPr lang="fr-FR"/>
              <a:t>Cliquez pour ajouter un titre</a:t>
            </a:r>
            <a:endParaRPr lang="en-US"/>
          </a:p>
        </p:txBody>
      </p:sp>
      <p:sp>
        <p:nvSpPr>
          <p:cNvPr id="3" name="Content Placeholder 2"/>
          <p:cNvSpPr>
            <a:spLocks noGrp="1"/>
          </p:cNvSpPr>
          <p:nvPr>
            <p:ph idx="1" hasCustomPrompt="1"/>
          </p:nvPr>
        </p:nvSpPr>
        <p:spPr>
          <a:xfrm>
            <a:off x="455313" y="1116623"/>
            <a:ext cx="11274425" cy="4833041"/>
          </a:xfrm>
        </p:spPr>
        <p:txBody>
          <a:bodyPr/>
          <a:lstStyle>
            <a:lvl1pPr>
              <a:defRPr/>
            </a:lvl1pPr>
            <a:lvl2pPr>
              <a:buClr>
                <a:schemeClr val="tx1"/>
              </a:buClr>
              <a:defRPr/>
            </a:lvl2pPr>
            <a:lvl3pPr marL="1143000" indent="-228600">
              <a:buClr>
                <a:schemeClr val="tx1"/>
              </a:buClr>
              <a:buFont typeface="Calibri" panose="020F0502020204030204" pitchFamily="34" charset="0"/>
              <a:buChar char="─"/>
              <a:defRPr/>
            </a:lvl3pPr>
            <a:lvl4pPr marL="1600200" indent="-228600">
              <a:buClr>
                <a:schemeClr val="tx1"/>
              </a:buClr>
              <a:buFont typeface="Calibri" panose="020F0502020204030204" pitchFamily="34" charset="0"/>
              <a:buChar char="─"/>
              <a:defRPr/>
            </a:lvl4pPr>
            <a:lvl5pPr marL="2057400" indent="-228600">
              <a:buClr>
                <a:schemeClr val="tx1"/>
              </a:buClr>
              <a:buFont typeface="Calibri" panose="020F0502020204030204" pitchFamily="34" charset="0"/>
              <a:buChar char="─"/>
              <a:defRPr/>
            </a:lvl5pPr>
          </a:lstStyle>
          <a:p>
            <a:pPr lvl="0"/>
            <a:r>
              <a:rPr lang="fr-FR"/>
              <a:t>Cliquez pour ajouter du texte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9" name="Espace réservé du numéro de diapositive 3">
            <a:extLst>
              <a:ext uri="{FF2B5EF4-FFF2-40B4-BE49-F238E27FC236}">
                <a16:creationId xmlns:a16="http://schemas.microsoft.com/office/drawing/2014/main" id="{85463FC7-0C86-4499-B94B-B2A4FEEAFC04}"/>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12" name="Espace réservé du numéro de diapositive 11">
            <a:extLst>
              <a:ext uri="{FF2B5EF4-FFF2-40B4-BE49-F238E27FC236}">
                <a16:creationId xmlns:a16="http://schemas.microsoft.com/office/drawing/2014/main" id="{AEE039AA-DE19-4363-BE30-4CFE7FA7FD39}"/>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218439011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age de contenu avec sous-tit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9A41B36-EE59-41DB-BDEB-33DB67650B7D}"/>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le 1"/>
          <p:cNvSpPr>
            <a:spLocks noGrp="1"/>
          </p:cNvSpPr>
          <p:nvPr>
            <p:ph type="title" hasCustomPrompt="1"/>
          </p:nvPr>
        </p:nvSpPr>
        <p:spPr>
          <a:xfrm>
            <a:off x="432779" y="367096"/>
            <a:ext cx="11274425" cy="449999"/>
          </a:xfrm>
        </p:spPr>
        <p:txBody>
          <a:bodyPr/>
          <a:lstStyle>
            <a:lvl1pPr>
              <a:defRPr/>
            </a:lvl1pPr>
          </a:lstStyle>
          <a:p>
            <a:r>
              <a:rPr lang="fr-FR"/>
              <a:t>Cliquez pour ajouter un titre</a:t>
            </a:r>
            <a:endParaRPr lang="en-US"/>
          </a:p>
        </p:txBody>
      </p:sp>
      <p:sp>
        <p:nvSpPr>
          <p:cNvPr id="3" name="Content Placeholder 2"/>
          <p:cNvSpPr>
            <a:spLocks noGrp="1"/>
          </p:cNvSpPr>
          <p:nvPr>
            <p:ph idx="1" hasCustomPrompt="1"/>
          </p:nvPr>
        </p:nvSpPr>
        <p:spPr/>
        <p:txBody>
          <a:bodyPr/>
          <a:lstStyle>
            <a:lvl1pPr>
              <a:defRPr/>
            </a:lvl1pPr>
            <a:lvl2pPr>
              <a:buClr>
                <a:schemeClr val="tx1"/>
              </a:buClr>
              <a:defRPr/>
            </a:lvl2pPr>
            <a:lvl3pPr marL="1143000" indent="-228600">
              <a:buClr>
                <a:schemeClr val="tx1"/>
              </a:buClr>
              <a:buFont typeface="Calibri" panose="020F0502020204030204" pitchFamily="34" charset="0"/>
              <a:buChar char="─"/>
              <a:defRPr/>
            </a:lvl3pPr>
            <a:lvl4pPr marL="1600200" indent="-228600">
              <a:buClr>
                <a:schemeClr val="tx1"/>
              </a:buClr>
              <a:buFont typeface="Calibri" panose="020F0502020204030204" pitchFamily="34" charset="0"/>
              <a:buChar char="─"/>
              <a:defRPr/>
            </a:lvl4pPr>
            <a:lvl5pPr marL="2057400" indent="-228600">
              <a:buClr>
                <a:schemeClr val="tx1"/>
              </a:buClr>
              <a:buFont typeface="Calibri" panose="020F0502020204030204" pitchFamily="34" charset="0"/>
              <a:buChar char="─"/>
              <a:defRPr/>
            </a:lvl5pPr>
          </a:lstStyle>
          <a:p>
            <a:pPr lvl="0"/>
            <a:r>
              <a:rPr lang="fr-FR"/>
              <a:t>Cliquez pour ajouter du texte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6" name="Imag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9" name="Espace réservé du numéro de diapositive 3">
            <a:extLst>
              <a:ext uri="{FF2B5EF4-FFF2-40B4-BE49-F238E27FC236}">
                <a16:creationId xmlns:a16="http://schemas.microsoft.com/office/drawing/2014/main" id="{85463FC7-0C86-4499-B94B-B2A4FEEAFC04}"/>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11" name="Espace réservé du texte 10">
            <a:extLst>
              <a:ext uri="{FF2B5EF4-FFF2-40B4-BE49-F238E27FC236}">
                <a16:creationId xmlns:a16="http://schemas.microsoft.com/office/drawing/2014/main" id="{F58C7133-90C0-405B-9D4D-00080089367B}"/>
              </a:ext>
            </a:extLst>
          </p:cNvPr>
          <p:cNvSpPr>
            <a:spLocks noGrp="1"/>
          </p:cNvSpPr>
          <p:nvPr>
            <p:ph type="body" sz="quarter" idx="10" hasCustomPrompt="1"/>
          </p:nvPr>
        </p:nvSpPr>
        <p:spPr>
          <a:xfrm>
            <a:off x="455313" y="870623"/>
            <a:ext cx="11274425" cy="336550"/>
          </a:xfrm>
        </p:spPr>
        <p:txBody>
          <a:bodyPr>
            <a:noAutofit/>
          </a:bodyPr>
          <a:lstStyle>
            <a:lvl1pPr marL="0" indent="0" algn="l" defTabSz="914400" rtl="0" eaLnBrk="1" latinLnBrk="0" hangingPunct="1">
              <a:lnSpc>
                <a:spcPct val="100000"/>
              </a:lnSpc>
              <a:spcBef>
                <a:spcPts val="1000"/>
              </a:spcBef>
              <a:buClr>
                <a:schemeClr val="accent3">
                  <a:lumMod val="40000"/>
                  <a:lumOff val="60000"/>
                </a:schemeClr>
              </a:buClr>
              <a:buFont typeface="Arial" panose="020B0604020202020204" pitchFamily="34" charset="0"/>
              <a:buNone/>
              <a:defRPr lang="fr-FR" sz="2400" b="1" kern="1200" dirty="0" smtClean="0">
                <a:solidFill>
                  <a:schemeClr val="accent2"/>
                </a:solidFill>
                <a:latin typeface="+mn-lt"/>
                <a:ea typeface="+mn-ea"/>
                <a:cs typeface="+mn-cs"/>
              </a:defRPr>
            </a:lvl1pPr>
          </a:lstStyle>
          <a:p>
            <a:pPr lvl="0"/>
            <a:r>
              <a:rPr lang="fr-FR"/>
              <a:t>Cliquez pour ajouter un sous-titre</a:t>
            </a:r>
          </a:p>
        </p:txBody>
      </p:sp>
      <p:sp>
        <p:nvSpPr>
          <p:cNvPr id="12" name="Espace réservé du numéro de diapositive 11">
            <a:extLst>
              <a:ext uri="{FF2B5EF4-FFF2-40B4-BE49-F238E27FC236}">
                <a16:creationId xmlns:a16="http://schemas.microsoft.com/office/drawing/2014/main" id="{AEE039AA-DE19-4363-BE30-4CFE7FA7FD39}"/>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259653297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ge de contenu doubl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7EBDA-0A82-4C04-B380-441A06AC0D04}"/>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 name="Content Placeholder 2"/>
          <p:cNvSpPr>
            <a:spLocks noGrp="1"/>
          </p:cNvSpPr>
          <p:nvPr>
            <p:ph sz="half" idx="1" hasCustomPrompt="1"/>
          </p:nvPr>
        </p:nvSpPr>
        <p:spPr>
          <a:xfrm>
            <a:off x="455312" y="1116624"/>
            <a:ext cx="5490539" cy="4833734"/>
          </a:xfrm>
        </p:spPr>
        <p:txBody>
          <a:bodyPr/>
          <a:lstStyle>
            <a:lvl1pPr>
              <a:defRPr/>
            </a:lvl1pPr>
            <a:lvl2pPr marL="685800" indent="-228600">
              <a:defRPr lang="fr-FR" sz="2400" kern="1200" dirty="0" smtClean="0">
                <a:solidFill>
                  <a:schemeClr val="tx1"/>
                </a:solidFill>
                <a:latin typeface="+mn-lt"/>
                <a:ea typeface="+mn-ea"/>
                <a:cs typeface="+mn-cs"/>
              </a:defRPr>
            </a:lvl2pPr>
            <a:lvl3pPr marL="1143000" indent="-228600">
              <a:defRPr lang="fr-FR" sz="2000" kern="1200" dirty="0" smtClean="0">
                <a:solidFill>
                  <a:schemeClr val="tx1"/>
                </a:solidFill>
                <a:latin typeface="+mn-lt"/>
                <a:ea typeface="+mn-ea"/>
                <a:cs typeface="+mn-cs"/>
              </a:defRPr>
            </a:lvl3pPr>
            <a:lvl4pPr marL="1600200" indent="-228600">
              <a:defRPr lang="fr-FR" sz="1800" kern="1200" dirty="0" smtClean="0">
                <a:solidFill>
                  <a:schemeClr val="tx1"/>
                </a:solidFill>
                <a:latin typeface="+mn-lt"/>
                <a:ea typeface="+mn-ea"/>
                <a:cs typeface="+mn-cs"/>
              </a:defRPr>
            </a:lvl4pPr>
            <a:lvl5pPr marL="2057400" indent="-228600">
              <a:defRPr lang="en-US" sz="1800" kern="1200" dirty="0">
                <a:solidFill>
                  <a:schemeClr val="tx1"/>
                </a:solidFill>
                <a:latin typeface="+mn-lt"/>
                <a:ea typeface="+mn-ea"/>
                <a:cs typeface="+mn-cs"/>
              </a:defRPr>
            </a:lvl5pPr>
          </a:lstStyle>
          <a:p>
            <a:pPr lvl="0"/>
            <a:r>
              <a:rPr lang="fr-FR"/>
              <a:t>Cliquez pour ajouter du texte</a:t>
            </a:r>
          </a:p>
          <a:p>
            <a:pPr marL="685800" lvl="1" indent="-228600" algn="l" defTabSz="914400" rtl="0" eaLnBrk="1" latinLnBrk="0" hangingPunct="1">
              <a:lnSpc>
                <a:spcPct val="90000"/>
              </a:lnSpc>
              <a:spcBef>
                <a:spcPts val="500"/>
              </a:spcBef>
              <a:buClr>
                <a:schemeClr val="tx1"/>
              </a:buClr>
              <a:buFont typeface="Arial" panose="020B0604020202020204" pitchFamily="34" charset="0"/>
              <a:buChar char="•"/>
            </a:pPr>
            <a:r>
              <a:rPr lang="fr-FR"/>
              <a:t>Deuxième niveau</a:t>
            </a:r>
          </a:p>
          <a:p>
            <a:pPr marL="1143000" lvl="2"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Troisième niveau</a:t>
            </a:r>
          </a:p>
          <a:p>
            <a:pPr marL="1600200" lvl="3"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Quatrième niveau</a:t>
            </a:r>
          </a:p>
          <a:p>
            <a:pPr marL="2057400" lvl="4"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Cinquième niveau</a:t>
            </a:r>
            <a:endParaRPr lang="en-US"/>
          </a:p>
        </p:txBody>
      </p:sp>
      <p:sp>
        <p:nvSpPr>
          <p:cNvPr id="4" name="Content Placeholder 3"/>
          <p:cNvSpPr>
            <a:spLocks noGrp="1"/>
          </p:cNvSpPr>
          <p:nvPr>
            <p:ph sz="half" idx="2" hasCustomPrompt="1"/>
          </p:nvPr>
        </p:nvSpPr>
        <p:spPr>
          <a:xfrm>
            <a:off x="6239199" y="1116624"/>
            <a:ext cx="5490539" cy="4833734"/>
          </a:xfrm>
        </p:spPr>
        <p:txBody>
          <a:bodyPr/>
          <a:lstStyle>
            <a:lvl1pPr>
              <a:defRPr/>
            </a:lvl1pPr>
            <a:lvl2pPr marL="685800" indent="-228600">
              <a:defRPr lang="fr-FR" sz="2400" kern="1200" dirty="0" smtClean="0">
                <a:solidFill>
                  <a:schemeClr val="tx1"/>
                </a:solidFill>
                <a:latin typeface="+mn-lt"/>
                <a:ea typeface="+mn-ea"/>
                <a:cs typeface="+mn-cs"/>
              </a:defRPr>
            </a:lvl2pPr>
            <a:lvl3pPr marL="1143000" indent="-228600">
              <a:defRPr lang="fr-FR" sz="2000" kern="1200" dirty="0" smtClean="0">
                <a:solidFill>
                  <a:schemeClr val="tx1"/>
                </a:solidFill>
                <a:latin typeface="+mn-lt"/>
                <a:ea typeface="+mn-ea"/>
                <a:cs typeface="+mn-cs"/>
              </a:defRPr>
            </a:lvl3pPr>
            <a:lvl4pPr marL="1600200" indent="-228600">
              <a:defRPr lang="fr-FR" sz="1800" kern="1200" dirty="0" smtClean="0">
                <a:solidFill>
                  <a:schemeClr val="tx1"/>
                </a:solidFill>
                <a:latin typeface="+mn-lt"/>
                <a:ea typeface="+mn-ea"/>
                <a:cs typeface="+mn-cs"/>
              </a:defRPr>
            </a:lvl4pPr>
            <a:lvl5pPr marL="2057400" indent="-228600">
              <a:defRPr lang="en-US" sz="1800" kern="1200" dirty="0">
                <a:solidFill>
                  <a:schemeClr val="tx1"/>
                </a:solidFill>
                <a:latin typeface="+mn-lt"/>
                <a:ea typeface="+mn-ea"/>
                <a:cs typeface="+mn-cs"/>
              </a:defRPr>
            </a:lvl5pPr>
          </a:lstStyle>
          <a:p>
            <a:pPr lvl="0"/>
            <a:r>
              <a:rPr lang="fr-FR"/>
              <a:t>Cliquez pour ajouter du texte</a:t>
            </a:r>
          </a:p>
          <a:p>
            <a:pPr marL="685800" lvl="1" indent="-228600" algn="l" defTabSz="914400" rtl="0" eaLnBrk="1" latinLnBrk="0" hangingPunct="1">
              <a:lnSpc>
                <a:spcPct val="90000"/>
              </a:lnSpc>
              <a:spcBef>
                <a:spcPts val="500"/>
              </a:spcBef>
              <a:buClr>
                <a:schemeClr val="tx1"/>
              </a:buClr>
              <a:buFont typeface="Arial" panose="020B0604020202020204" pitchFamily="34" charset="0"/>
              <a:buChar char="•"/>
            </a:pPr>
            <a:r>
              <a:rPr lang="fr-FR"/>
              <a:t>Deuxième niveau</a:t>
            </a:r>
          </a:p>
          <a:p>
            <a:pPr marL="1143000" lvl="2"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Troisième niveau</a:t>
            </a:r>
          </a:p>
          <a:p>
            <a:pPr marL="1600200" lvl="3"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Quatrième niveau</a:t>
            </a:r>
          </a:p>
          <a:p>
            <a:pPr marL="2057400" lvl="4"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Cinquième niveau</a:t>
            </a:r>
            <a:endParaRPr lang="en-US"/>
          </a:p>
        </p:txBody>
      </p: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7" name="Imag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8" name="Espace réservé du numéro de diapositive 3">
            <a:extLst>
              <a:ext uri="{FF2B5EF4-FFF2-40B4-BE49-F238E27FC236}">
                <a16:creationId xmlns:a16="http://schemas.microsoft.com/office/drawing/2014/main" id="{67C9FFC9-249F-47C1-8610-CDA821AB8359}"/>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11" name="Titre 10">
            <a:extLst>
              <a:ext uri="{FF2B5EF4-FFF2-40B4-BE49-F238E27FC236}">
                <a16:creationId xmlns:a16="http://schemas.microsoft.com/office/drawing/2014/main" id="{945AADB9-08D7-4A00-A168-9620C60F80EB}"/>
              </a:ext>
            </a:extLst>
          </p:cNvPr>
          <p:cNvSpPr>
            <a:spLocks noGrp="1"/>
          </p:cNvSpPr>
          <p:nvPr>
            <p:ph type="title" hasCustomPrompt="1"/>
          </p:nvPr>
        </p:nvSpPr>
        <p:spPr/>
        <p:txBody>
          <a:bodyPr/>
          <a:lstStyle/>
          <a:p>
            <a:r>
              <a:rPr lang="fr-FR"/>
              <a:t>Cliquez pour ajouter un titre</a:t>
            </a:r>
            <a:endParaRPr lang="fr-CA"/>
          </a:p>
        </p:txBody>
      </p:sp>
      <p:sp>
        <p:nvSpPr>
          <p:cNvPr id="12" name="Espace réservé du numéro de diapositive 11">
            <a:extLst>
              <a:ext uri="{FF2B5EF4-FFF2-40B4-BE49-F238E27FC236}">
                <a16:creationId xmlns:a16="http://schemas.microsoft.com/office/drawing/2014/main" id="{9641AC8C-406C-4C6E-926D-63542C76C458}"/>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3642292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ge de contenu double avec sous-tit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7EBDA-0A82-4C04-B380-441A06AC0D04}"/>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 name="Content Placeholder 2"/>
          <p:cNvSpPr>
            <a:spLocks noGrp="1"/>
          </p:cNvSpPr>
          <p:nvPr>
            <p:ph sz="half" idx="1" hasCustomPrompt="1"/>
          </p:nvPr>
        </p:nvSpPr>
        <p:spPr>
          <a:xfrm>
            <a:off x="455312" y="1522574"/>
            <a:ext cx="5490539" cy="4427783"/>
          </a:xfrm>
        </p:spPr>
        <p:txBody>
          <a:bodyPr/>
          <a:lstStyle>
            <a:lvl1pPr>
              <a:defRPr/>
            </a:lvl1pPr>
            <a:lvl2pPr marL="685800" indent="-228600">
              <a:defRPr lang="fr-FR" sz="2400" kern="1200" dirty="0" smtClean="0">
                <a:solidFill>
                  <a:schemeClr val="tx1"/>
                </a:solidFill>
                <a:latin typeface="+mn-lt"/>
                <a:ea typeface="+mn-ea"/>
                <a:cs typeface="+mn-cs"/>
              </a:defRPr>
            </a:lvl2pPr>
            <a:lvl3pPr marL="1143000" indent="-228600">
              <a:defRPr lang="fr-FR" sz="2000" kern="1200" dirty="0" smtClean="0">
                <a:solidFill>
                  <a:schemeClr val="tx1"/>
                </a:solidFill>
                <a:latin typeface="+mn-lt"/>
                <a:ea typeface="+mn-ea"/>
                <a:cs typeface="+mn-cs"/>
              </a:defRPr>
            </a:lvl3pPr>
            <a:lvl4pPr marL="1600200" indent="-228600">
              <a:defRPr lang="fr-FR" sz="1800" kern="1200" dirty="0" smtClean="0">
                <a:solidFill>
                  <a:schemeClr val="tx1"/>
                </a:solidFill>
                <a:latin typeface="+mn-lt"/>
                <a:ea typeface="+mn-ea"/>
                <a:cs typeface="+mn-cs"/>
              </a:defRPr>
            </a:lvl4pPr>
            <a:lvl5pPr marL="2057400" indent="-228600">
              <a:defRPr lang="en-US" sz="1800" kern="1200" dirty="0">
                <a:solidFill>
                  <a:schemeClr val="tx1"/>
                </a:solidFill>
                <a:latin typeface="+mn-lt"/>
                <a:ea typeface="+mn-ea"/>
                <a:cs typeface="+mn-cs"/>
              </a:defRPr>
            </a:lvl5pPr>
          </a:lstStyle>
          <a:p>
            <a:pPr lvl="0"/>
            <a:r>
              <a:rPr lang="fr-FR"/>
              <a:t>Cliquez pour ajouter du texte</a:t>
            </a:r>
          </a:p>
          <a:p>
            <a:pPr marL="685800" lvl="1" indent="-228600" algn="l" defTabSz="914400" rtl="0" eaLnBrk="1" latinLnBrk="0" hangingPunct="1">
              <a:lnSpc>
                <a:spcPct val="90000"/>
              </a:lnSpc>
              <a:spcBef>
                <a:spcPts val="500"/>
              </a:spcBef>
              <a:buClr>
                <a:schemeClr val="tx1"/>
              </a:buClr>
              <a:buFont typeface="Arial" panose="020B0604020202020204" pitchFamily="34" charset="0"/>
              <a:buChar char="•"/>
            </a:pPr>
            <a:r>
              <a:rPr lang="fr-FR"/>
              <a:t>Deuxième niveau</a:t>
            </a:r>
          </a:p>
          <a:p>
            <a:pPr marL="1143000" lvl="2"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Troisième niveau</a:t>
            </a:r>
          </a:p>
          <a:p>
            <a:pPr marL="1600200" lvl="3"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Quatrième niveau</a:t>
            </a:r>
          </a:p>
          <a:p>
            <a:pPr marL="2057400" lvl="4"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Cinquième niveau</a:t>
            </a:r>
            <a:endParaRPr lang="en-US"/>
          </a:p>
        </p:txBody>
      </p:sp>
      <p:sp>
        <p:nvSpPr>
          <p:cNvPr id="4" name="Content Placeholder 3"/>
          <p:cNvSpPr>
            <a:spLocks noGrp="1"/>
          </p:cNvSpPr>
          <p:nvPr>
            <p:ph sz="half" idx="2" hasCustomPrompt="1"/>
          </p:nvPr>
        </p:nvSpPr>
        <p:spPr>
          <a:xfrm>
            <a:off x="6239199" y="1522574"/>
            <a:ext cx="5490539" cy="4427783"/>
          </a:xfrm>
        </p:spPr>
        <p:txBody>
          <a:bodyPr/>
          <a:lstStyle>
            <a:lvl1pPr>
              <a:defRPr/>
            </a:lvl1pPr>
            <a:lvl2pPr marL="685800" indent="-228600">
              <a:defRPr lang="fr-FR" sz="2400" kern="1200" dirty="0" smtClean="0">
                <a:solidFill>
                  <a:schemeClr val="tx1"/>
                </a:solidFill>
                <a:latin typeface="+mn-lt"/>
                <a:ea typeface="+mn-ea"/>
                <a:cs typeface="+mn-cs"/>
              </a:defRPr>
            </a:lvl2pPr>
            <a:lvl3pPr marL="1143000" indent="-228600">
              <a:defRPr lang="fr-FR" sz="2000" kern="1200" dirty="0" smtClean="0">
                <a:solidFill>
                  <a:schemeClr val="tx1"/>
                </a:solidFill>
                <a:latin typeface="+mn-lt"/>
                <a:ea typeface="+mn-ea"/>
                <a:cs typeface="+mn-cs"/>
              </a:defRPr>
            </a:lvl3pPr>
            <a:lvl4pPr marL="1600200" indent="-228600">
              <a:defRPr lang="fr-FR" sz="1800" kern="1200" dirty="0" smtClean="0">
                <a:solidFill>
                  <a:schemeClr val="tx1"/>
                </a:solidFill>
                <a:latin typeface="+mn-lt"/>
                <a:ea typeface="+mn-ea"/>
                <a:cs typeface="+mn-cs"/>
              </a:defRPr>
            </a:lvl4pPr>
            <a:lvl5pPr marL="2057400" indent="-228600">
              <a:defRPr lang="en-US" sz="1800" kern="1200" dirty="0">
                <a:solidFill>
                  <a:schemeClr val="tx1"/>
                </a:solidFill>
                <a:latin typeface="+mn-lt"/>
                <a:ea typeface="+mn-ea"/>
                <a:cs typeface="+mn-cs"/>
              </a:defRPr>
            </a:lvl5pPr>
          </a:lstStyle>
          <a:p>
            <a:pPr lvl="0"/>
            <a:r>
              <a:rPr lang="fr-FR"/>
              <a:t>Cliquez pour ajouter du texte</a:t>
            </a:r>
          </a:p>
          <a:p>
            <a:pPr marL="685800" lvl="1" indent="-228600" algn="l" defTabSz="914400" rtl="0" eaLnBrk="1" latinLnBrk="0" hangingPunct="1">
              <a:lnSpc>
                <a:spcPct val="90000"/>
              </a:lnSpc>
              <a:spcBef>
                <a:spcPts val="500"/>
              </a:spcBef>
              <a:buClr>
                <a:schemeClr val="tx1"/>
              </a:buClr>
              <a:buFont typeface="Arial" panose="020B0604020202020204" pitchFamily="34" charset="0"/>
              <a:buChar char="•"/>
            </a:pPr>
            <a:r>
              <a:rPr lang="fr-FR"/>
              <a:t>Deuxième niveau</a:t>
            </a:r>
          </a:p>
          <a:p>
            <a:pPr marL="1143000" lvl="2"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Troisième niveau</a:t>
            </a:r>
          </a:p>
          <a:p>
            <a:pPr marL="1600200" lvl="3"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Quatrième niveau</a:t>
            </a:r>
          </a:p>
          <a:p>
            <a:pPr marL="2057400" lvl="4" indent="-228600" algn="l" defTabSz="914400" rtl="0" eaLnBrk="1" latinLnBrk="0" hangingPunct="1">
              <a:lnSpc>
                <a:spcPct val="90000"/>
              </a:lnSpc>
              <a:spcBef>
                <a:spcPts val="500"/>
              </a:spcBef>
              <a:buClr>
                <a:schemeClr val="tx1"/>
              </a:buClr>
              <a:buFont typeface="Calibri" panose="020F0502020204030204" pitchFamily="34" charset="0"/>
              <a:buChar char="─"/>
            </a:pPr>
            <a:r>
              <a:rPr lang="fr-FR"/>
              <a:t>Cinquième niveau</a:t>
            </a:r>
            <a:endParaRPr lang="en-US"/>
          </a:p>
        </p:txBody>
      </p:sp>
      <p:pic>
        <p:nvPicPr>
          <p:cNvPr id="6" name="Imag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7" name="Imag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8" name="Espace réservé du numéro de diapositive 3">
            <a:extLst>
              <a:ext uri="{FF2B5EF4-FFF2-40B4-BE49-F238E27FC236}">
                <a16:creationId xmlns:a16="http://schemas.microsoft.com/office/drawing/2014/main" id="{67C9FFC9-249F-47C1-8610-CDA821AB8359}"/>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10" name="Espace réservé du texte 10">
            <a:extLst>
              <a:ext uri="{FF2B5EF4-FFF2-40B4-BE49-F238E27FC236}">
                <a16:creationId xmlns:a16="http://schemas.microsoft.com/office/drawing/2014/main" id="{BC75F9CB-69F9-4964-A613-02610C47103C}"/>
              </a:ext>
            </a:extLst>
          </p:cNvPr>
          <p:cNvSpPr>
            <a:spLocks noGrp="1"/>
          </p:cNvSpPr>
          <p:nvPr>
            <p:ph type="body" sz="quarter" idx="10" hasCustomPrompt="1"/>
          </p:nvPr>
        </p:nvSpPr>
        <p:spPr>
          <a:xfrm>
            <a:off x="455313" y="870623"/>
            <a:ext cx="11274425" cy="336550"/>
          </a:xfrm>
        </p:spPr>
        <p:txBody>
          <a:bodyPr>
            <a:noAutofit/>
          </a:bodyPr>
          <a:lstStyle>
            <a:lvl1pPr marL="0" indent="0" algn="l" defTabSz="914400" rtl="0" eaLnBrk="1" latinLnBrk="0" hangingPunct="1">
              <a:lnSpc>
                <a:spcPct val="100000"/>
              </a:lnSpc>
              <a:spcBef>
                <a:spcPts val="1000"/>
              </a:spcBef>
              <a:buClr>
                <a:schemeClr val="accent3">
                  <a:lumMod val="40000"/>
                  <a:lumOff val="60000"/>
                </a:schemeClr>
              </a:buClr>
              <a:buFont typeface="Arial" panose="020B0604020202020204" pitchFamily="34" charset="0"/>
              <a:buNone/>
              <a:defRPr lang="fr-FR" sz="2400" b="1" kern="1200" dirty="0" smtClean="0">
                <a:solidFill>
                  <a:schemeClr val="accent2"/>
                </a:solidFill>
                <a:latin typeface="+mn-lt"/>
                <a:ea typeface="+mn-ea"/>
                <a:cs typeface="+mn-cs"/>
              </a:defRPr>
            </a:lvl1pPr>
          </a:lstStyle>
          <a:p>
            <a:pPr lvl="0"/>
            <a:r>
              <a:rPr lang="fr-FR"/>
              <a:t>Cliquez pour ajouter un sous-titre</a:t>
            </a:r>
          </a:p>
        </p:txBody>
      </p:sp>
      <p:sp>
        <p:nvSpPr>
          <p:cNvPr id="11" name="Titre 10">
            <a:extLst>
              <a:ext uri="{FF2B5EF4-FFF2-40B4-BE49-F238E27FC236}">
                <a16:creationId xmlns:a16="http://schemas.microsoft.com/office/drawing/2014/main" id="{945AADB9-08D7-4A00-A168-9620C60F80EB}"/>
              </a:ext>
            </a:extLst>
          </p:cNvPr>
          <p:cNvSpPr>
            <a:spLocks noGrp="1"/>
          </p:cNvSpPr>
          <p:nvPr>
            <p:ph type="title" hasCustomPrompt="1"/>
          </p:nvPr>
        </p:nvSpPr>
        <p:spPr/>
        <p:txBody>
          <a:bodyPr/>
          <a:lstStyle/>
          <a:p>
            <a:r>
              <a:rPr lang="fr-FR"/>
              <a:t>Cliquez pour ajouter un titre</a:t>
            </a:r>
            <a:endParaRPr lang="fr-CA"/>
          </a:p>
        </p:txBody>
      </p:sp>
      <p:sp>
        <p:nvSpPr>
          <p:cNvPr id="12" name="Espace réservé du numéro de diapositive 11">
            <a:extLst>
              <a:ext uri="{FF2B5EF4-FFF2-40B4-BE49-F238E27FC236}">
                <a16:creationId xmlns:a16="http://schemas.microsoft.com/office/drawing/2014/main" id="{9641AC8C-406C-4C6E-926D-63542C76C458}"/>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254733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A698EB-FB67-4C80-B4D1-878953986B76}"/>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4" name="Imag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5" name="Imag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6" name="Espace réservé du numéro de diapositive 3">
            <a:extLst>
              <a:ext uri="{FF2B5EF4-FFF2-40B4-BE49-F238E27FC236}">
                <a16:creationId xmlns:a16="http://schemas.microsoft.com/office/drawing/2014/main" id="{C7B84C7F-4E0F-471B-A48D-BAF7F65FCB48}"/>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7" name="Title 1">
            <a:extLst>
              <a:ext uri="{FF2B5EF4-FFF2-40B4-BE49-F238E27FC236}">
                <a16:creationId xmlns:a16="http://schemas.microsoft.com/office/drawing/2014/main" id="{EBEA4CF0-3CF1-49A6-B522-EB475C81A85B}"/>
              </a:ext>
            </a:extLst>
          </p:cNvPr>
          <p:cNvSpPr>
            <a:spLocks noGrp="1"/>
          </p:cNvSpPr>
          <p:nvPr>
            <p:ph type="title" hasCustomPrompt="1"/>
          </p:nvPr>
        </p:nvSpPr>
        <p:spPr>
          <a:xfrm>
            <a:off x="432779" y="367096"/>
            <a:ext cx="11274425" cy="449999"/>
          </a:xfrm>
        </p:spPr>
        <p:txBody>
          <a:bodyPr/>
          <a:lstStyle/>
          <a:p>
            <a:r>
              <a:rPr lang="fr-FR"/>
              <a:t>Cliquez pour ajouter un titre</a:t>
            </a:r>
            <a:endParaRPr lang="en-US"/>
          </a:p>
        </p:txBody>
      </p:sp>
      <p:sp>
        <p:nvSpPr>
          <p:cNvPr id="9" name="Espace réservé du numéro de diapositive 8">
            <a:extLst>
              <a:ext uri="{FF2B5EF4-FFF2-40B4-BE49-F238E27FC236}">
                <a16:creationId xmlns:a16="http://schemas.microsoft.com/office/drawing/2014/main" id="{1D311422-F1B9-4C82-8492-06E801EC3E0D}"/>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737397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seul avec sous-tit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A698EB-FB67-4C80-B4D1-878953986B76}"/>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4" name="Imag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5" name="Imag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6" name="Espace réservé du numéro de diapositive 3">
            <a:extLst>
              <a:ext uri="{FF2B5EF4-FFF2-40B4-BE49-F238E27FC236}">
                <a16:creationId xmlns:a16="http://schemas.microsoft.com/office/drawing/2014/main" id="{C7B84C7F-4E0F-471B-A48D-BAF7F65FCB48}"/>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7" name="Title 1">
            <a:extLst>
              <a:ext uri="{FF2B5EF4-FFF2-40B4-BE49-F238E27FC236}">
                <a16:creationId xmlns:a16="http://schemas.microsoft.com/office/drawing/2014/main" id="{EBEA4CF0-3CF1-49A6-B522-EB475C81A85B}"/>
              </a:ext>
            </a:extLst>
          </p:cNvPr>
          <p:cNvSpPr>
            <a:spLocks noGrp="1"/>
          </p:cNvSpPr>
          <p:nvPr>
            <p:ph type="title" hasCustomPrompt="1"/>
          </p:nvPr>
        </p:nvSpPr>
        <p:spPr>
          <a:xfrm>
            <a:off x="432779" y="367096"/>
            <a:ext cx="11274425" cy="449999"/>
          </a:xfrm>
        </p:spPr>
        <p:txBody>
          <a:bodyPr/>
          <a:lstStyle/>
          <a:p>
            <a:r>
              <a:rPr lang="fr-FR"/>
              <a:t>Cliquez pour ajouter un titre</a:t>
            </a:r>
            <a:endParaRPr lang="en-US"/>
          </a:p>
        </p:txBody>
      </p:sp>
      <p:sp>
        <p:nvSpPr>
          <p:cNvPr id="8" name="Espace réservé du texte 10">
            <a:extLst>
              <a:ext uri="{FF2B5EF4-FFF2-40B4-BE49-F238E27FC236}">
                <a16:creationId xmlns:a16="http://schemas.microsoft.com/office/drawing/2014/main" id="{CAB5BB66-4227-4DB0-BD29-F2C306BA05D4}"/>
              </a:ext>
            </a:extLst>
          </p:cNvPr>
          <p:cNvSpPr>
            <a:spLocks noGrp="1"/>
          </p:cNvSpPr>
          <p:nvPr>
            <p:ph type="body" sz="quarter" idx="10" hasCustomPrompt="1"/>
          </p:nvPr>
        </p:nvSpPr>
        <p:spPr>
          <a:xfrm>
            <a:off x="455313" y="870623"/>
            <a:ext cx="11274425" cy="336550"/>
          </a:xfrm>
        </p:spPr>
        <p:txBody>
          <a:bodyPr>
            <a:noAutofit/>
          </a:bodyPr>
          <a:lstStyle>
            <a:lvl1pPr marL="0" indent="0" algn="l" defTabSz="914400" rtl="0" eaLnBrk="1" latinLnBrk="0" hangingPunct="1">
              <a:lnSpc>
                <a:spcPct val="100000"/>
              </a:lnSpc>
              <a:spcBef>
                <a:spcPts val="1000"/>
              </a:spcBef>
              <a:buClr>
                <a:schemeClr val="accent3">
                  <a:lumMod val="40000"/>
                  <a:lumOff val="60000"/>
                </a:schemeClr>
              </a:buClr>
              <a:buFont typeface="Arial" panose="020B0604020202020204" pitchFamily="34" charset="0"/>
              <a:buNone/>
              <a:defRPr lang="fr-FR" sz="2400" b="1" kern="1200" dirty="0" smtClean="0">
                <a:solidFill>
                  <a:schemeClr val="accent2"/>
                </a:solidFill>
                <a:latin typeface="+mn-lt"/>
                <a:ea typeface="+mn-ea"/>
                <a:cs typeface="+mn-cs"/>
              </a:defRPr>
            </a:lvl1pPr>
          </a:lstStyle>
          <a:p>
            <a:pPr lvl="0"/>
            <a:r>
              <a:rPr lang="fr-FR"/>
              <a:t>Cliquez pour ajouter un sous-titre</a:t>
            </a:r>
          </a:p>
        </p:txBody>
      </p:sp>
      <p:sp>
        <p:nvSpPr>
          <p:cNvPr id="9" name="Espace réservé du numéro de diapositive 8">
            <a:extLst>
              <a:ext uri="{FF2B5EF4-FFF2-40B4-BE49-F238E27FC236}">
                <a16:creationId xmlns:a16="http://schemas.microsoft.com/office/drawing/2014/main" id="{1D311422-F1B9-4C82-8492-06E801EC3E0D}"/>
              </a:ext>
            </a:extLst>
          </p:cNvPr>
          <p:cNvSpPr>
            <a:spLocks noGrp="1"/>
          </p:cNvSpPr>
          <p:nvPr>
            <p:ph type="sldNum" sz="quarter" idx="11"/>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658429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iapositive v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1FA58C-A842-4A18-8889-524D849E6DCA}"/>
              </a:ext>
            </a:extLst>
          </p:cNvPr>
          <p:cNvSpPr/>
          <p:nvPr userDrawn="1"/>
        </p:nvSpPr>
        <p:spPr>
          <a:xfrm>
            <a:off x="9720566" y="0"/>
            <a:ext cx="2471434" cy="94142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3" name="Imag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33427" y="5691039"/>
            <a:ext cx="2258573" cy="1173482"/>
          </a:xfrm>
          <a:prstGeom prst="rect">
            <a:avLst/>
          </a:prstGeom>
        </p:spPr>
      </p:pic>
      <p:pic>
        <p:nvPicPr>
          <p:cNvPr id="4" name="Imag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669447"/>
            <a:ext cx="2034433" cy="1188553"/>
          </a:xfrm>
          <a:prstGeom prst="rect">
            <a:avLst/>
          </a:prstGeom>
        </p:spPr>
      </p:pic>
      <p:sp>
        <p:nvSpPr>
          <p:cNvPr id="5" name="Espace réservé du numéro de diapositive 3">
            <a:extLst>
              <a:ext uri="{FF2B5EF4-FFF2-40B4-BE49-F238E27FC236}">
                <a16:creationId xmlns:a16="http://schemas.microsoft.com/office/drawing/2014/main" id="{F3179141-5192-4264-9F03-AD3FE80ED475}"/>
              </a:ext>
            </a:extLst>
          </p:cNvPr>
          <p:cNvSpPr txBox="1">
            <a:spLocks/>
          </p:cNvSpPr>
          <p:nvPr userDrawn="1"/>
        </p:nvSpPr>
        <p:spPr>
          <a:xfrm>
            <a:off x="4724400" y="6296553"/>
            <a:ext cx="2743200" cy="111447"/>
          </a:xfrm>
          <a:prstGeom prst="rect">
            <a:avLst/>
          </a:prstGeom>
        </p:spPr>
        <p:txBody>
          <a:bodyPr vert="horz" lIns="0" tIns="0" rIns="0" bIns="0" rtlCol="0" anchor="ctr"/>
          <a:lstStyle>
            <a:defPPr>
              <a:defRPr lang="en-US"/>
            </a:defPPr>
            <a:lvl1pPr marL="0" algn="ctr" defTabSz="457200" rtl="0" eaLnBrk="1" latinLnBrk="0" hangingPunct="1">
              <a:defRPr sz="120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11EA75C-EC4C-4D33-ACF8-A8544E993E0B}" type="slidenum">
              <a:rPr lang="fr-CA" smtClean="0"/>
              <a:pPr/>
              <a:t>‹N°›</a:t>
            </a:fld>
            <a:endParaRPr lang="fr-CA"/>
          </a:p>
        </p:txBody>
      </p:sp>
      <p:sp>
        <p:nvSpPr>
          <p:cNvPr id="6" name="Espace réservé du numéro de diapositive 5">
            <a:extLst>
              <a:ext uri="{FF2B5EF4-FFF2-40B4-BE49-F238E27FC236}">
                <a16:creationId xmlns:a16="http://schemas.microsoft.com/office/drawing/2014/main" id="{621DA038-EBAC-4F87-82DD-80E226E6B195}"/>
              </a:ext>
            </a:extLst>
          </p:cNvPr>
          <p:cNvSpPr>
            <a:spLocks noGrp="1"/>
          </p:cNvSpPr>
          <p:nvPr>
            <p:ph type="sldNum" sz="quarter" idx="10"/>
          </p:nvPr>
        </p:nvSpPr>
        <p:spPr/>
        <p:txBody>
          <a:bodyPr/>
          <a:lstStyle/>
          <a:p>
            <a:fld id="{511EA75C-EC4C-4D33-ACF8-A8544E993E0B}" type="slidenum">
              <a:rPr lang="fr-CA" smtClean="0"/>
              <a:pPr/>
              <a:t>‹N°›</a:t>
            </a:fld>
            <a:endParaRPr lang="fr-CA"/>
          </a:p>
        </p:txBody>
      </p:sp>
    </p:spTree>
    <p:extLst>
      <p:ext uri="{BB962C8B-B14F-4D97-AF65-F5344CB8AC3E}">
        <p14:creationId xmlns:p14="http://schemas.microsoft.com/office/powerpoint/2010/main" val="384743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793" y="367096"/>
            <a:ext cx="11274425" cy="449999"/>
          </a:xfrm>
          <a:prstGeom prst="rect">
            <a:avLst/>
          </a:prstGeom>
        </p:spPr>
        <p:txBody>
          <a:bodyPr vert="horz" lIns="0" tIns="0" rIns="0" bIns="0" rtlCol="0" anchor="t">
            <a:normAutofit/>
          </a:bodyPr>
          <a:lstStyle/>
          <a:p>
            <a:r>
              <a:rPr lang="fr-FR"/>
              <a:t>MODIFIEZ LE STYLE DU TITRE</a:t>
            </a:r>
            <a:endParaRPr lang="en-US"/>
          </a:p>
        </p:txBody>
      </p:sp>
      <p:sp>
        <p:nvSpPr>
          <p:cNvPr id="3" name="Text Placeholder 2"/>
          <p:cNvSpPr>
            <a:spLocks noGrp="1"/>
          </p:cNvSpPr>
          <p:nvPr>
            <p:ph type="body" idx="1"/>
          </p:nvPr>
        </p:nvSpPr>
        <p:spPr>
          <a:xfrm>
            <a:off x="455313" y="1522574"/>
            <a:ext cx="11274425" cy="4427090"/>
          </a:xfrm>
          <a:prstGeom prst="rect">
            <a:avLst/>
          </a:prstGeom>
        </p:spPr>
        <p:txBody>
          <a:bodyPr vert="horz" lIns="0" tIns="0" rIns="0" bIns="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numéro de diapositive 3"/>
          <p:cNvSpPr>
            <a:spLocks noGrp="1"/>
          </p:cNvSpPr>
          <p:nvPr>
            <p:ph type="sldNum" sz="quarter" idx="4"/>
          </p:nvPr>
        </p:nvSpPr>
        <p:spPr>
          <a:xfrm>
            <a:off x="4724400" y="6296553"/>
            <a:ext cx="2743200" cy="111447"/>
          </a:xfrm>
          <a:prstGeom prst="rect">
            <a:avLst/>
          </a:prstGeom>
        </p:spPr>
        <p:txBody>
          <a:bodyPr vert="horz" lIns="0" tIns="0" rIns="0" bIns="0" rtlCol="0" anchor="ctr"/>
          <a:lstStyle>
            <a:lvl1pPr algn="ctr">
              <a:defRPr sz="1200" i="0">
                <a:solidFill>
                  <a:schemeClr val="tx1">
                    <a:tint val="75000"/>
                  </a:schemeClr>
                </a:solidFill>
              </a:defRPr>
            </a:lvl1pPr>
          </a:lstStyle>
          <a:p>
            <a:fld id="{511EA75C-EC4C-4D33-ACF8-A8544E993E0B}" type="slidenum">
              <a:rPr lang="fr-CA" smtClean="0"/>
              <a:pPr/>
              <a:t>‹N°›</a:t>
            </a:fld>
            <a:endParaRPr lang="fr-CA"/>
          </a:p>
        </p:txBody>
      </p:sp>
    </p:spTree>
    <p:extLst>
      <p:ext uri="{BB962C8B-B14F-4D97-AF65-F5344CB8AC3E}">
        <p14:creationId xmlns:p14="http://schemas.microsoft.com/office/powerpoint/2010/main" val="2235510819"/>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2" r:id="rId3"/>
    <p:sldLayoutId id="2147483681" r:id="rId4"/>
    <p:sldLayoutId id="2147483674" r:id="rId5"/>
    <p:sldLayoutId id="2147483682" r:id="rId6"/>
    <p:sldLayoutId id="2147483676" r:id="rId7"/>
    <p:sldLayoutId id="2147483683" r:id="rId8"/>
    <p:sldLayoutId id="2147483677" r:id="rId9"/>
  </p:sldLayoutIdLst>
  <p:hf hdr="0" ftr="0" dt="0"/>
  <p:txStyles>
    <p:titleStyle>
      <a:lvl1pPr algn="l" defTabSz="914400" rtl="0" eaLnBrk="1" latinLnBrk="0" hangingPunct="1">
        <a:lnSpc>
          <a:spcPct val="90000"/>
        </a:lnSpc>
        <a:spcBef>
          <a:spcPct val="0"/>
        </a:spcBef>
        <a:buNone/>
        <a:defRPr sz="36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Clr>
          <a:schemeClr val="accent3">
            <a:lumMod val="40000"/>
            <a:lumOff val="60000"/>
          </a:schemeClr>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3">
            <a:lumMod val="40000"/>
            <a:lumOff val="60000"/>
          </a:schemeClr>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3">
            <a:lumMod val="40000"/>
            <a:lumOff val="60000"/>
          </a:schemeClr>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3">
            <a:lumMod val="40000"/>
            <a:lumOff val="60000"/>
          </a:schemeClr>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3">
            <a:lumMod val="40000"/>
            <a:lumOff val="60000"/>
          </a:schemeClr>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xml"/><Relationship Id="rId7" Type="http://schemas.openxmlformats.org/officeDocument/2006/relationships/notesSlide" Target="../notesSlides/notesSlide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Layout" Target="../slideLayouts/slideLayout4.xml"/><Relationship Id="rId5" Type="http://schemas.openxmlformats.org/officeDocument/2006/relationships/tags" Target="../tags/tag8.xml"/><Relationship Id="rId4" Type="http://schemas.openxmlformats.org/officeDocument/2006/relationships/tags" Target="../tags/tag7.xml"/><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tags" Target="../tags/tag16.xml"/><Relationship Id="rId13" Type="http://schemas.microsoft.com/office/2007/relationships/hdphoto" Target="../media/hdphoto1.wdp"/><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9.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notesSlide" Target="../notesSlides/notesSlide3.xml"/><Relationship Id="rId5" Type="http://schemas.openxmlformats.org/officeDocument/2006/relationships/tags" Target="../tags/tag13.xml"/><Relationship Id="rId15" Type="http://schemas.microsoft.com/office/2007/relationships/hdphoto" Target="../media/hdphoto2.wdp"/><Relationship Id="rId10" Type="http://schemas.openxmlformats.org/officeDocument/2006/relationships/slideLayout" Target="../slideLayouts/slideLayout3.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25.xml"/><Relationship Id="rId7"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media/image11.png"/><Relationship Id="rId4" Type="http://schemas.openxmlformats.org/officeDocument/2006/relationships/tags" Target="../tags/tag26.xml"/><Relationship Id="rId9" Type="http://schemas.microsoft.com/office/2018/10/relationships/comments" Target="../comments/modernComment_7FFFF796_C260D606.xml"/></Relationships>
</file>

<file path=ppt/slides/_rels/slide7.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chart" Target="../charts/chart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7.xml"/><Relationship Id="rId5" Type="http://schemas.openxmlformats.org/officeDocument/2006/relationships/slideLayout" Target="../slideLayouts/slideLayout3.xml"/><Relationship Id="rId4" Type="http://schemas.openxmlformats.org/officeDocument/2006/relationships/tags" Target="../tags/tag32.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microsoft.com/office/2007/relationships/hdphoto" Target="../media/hdphoto2.wdp"/><Relationship Id="rId5" Type="http://schemas.openxmlformats.org/officeDocument/2006/relationships/tags" Target="../tags/tag37.xml"/><Relationship Id="rId10" Type="http://schemas.openxmlformats.org/officeDocument/2006/relationships/image" Target="../media/image10.png"/><Relationship Id="rId4" Type="http://schemas.openxmlformats.org/officeDocument/2006/relationships/tags" Target="../tags/tag36.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chart" Target="../charts/chart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tags" Target="../tags/tag43.xml"/></Relationships>
</file>

<file path=ppt/slides/_rels/slide10.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notesSlide" Target="../notesSlides/notesSlide1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Layout" Target="../slideLayouts/slideLayout3.xml"/><Relationship Id="rId5" Type="http://schemas.openxmlformats.org/officeDocument/2006/relationships/tags" Target="../tags/tag48.xml"/><Relationship Id="rId4" Type="http://schemas.openxmlformats.org/officeDocument/2006/relationships/tags" Target="../tags/tag47.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13" Type="http://schemas.openxmlformats.org/officeDocument/2006/relationships/image" Target="../media/image16.png"/><Relationship Id="rId3" Type="http://schemas.openxmlformats.org/officeDocument/2006/relationships/tags" Target="../tags/tag51.xml"/><Relationship Id="rId7" Type="http://schemas.openxmlformats.org/officeDocument/2006/relationships/slideLayout" Target="../slideLayouts/slideLayout5.xml"/><Relationship Id="rId12" Type="http://schemas.openxmlformats.org/officeDocument/2006/relationships/image" Target="../media/image15.sv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image" Target="../media/image14.png"/><Relationship Id="rId5" Type="http://schemas.openxmlformats.org/officeDocument/2006/relationships/tags" Target="../tags/tag53.xml"/><Relationship Id="rId10" Type="http://schemas.openxmlformats.org/officeDocument/2006/relationships/image" Target="../media/image13.svg"/><Relationship Id="rId4" Type="http://schemas.openxmlformats.org/officeDocument/2006/relationships/tags" Target="../tags/tag52.xml"/><Relationship Id="rId9" Type="http://schemas.openxmlformats.org/officeDocument/2006/relationships/image" Target="../media/image12.png"/><Relationship Id="rId14" Type="http://schemas.openxmlformats.org/officeDocument/2006/relationships/image" Target="../media/image17.sv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microsoft.com/office/2007/relationships/hdphoto" Target="../media/hdphoto1.wdp"/><Relationship Id="rId5" Type="http://schemas.openxmlformats.org/officeDocument/2006/relationships/tags" Target="../tags/tag59.xml"/><Relationship Id="rId10" Type="http://schemas.openxmlformats.org/officeDocument/2006/relationships/image" Target="../media/image9.png"/><Relationship Id="rId4" Type="http://schemas.openxmlformats.org/officeDocument/2006/relationships/tags" Target="../tags/tag58.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64.xml"/><Relationship Id="rId7" Type="http://schemas.openxmlformats.org/officeDocument/2006/relationships/slideLayout" Target="../slideLayouts/slideLayout6.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19.svg"/><Relationship Id="rId4" Type="http://schemas.openxmlformats.org/officeDocument/2006/relationships/tags" Target="../tags/tag65.xm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70.xml"/><Relationship Id="rId7" Type="http://schemas.openxmlformats.org/officeDocument/2006/relationships/notesSlide" Target="../notesSlides/notesSlide1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Layout" Target="../slideLayouts/slideLayout6.xml"/><Relationship Id="rId5" Type="http://schemas.openxmlformats.org/officeDocument/2006/relationships/tags" Target="../tags/tag72.xml"/><Relationship Id="rId4" Type="http://schemas.openxmlformats.org/officeDocument/2006/relationships/tags" Target="../tags/tag71.xml"/><Relationship Id="rId9"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15.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13" Type="http://schemas.openxmlformats.org/officeDocument/2006/relationships/image" Target="../media/image24.png"/><Relationship Id="rId3" Type="http://schemas.openxmlformats.org/officeDocument/2006/relationships/tags" Target="../tags/tag78.xml"/><Relationship Id="rId7" Type="http://schemas.openxmlformats.org/officeDocument/2006/relationships/slideLayout" Target="../slideLayouts/slideLayout3.xml"/><Relationship Id="rId12" Type="http://schemas.openxmlformats.org/officeDocument/2006/relationships/image" Target="../media/image23.sv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image" Target="../media/image22.png"/><Relationship Id="rId5" Type="http://schemas.openxmlformats.org/officeDocument/2006/relationships/tags" Target="../tags/tag80.xml"/><Relationship Id="rId10" Type="http://schemas.openxmlformats.org/officeDocument/2006/relationships/image" Target="../media/image21.svg"/><Relationship Id="rId4" Type="http://schemas.openxmlformats.org/officeDocument/2006/relationships/tags" Target="../tags/tag79.xml"/><Relationship Id="rId9" Type="http://schemas.openxmlformats.org/officeDocument/2006/relationships/image" Target="../media/image20.png"/><Relationship Id="rId14" Type="http://schemas.openxmlformats.org/officeDocument/2006/relationships/image" Target="../media/image25.sv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4.xml"/><Relationship Id="rId7" Type="http://schemas.openxmlformats.org/officeDocument/2006/relationships/notesSlide" Target="../notesSlides/notesSlide17.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3.xml"/><Relationship Id="rId11" Type="http://schemas.openxmlformats.org/officeDocument/2006/relationships/image" Target="../media/image29.svg"/><Relationship Id="rId5" Type="http://schemas.openxmlformats.org/officeDocument/2006/relationships/tags" Target="../tags/tag86.xml"/><Relationship Id="rId10" Type="http://schemas.openxmlformats.org/officeDocument/2006/relationships/image" Target="../media/image28.png"/><Relationship Id="rId4" Type="http://schemas.openxmlformats.org/officeDocument/2006/relationships/tags" Target="../tags/tag85.xml"/><Relationship Id="rId9" Type="http://schemas.openxmlformats.org/officeDocument/2006/relationships/image" Target="../media/image27.svg"/></Relationships>
</file>

<file path=ppt/slides/_rels/slide18.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notesSlide" Target="../notesSlides/notesSlide18.xml"/><Relationship Id="rId4"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A80E1B91-EACD-4236-9A4A-B73CBA6FB3E2}"/>
              </a:ext>
            </a:extLst>
          </p:cNvPr>
          <p:cNvSpPr>
            <a:spLocks noGrp="1"/>
          </p:cNvSpPr>
          <p:nvPr>
            <p:ph type="ctrTitle"/>
            <p:custDataLst>
              <p:tags r:id="rId1"/>
            </p:custDataLst>
          </p:nvPr>
        </p:nvSpPr>
        <p:spPr>
          <a:xfrm>
            <a:off x="458788" y="1199536"/>
            <a:ext cx="11274424" cy="2509577"/>
          </a:xfrm>
        </p:spPr>
        <p:txBody>
          <a:bodyPr vert="horz" lIns="0" tIns="0" rIns="0" bIns="0" rtlCol="0" anchor="b">
            <a:noAutofit/>
          </a:bodyPr>
          <a:lstStyle/>
          <a:p>
            <a:r>
              <a:rPr lang="fr-CA" sz="4400"/>
              <a:t>Expérimentation d’un outil </a:t>
            </a:r>
            <a:br>
              <a:rPr lang="fr-CA" sz="4400"/>
            </a:br>
            <a:r>
              <a:rPr lang="fr-CA" sz="4400"/>
              <a:t>d’intelligence artificielle générative</a:t>
            </a:r>
            <a:br>
              <a:rPr lang="fr-CA" sz="4400"/>
            </a:br>
            <a:r>
              <a:rPr lang="fr-CA" sz="1800">
                <a:ea typeface="Calibri"/>
                <a:cs typeface="Calibri"/>
              </a:rPr>
              <a:t> </a:t>
            </a:r>
            <a:br>
              <a:rPr lang="fr-CA" sz="4400"/>
            </a:br>
            <a:r>
              <a:rPr lang="fr-CA" sz="4000">
                <a:ea typeface="Calibri"/>
                <a:cs typeface="Calibri"/>
              </a:rPr>
              <a:t>Leçons apprises</a:t>
            </a:r>
          </a:p>
        </p:txBody>
      </p:sp>
      <p:sp>
        <p:nvSpPr>
          <p:cNvPr id="8" name="Sous-titre 7">
            <a:extLst>
              <a:ext uri="{FF2B5EF4-FFF2-40B4-BE49-F238E27FC236}">
                <a16:creationId xmlns:a16="http://schemas.microsoft.com/office/drawing/2014/main" id="{F307F451-2F38-4FCC-9F0A-FA29B7E5C0E8}"/>
              </a:ext>
            </a:extLst>
          </p:cNvPr>
          <p:cNvSpPr>
            <a:spLocks noGrp="1"/>
          </p:cNvSpPr>
          <p:nvPr>
            <p:ph type="subTitle" idx="1"/>
            <p:custDataLst>
              <p:tags r:id="rId2"/>
            </p:custDataLst>
          </p:nvPr>
        </p:nvSpPr>
        <p:spPr>
          <a:xfrm>
            <a:off x="458785" y="3868060"/>
            <a:ext cx="11274423" cy="1164136"/>
          </a:xfrm>
        </p:spPr>
        <p:txBody>
          <a:bodyPr vert="horz" lIns="0" tIns="0" rIns="0" bIns="0" rtlCol="0" anchor="t">
            <a:noAutofit/>
          </a:bodyPr>
          <a:lstStyle/>
          <a:p>
            <a:endParaRPr lang="fr-CA" sz="2200" b="0"/>
          </a:p>
          <a:p>
            <a:r>
              <a:rPr lang="fr-CA" sz="2000" b="0"/>
              <a:t>Centre québécois d’excellence numérique </a:t>
            </a:r>
            <a:br>
              <a:rPr lang="fr-CA" sz="2000" b="0">
                <a:ea typeface="Calibri"/>
                <a:cs typeface="Calibri"/>
              </a:rPr>
            </a:br>
            <a:r>
              <a:rPr lang="fr-CA" sz="2000" b="0"/>
              <a:t>Ministère de la Cybersécurité et du Numérique</a:t>
            </a:r>
          </a:p>
        </p:txBody>
      </p:sp>
      <p:sp>
        <p:nvSpPr>
          <p:cNvPr id="9" name="Espace réservé du texte 8">
            <a:extLst>
              <a:ext uri="{FF2B5EF4-FFF2-40B4-BE49-F238E27FC236}">
                <a16:creationId xmlns:a16="http://schemas.microsoft.com/office/drawing/2014/main" id="{73942311-F16C-49FC-ACBE-915AA9FA6307}"/>
              </a:ext>
            </a:extLst>
          </p:cNvPr>
          <p:cNvSpPr>
            <a:spLocks noGrp="1"/>
          </p:cNvSpPr>
          <p:nvPr>
            <p:ph type="body" sz="quarter" idx="10"/>
            <p:custDataLst>
              <p:tags r:id="rId3"/>
            </p:custDataLst>
          </p:nvPr>
        </p:nvSpPr>
        <p:spPr>
          <a:xfrm>
            <a:off x="458786" y="5191144"/>
            <a:ext cx="11274423" cy="641634"/>
          </a:xfrm>
        </p:spPr>
        <p:txBody>
          <a:bodyPr/>
          <a:lstStyle/>
          <a:p>
            <a:r>
              <a:rPr lang="fr-CA"/>
              <a:t>Mars 2025</a:t>
            </a:r>
          </a:p>
        </p:txBody>
      </p:sp>
    </p:spTree>
    <p:extLst>
      <p:ext uri="{BB962C8B-B14F-4D97-AF65-F5344CB8AC3E}">
        <p14:creationId xmlns:p14="http://schemas.microsoft.com/office/powerpoint/2010/main" val="3336007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FE8D44-2CFB-26A8-345B-64A693EB8848}"/>
              </a:ext>
            </a:extLst>
          </p:cNvPr>
          <p:cNvSpPr>
            <a:spLocks noGrp="1"/>
          </p:cNvSpPr>
          <p:nvPr>
            <p:ph type="title"/>
            <p:custDataLst>
              <p:tags r:id="rId2"/>
            </p:custDataLst>
          </p:nvPr>
        </p:nvSpPr>
        <p:spPr/>
        <p:txBody>
          <a:bodyPr>
            <a:normAutofit fontScale="90000"/>
          </a:bodyPr>
          <a:lstStyle/>
          <a:p>
            <a:r>
              <a:rPr lang="fr-FR">
                <a:cs typeface="Calibri"/>
              </a:rPr>
              <a:t>Le rythme d’adoption le plus rapide de l’histoire</a:t>
            </a:r>
            <a:endParaRPr lang="fr-FR"/>
          </a:p>
        </p:txBody>
      </p:sp>
      <p:sp>
        <p:nvSpPr>
          <p:cNvPr id="7" name="ZoneTexte 6">
            <a:extLst>
              <a:ext uri="{FF2B5EF4-FFF2-40B4-BE49-F238E27FC236}">
                <a16:creationId xmlns:a16="http://schemas.microsoft.com/office/drawing/2014/main" id="{7247C734-0390-7B88-E57D-0FF8AD256156}"/>
              </a:ext>
            </a:extLst>
          </p:cNvPr>
          <p:cNvSpPr txBox="1"/>
          <p:nvPr>
            <p:custDataLst>
              <p:tags r:id="rId3"/>
            </p:custDataLst>
          </p:nvPr>
        </p:nvSpPr>
        <p:spPr>
          <a:xfrm>
            <a:off x="7589749" y="5873561"/>
            <a:ext cx="4749544"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ltLang="zh-CN" sz="900" noProof="1">
                <a:ea typeface="Calibri"/>
                <a:cs typeface="Calibri"/>
              </a:rPr>
              <a:t>Source : IEA, What the data centre and AI boom could mean for the energy sector, 2024.</a:t>
            </a:r>
            <a:endParaRPr lang="zh-CN" altLang="fr-FR" sz="900" noProof="1">
              <a:ea typeface="Calibri"/>
              <a:cs typeface="Calibri"/>
            </a:endParaRPr>
          </a:p>
        </p:txBody>
      </p:sp>
      <p:sp>
        <p:nvSpPr>
          <p:cNvPr id="6" name="ZoneTexte 5">
            <a:extLst>
              <a:ext uri="{FF2B5EF4-FFF2-40B4-BE49-F238E27FC236}">
                <a16:creationId xmlns:a16="http://schemas.microsoft.com/office/drawing/2014/main" id="{945D5EB6-5544-A9B3-14CE-57F4CC7CCC42}"/>
              </a:ext>
            </a:extLst>
          </p:cNvPr>
          <p:cNvSpPr txBox="1"/>
          <p:nvPr>
            <p:custDataLst>
              <p:tags r:id="rId4"/>
            </p:custDataLst>
          </p:nvPr>
        </p:nvSpPr>
        <p:spPr>
          <a:xfrm>
            <a:off x="8577972" y="1241420"/>
            <a:ext cx="1236160" cy="400110"/>
          </a:xfrm>
          <a:prstGeom prst="rect">
            <a:avLst/>
          </a:prstGeom>
          <a:solidFill>
            <a:schemeClr val="bg1"/>
          </a:solidFill>
        </p:spPr>
        <p:txBody>
          <a:bodyPr wrap="square" rtlCol="0">
            <a:spAutoFit/>
          </a:bodyPr>
          <a:lstStyle/>
          <a:p>
            <a:r>
              <a:rPr lang="fr-CA" sz="2000" b="1"/>
              <a:t> </a:t>
            </a:r>
          </a:p>
        </p:txBody>
      </p:sp>
      <p:pic>
        <p:nvPicPr>
          <p:cNvPr id="3" name="Graphique 3">
            <a:extLst>
              <a:ext uri="{FF2B5EF4-FFF2-40B4-BE49-F238E27FC236}">
                <a16:creationId xmlns:a16="http://schemas.microsoft.com/office/drawing/2014/main" id="{31560908-B8A6-9821-4DD8-4FA9ED9DED83}"/>
              </a:ext>
            </a:extLst>
          </p:cNvPr>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1096553" y="1055221"/>
            <a:ext cx="9998893" cy="4747557"/>
          </a:xfrm>
          <a:prstGeom prst="rect">
            <a:avLst/>
          </a:prstGeom>
        </p:spPr>
      </p:pic>
    </p:spTree>
    <p:custDataLst>
      <p:tags r:id="rId1"/>
    </p:custDataLst>
    <p:extLst>
      <p:ext uri="{BB962C8B-B14F-4D97-AF65-F5344CB8AC3E}">
        <p14:creationId xmlns:p14="http://schemas.microsoft.com/office/powerpoint/2010/main" val="122010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09E115-2E5A-DA66-C30F-09F9912DF056}"/>
              </a:ext>
            </a:extLst>
          </p:cNvPr>
          <p:cNvSpPr>
            <a:spLocks noGrp="1"/>
          </p:cNvSpPr>
          <p:nvPr>
            <p:ph type="title"/>
            <p:custDataLst>
              <p:tags r:id="rId2"/>
            </p:custDataLst>
          </p:nvPr>
        </p:nvSpPr>
        <p:spPr/>
        <p:txBody>
          <a:bodyPr>
            <a:normAutofit fontScale="90000"/>
          </a:bodyPr>
          <a:lstStyle/>
          <a:p>
            <a:r>
              <a:rPr lang="fr-CA"/>
              <a:t>L’IA générative : attendue et de plus en plus accessible</a:t>
            </a:r>
          </a:p>
        </p:txBody>
      </p:sp>
      <p:sp>
        <p:nvSpPr>
          <p:cNvPr id="8" name="ZoneTexte 7">
            <a:extLst>
              <a:ext uri="{FF2B5EF4-FFF2-40B4-BE49-F238E27FC236}">
                <a16:creationId xmlns:a16="http://schemas.microsoft.com/office/drawing/2014/main" id="{35192E95-0C35-8A26-239D-3BB909EADD0B}"/>
              </a:ext>
            </a:extLst>
          </p:cNvPr>
          <p:cNvSpPr txBox="1"/>
          <p:nvPr>
            <p:custDataLst>
              <p:tags r:id="rId3"/>
            </p:custDataLst>
          </p:nvPr>
        </p:nvSpPr>
        <p:spPr>
          <a:xfrm>
            <a:off x="5070768" y="1874796"/>
            <a:ext cx="5321757" cy="1138773"/>
          </a:xfrm>
          <a:prstGeom prst="rect">
            <a:avLst/>
          </a:prstGeom>
          <a:noFill/>
        </p:spPr>
        <p:txBody>
          <a:bodyPr wrap="square" rtlCol="0">
            <a:spAutoFit/>
          </a:bodyPr>
          <a:lstStyle/>
          <a:p>
            <a:r>
              <a:rPr lang="fr-CA"/>
              <a:t>des dirigeants informatiques indiquent que </a:t>
            </a:r>
            <a:br>
              <a:rPr lang="fr-CA"/>
            </a:br>
            <a:r>
              <a:rPr lang="fr-CA" sz="2500" b="1"/>
              <a:t>les employés sont désireux d'essayer de nouveaux outils informatiques</a:t>
            </a:r>
          </a:p>
        </p:txBody>
      </p:sp>
      <p:sp>
        <p:nvSpPr>
          <p:cNvPr id="11" name="ZoneTexte 10">
            <a:extLst>
              <a:ext uri="{FF2B5EF4-FFF2-40B4-BE49-F238E27FC236}">
                <a16:creationId xmlns:a16="http://schemas.microsoft.com/office/drawing/2014/main" id="{D84CFFA7-CBE3-5A8C-3FD2-3EA8527E39DB}"/>
              </a:ext>
            </a:extLst>
          </p:cNvPr>
          <p:cNvSpPr txBox="1"/>
          <p:nvPr>
            <p:custDataLst>
              <p:tags r:id="rId4"/>
            </p:custDataLst>
          </p:nvPr>
        </p:nvSpPr>
        <p:spPr>
          <a:xfrm>
            <a:off x="1345536" y="1714323"/>
            <a:ext cx="3266574" cy="1631216"/>
          </a:xfrm>
          <a:prstGeom prst="rect">
            <a:avLst/>
          </a:prstGeom>
          <a:solidFill>
            <a:srgbClr val="EEF3F9"/>
          </a:solidFill>
        </p:spPr>
        <p:txBody>
          <a:bodyPr wrap="square" rtlCol="0">
            <a:spAutoFit/>
          </a:bodyPr>
          <a:lstStyle/>
          <a:p>
            <a:pPr algn="ctr"/>
            <a:r>
              <a:rPr lang="fr-CA" sz="10000" b="1"/>
              <a:t>98 </a:t>
            </a:r>
            <a:r>
              <a:rPr lang="fr-CA" sz="10000"/>
              <a:t>%</a:t>
            </a:r>
          </a:p>
        </p:txBody>
      </p:sp>
      <p:sp>
        <p:nvSpPr>
          <p:cNvPr id="12" name="ZoneTexte 11">
            <a:extLst>
              <a:ext uri="{FF2B5EF4-FFF2-40B4-BE49-F238E27FC236}">
                <a16:creationId xmlns:a16="http://schemas.microsoft.com/office/drawing/2014/main" id="{FC7BC8D7-1351-2546-E8A6-5E75D024CA5E}"/>
              </a:ext>
            </a:extLst>
          </p:cNvPr>
          <p:cNvSpPr txBox="1"/>
          <p:nvPr>
            <p:custDataLst>
              <p:tags r:id="rId5"/>
            </p:custDataLst>
          </p:nvPr>
        </p:nvSpPr>
        <p:spPr>
          <a:xfrm>
            <a:off x="1345536" y="3578290"/>
            <a:ext cx="3266574" cy="1631216"/>
          </a:xfrm>
          <a:prstGeom prst="rect">
            <a:avLst/>
          </a:prstGeom>
          <a:solidFill>
            <a:srgbClr val="EEF3F9"/>
          </a:solidFill>
        </p:spPr>
        <p:txBody>
          <a:bodyPr wrap="square" rtlCol="0">
            <a:spAutoFit/>
          </a:bodyPr>
          <a:lstStyle/>
          <a:p>
            <a:pPr algn="ctr"/>
            <a:r>
              <a:rPr lang="fr-CA" sz="10000" b="1"/>
              <a:t>80 </a:t>
            </a:r>
            <a:r>
              <a:rPr lang="fr-CA" sz="10000"/>
              <a:t>%</a:t>
            </a:r>
          </a:p>
        </p:txBody>
      </p:sp>
      <p:sp>
        <p:nvSpPr>
          <p:cNvPr id="14" name="ZoneTexte 13">
            <a:extLst>
              <a:ext uri="{FF2B5EF4-FFF2-40B4-BE49-F238E27FC236}">
                <a16:creationId xmlns:a16="http://schemas.microsoft.com/office/drawing/2014/main" id="{4B20A39F-B12E-A44D-7604-AC5ACF21E90D}"/>
              </a:ext>
            </a:extLst>
          </p:cNvPr>
          <p:cNvSpPr txBox="1"/>
          <p:nvPr>
            <p:custDataLst>
              <p:tags r:id="rId6"/>
            </p:custDataLst>
          </p:nvPr>
        </p:nvSpPr>
        <p:spPr>
          <a:xfrm>
            <a:off x="5070768" y="3824511"/>
            <a:ext cx="6789609" cy="1107996"/>
          </a:xfrm>
          <a:prstGeom prst="rect">
            <a:avLst/>
          </a:prstGeom>
          <a:noFill/>
        </p:spPr>
        <p:txBody>
          <a:bodyPr wrap="square">
            <a:spAutoFit/>
          </a:bodyPr>
          <a:lstStyle/>
          <a:p>
            <a:r>
              <a:rPr lang="fr-CA" sz="1800"/>
              <a:t>des fournisseurs de logiciels </a:t>
            </a:r>
          </a:p>
          <a:p>
            <a:r>
              <a:rPr lang="fr-CA" sz="2400" b="1"/>
              <a:t>pourraient avoir intégré d’ici 2026 des capacités d’IA générative dans leurs applications d'entreprise</a:t>
            </a:r>
          </a:p>
        </p:txBody>
      </p:sp>
      <p:pic>
        <p:nvPicPr>
          <p:cNvPr id="16" name="Image 15">
            <a:extLst>
              <a:ext uri="{FF2B5EF4-FFF2-40B4-BE49-F238E27FC236}">
                <a16:creationId xmlns:a16="http://schemas.microsoft.com/office/drawing/2014/main" id="{BF131225-D14F-2549-0A85-AB238BB192CA}"/>
              </a:ext>
            </a:extLst>
          </p:cNvPr>
          <p:cNvPicPr>
            <a:picLocks noChangeAspect="1"/>
          </p:cNvPicPr>
          <p:nvPr>
            <p:custDataLst>
              <p:tags r:id="rId7"/>
            </p:custDataLst>
          </p:nvPr>
        </p:nvPicPr>
        <p:blipFill>
          <a:blip r:embed="rId12">
            <a:duotone>
              <a:schemeClr val="accent5">
                <a:shade val="45000"/>
                <a:satMod val="135000"/>
              </a:schemeClr>
              <a:prstClr val="white"/>
            </a:duotone>
            <a:extLst>
              <a:ext uri="{BEBA8EAE-BF5A-486C-A8C5-ECC9F3942E4B}">
                <a14:imgProps xmlns:a14="http://schemas.microsoft.com/office/drawing/2010/main">
                  <a14:imgLayer r:embed="rId13">
                    <a14:imgEffect>
                      <a14:backgroundRemoval t="10000" b="90000" l="10000" r="90000"/>
                    </a14:imgEffect>
                  </a14:imgLayer>
                </a14:imgProps>
              </a:ext>
            </a:extLst>
          </a:blip>
          <a:stretch>
            <a:fillRect/>
          </a:stretch>
        </p:blipFill>
        <p:spPr>
          <a:xfrm>
            <a:off x="500168" y="1814323"/>
            <a:ext cx="1413659" cy="1259718"/>
          </a:xfrm>
          <a:prstGeom prst="rect">
            <a:avLst/>
          </a:prstGeom>
        </p:spPr>
      </p:pic>
      <p:pic>
        <p:nvPicPr>
          <p:cNvPr id="20" name="Image 19">
            <a:extLst>
              <a:ext uri="{FF2B5EF4-FFF2-40B4-BE49-F238E27FC236}">
                <a16:creationId xmlns:a16="http://schemas.microsoft.com/office/drawing/2014/main" id="{6382C9F0-4DA8-D2A1-6A75-1D78E4068252}"/>
              </a:ext>
            </a:extLst>
          </p:cNvPr>
          <p:cNvPicPr>
            <a:picLocks noChangeAspect="1"/>
          </p:cNvPicPr>
          <p:nvPr>
            <p:custDataLst>
              <p:tags r:id="rId8"/>
            </p:custDataLst>
          </p:nvPr>
        </p:nvPicPr>
        <p:blipFill>
          <a:blip r:embed="rId14">
            <a:duotone>
              <a:srgbClr val="2FB7C2">
                <a:shade val="45000"/>
                <a:satMod val="135000"/>
              </a:srgbClr>
              <a:prstClr val="white"/>
            </a:duotone>
            <a:extLst>
              <a:ext uri="{BEBA8EAE-BF5A-486C-A8C5-ECC9F3942E4B}">
                <a14:imgProps xmlns:a14="http://schemas.microsoft.com/office/drawing/2010/main">
                  <a14:imgLayer r:embed="rId15">
                    <a14:imgEffect>
                      <a14:backgroundRemoval t="9926" b="89926" l="8027" r="89967">
                        <a14:foregroundMark x1="8027" y1="32741" x2="8027" y2="32741"/>
                        <a14:foregroundMark x1="53679" y1="39852" x2="53679" y2="39852"/>
                      </a14:backgroundRemoval>
                    </a14:imgEffect>
                  </a14:imgLayer>
                </a14:imgProps>
              </a:ext>
            </a:extLst>
          </a:blip>
          <a:stretch>
            <a:fillRect/>
          </a:stretch>
        </p:blipFill>
        <p:spPr>
          <a:xfrm>
            <a:off x="625616" y="3828944"/>
            <a:ext cx="1176244" cy="1327700"/>
          </a:xfrm>
          <a:prstGeom prst="rect">
            <a:avLst/>
          </a:prstGeom>
        </p:spPr>
      </p:pic>
      <p:sp>
        <p:nvSpPr>
          <p:cNvPr id="4" name="ZoneTexte 3">
            <a:extLst>
              <a:ext uri="{FF2B5EF4-FFF2-40B4-BE49-F238E27FC236}">
                <a16:creationId xmlns:a16="http://schemas.microsoft.com/office/drawing/2014/main" id="{981DA6D1-A3A2-171D-820E-F55B87AE6A4C}"/>
              </a:ext>
            </a:extLst>
          </p:cNvPr>
          <p:cNvSpPr txBox="1"/>
          <p:nvPr>
            <p:custDataLst>
              <p:tags r:id="rId9"/>
            </p:custDataLst>
          </p:nvPr>
        </p:nvSpPr>
        <p:spPr>
          <a:xfrm>
            <a:off x="9034410" y="5773564"/>
            <a:ext cx="2719014" cy="230832"/>
          </a:xfrm>
          <a:prstGeom prst="rect">
            <a:avLst/>
          </a:prstGeom>
          <a:noFill/>
        </p:spPr>
        <p:txBody>
          <a:bodyPr wrap="none" lIns="91440" tIns="45720" rIns="91440" bIns="45720" rtlCol="0" anchor="t">
            <a:spAutoFit/>
          </a:bodyPr>
          <a:lstStyle/>
          <a:p>
            <a:r>
              <a:rPr lang="fr-CA" sz="900" dirty="0"/>
              <a:t>Source : Gartner, </a:t>
            </a:r>
            <a:r>
              <a:rPr lang="fr-CA" sz="900" dirty="0" err="1"/>
              <a:t>Pacing</a:t>
            </a:r>
            <a:r>
              <a:rPr lang="fr-CA" sz="900" dirty="0"/>
              <a:t> </a:t>
            </a:r>
            <a:r>
              <a:rPr lang="fr-CA" sz="900" dirty="0" err="1"/>
              <a:t>yourself</a:t>
            </a:r>
            <a:r>
              <a:rPr lang="fr-CA" sz="900" dirty="0"/>
              <a:t> in the AI races, 2024.</a:t>
            </a:r>
            <a:endParaRPr lang="fr-CA" sz="900">
              <a:ea typeface="Calibri"/>
              <a:cs typeface="Calibri"/>
            </a:endParaRPr>
          </a:p>
        </p:txBody>
      </p:sp>
    </p:spTree>
    <p:custDataLst>
      <p:tags r:id="rId1"/>
    </p:custDataLst>
    <p:extLst>
      <p:ext uri="{BB962C8B-B14F-4D97-AF65-F5344CB8AC3E}">
        <p14:creationId xmlns:p14="http://schemas.microsoft.com/office/powerpoint/2010/main" val="4240037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89C53-2E24-98FB-91BC-9359DD1E879A}"/>
              </a:ext>
            </a:extLst>
          </p:cNvPr>
          <p:cNvSpPr>
            <a:spLocks noGrp="1"/>
          </p:cNvSpPr>
          <p:nvPr>
            <p:ph type="ctrTitle"/>
            <p:custDataLst>
              <p:tags r:id="rId1"/>
            </p:custDataLst>
          </p:nvPr>
        </p:nvSpPr>
        <p:spPr/>
        <p:txBody>
          <a:bodyPr>
            <a:normAutofit/>
          </a:bodyPr>
          <a:lstStyle/>
          <a:p>
            <a:r>
              <a:rPr lang="fr-CA" sz="4800"/>
              <a:t>Expérimentation d’un outil d’IA générative	</a:t>
            </a:r>
          </a:p>
        </p:txBody>
      </p:sp>
      <p:sp>
        <p:nvSpPr>
          <p:cNvPr id="3" name="Sous-titre 2">
            <a:extLst>
              <a:ext uri="{FF2B5EF4-FFF2-40B4-BE49-F238E27FC236}">
                <a16:creationId xmlns:a16="http://schemas.microsoft.com/office/drawing/2014/main" id="{83D58A2B-3AD3-BD31-6149-902E7084F8D3}"/>
              </a:ext>
            </a:extLst>
          </p:cNvPr>
          <p:cNvSpPr>
            <a:spLocks noGrp="1"/>
          </p:cNvSpPr>
          <p:nvPr>
            <p:ph type="subTitle" idx="1"/>
            <p:custDataLst>
              <p:tags r:id="rId2"/>
            </p:custDataLst>
          </p:nvPr>
        </p:nvSpPr>
        <p:spPr/>
        <p:txBody>
          <a:bodyPr>
            <a:normAutofit/>
          </a:bodyPr>
          <a:lstStyle/>
          <a:p>
            <a:r>
              <a:rPr lang="fr-CA" sz="4400"/>
              <a:t>Phase 1</a:t>
            </a:r>
          </a:p>
        </p:txBody>
      </p:sp>
    </p:spTree>
    <p:extLst>
      <p:ext uri="{BB962C8B-B14F-4D97-AF65-F5344CB8AC3E}">
        <p14:creationId xmlns:p14="http://schemas.microsoft.com/office/powerpoint/2010/main" val="416814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2F0A3-E5A3-905A-52F0-3F0447BAE47A}"/>
              </a:ext>
            </a:extLst>
          </p:cNvPr>
          <p:cNvSpPr>
            <a:spLocks noGrp="1"/>
          </p:cNvSpPr>
          <p:nvPr>
            <p:ph type="title"/>
            <p:custDataLst>
              <p:tags r:id="rId1"/>
            </p:custDataLst>
          </p:nvPr>
        </p:nvSpPr>
        <p:spPr/>
        <p:txBody>
          <a:bodyPr>
            <a:normAutofit fontScale="90000"/>
          </a:bodyPr>
          <a:lstStyle/>
          <a:p>
            <a:r>
              <a:rPr lang="fr-CA"/>
              <a:t>Démarche d’expérimentation de l’IA générative </a:t>
            </a:r>
          </a:p>
        </p:txBody>
      </p:sp>
      <p:sp>
        <p:nvSpPr>
          <p:cNvPr id="3" name="Espace réservé du contenu 2">
            <a:extLst>
              <a:ext uri="{FF2B5EF4-FFF2-40B4-BE49-F238E27FC236}">
                <a16:creationId xmlns:a16="http://schemas.microsoft.com/office/drawing/2014/main" id="{DBF4371E-21A9-D39C-58F6-B93D145DD20D}"/>
              </a:ext>
            </a:extLst>
          </p:cNvPr>
          <p:cNvSpPr>
            <a:spLocks noGrp="1"/>
          </p:cNvSpPr>
          <p:nvPr>
            <p:ph idx="1"/>
            <p:custDataLst>
              <p:tags r:id="rId2"/>
            </p:custDataLst>
          </p:nvPr>
        </p:nvSpPr>
        <p:spPr>
          <a:xfrm>
            <a:off x="458787" y="1159491"/>
            <a:ext cx="11274425" cy="5179930"/>
          </a:xfrm>
        </p:spPr>
        <p:txBody>
          <a:bodyPr vert="horz" lIns="0" tIns="0" rIns="0" bIns="0" rtlCol="0" anchor="t">
            <a:noAutofit/>
          </a:bodyPr>
          <a:lstStyle/>
          <a:p>
            <a:pPr>
              <a:spcBef>
                <a:spcPts val="0"/>
              </a:spcBef>
            </a:pPr>
            <a:r>
              <a:rPr lang="fr-CA" sz="2600" b="1"/>
              <a:t>Objectif</a:t>
            </a:r>
            <a:r>
              <a:rPr lang="fr-CA" sz="2600"/>
              <a:t> </a:t>
            </a:r>
            <a:r>
              <a:rPr lang="fr-CA" sz="2400"/>
              <a:t> </a:t>
            </a:r>
            <a:endParaRPr lang="fr-CA" sz="2400">
              <a:effectLst/>
              <a:latin typeface="Calibri" panose="020F0502020204030204" pitchFamily="34" charset="0"/>
              <a:cs typeface="Calibri"/>
            </a:endParaRPr>
          </a:p>
          <a:p>
            <a:pPr lvl="1">
              <a:spcBef>
                <a:spcPts val="0"/>
              </a:spcBef>
            </a:pPr>
            <a:r>
              <a:rPr lang="fr-CA">
                <a:latin typeface="Calibri"/>
                <a:cs typeface="Calibri"/>
              </a:rPr>
              <a:t>Évaluer</a:t>
            </a:r>
            <a:r>
              <a:rPr lang="fr-CA">
                <a:effectLst/>
                <a:latin typeface="Calibri"/>
                <a:cs typeface="Calibri"/>
              </a:rPr>
              <a:t> l’impact de l’intelligence artificielle générative sur la productivité, la créativité et la qualité du travail des utilisateurs afin de pouvoir émettre des recommandations concernant le déploiement d’un outil d’IA générative dans l’administration publique.</a:t>
            </a:r>
            <a:endParaRPr lang="fr-CA" sz="2400">
              <a:effectLst/>
              <a:latin typeface="Calibri" panose="020F0502020204030204" pitchFamily="34" charset="0"/>
              <a:cs typeface="Calibri"/>
            </a:endParaRPr>
          </a:p>
          <a:p>
            <a:pPr>
              <a:spcBef>
                <a:spcPts val="0"/>
              </a:spcBef>
            </a:pPr>
            <a:r>
              <a:rPr lang="fr-CA" sz="2600" b="1"/>
              <a:t>Méthodologie </a:t>
            </a:r>
            <a:endParaRPr lang="fr-CA" sz="2400" b="1">
              <a:cs typeface="Calibri"/>
            </a:endParaRPr>
          </a:p>
          <a:p>
            <a:pPr lvl="1">
              <a:spcBef>
                <a:spcPts val="0"/>
              </a:spcBef>
              <a:buClr>
                <a:srgbClr val="2D2E83"/>
              </a:buClr>
            </a:pPr>
            <a:r>
              <a:rPr lang="fr-CA"/>
              <a:t>Portée : MCN</a:t>
            </a:r>
            <a:endParaRPr lang="fr-CA">
              <a:cs typeface="Calibri"/>
            </a:endParaRPr>
          </a:p>
          <a:p>
            <a:pPr lvl="1">
              <a:spcBef>
                <a:spcPts val="0"/>
              </a:spcBef>
              <a:buClr>
                <a:srgbClr val="2D2E83"/>
              </a:buClr>
            </a:pPr>
            <a:r>
              <a:rPr lang="fr-CA"/>
              <a:t>Participants : 81 participants </a:t>
            </a:r>
            <a:endParaRPr lang="fr-CA">
              <a:ea typeface="Calibri"/>
              <a:cs typeface="Calibri"/>
            </a:endParaRPr>
          </a:p>
          <a:p>
            <a:pPr lvl="1">
              <a:spcBef>
                <a:spcPts val="0"/>
              </a:spcBef>
              <a:buClr>
                <a:srgbClr val="2D2E83"/>
              </a:buClr>
            </a:pPr>
            <a:r>
              <a:rPr lang="fr-CA"/>
              <a:t>Durée : 3 mois </a:t>
            </a:r>
            <a:endParaRPr lang="fr-CA">
              <a:ea typeface="Calibri" panose="020F0502020204030204"/>
              <a:cs typeface="Calibri"/>
            </a:endParaRPr>
          </a:p>
          <a:p>
            <a:pPr lvl="1">
              <a:spcBef>
                <a:spcPts val="0"/>
              </a:spcBef>
              <a:buClr>
                <a:srgbClr val="2D2E83"/>
              </a:buClr>
            </a:pPr>
            <a:r>
              <a:rPr lang="fr-CA"/>
              <a:t>Technologie ciblée : </a:t>
            </a:r>
            <a:r>
              <a:rPr lang="fr-CA" sz="2400" err="1"/>
              <a:t>Copilot</a:t>
            </a:r>
            <a:r>
              <a:rPr lang="fr-CA" sz="2400"/>
              <a:t> M365</a:t>
            </a:r>
            <a:endParaRPr lang="fr-CA" sz="2400">
              <a:ea typeface="Calibri"/>
              <a:cs typeface="Calibri"/>
            </a:endParaRPr>
          </a:p>
          <a:p>
            <a:pPr lvl="1">
              <a:spcBef>
                <a:spcPts val="0"/>
              </a:spcBef>
              <a:buClr>
                <a:srgbClr val="2D2E83"/>
              </a:buClr>
            </a:pPr>
            <a:r>
              <a:rPr lang="fr-CA"/>
              <a:t>Activités menées :</a:t>
            </a:r>
            <a:endParaRPr lang="fr-CA">
              <a:cs typeface="Calibri"/>
            </a:endParaRPr>
          </a:p>
          <a:p>
            <a:pPr lvl="2">
              <a:spcBef>
                <a:spcPts val="0"/>
              </a:spcBef>
              <a:buFont typeface="Système normal"/>
              <a:buChar char="-"/>
            </a:pPr>
            <a:r>
              <a:rPr lang="fr-CA" sz="2400"/>
              <a:t>Veille et recherche sur les cas d’usage prometteurs et leurs retombées</a:t>
            </a:r>
            <a:endParaRPr lang="fr-CA" sz="2400">
              <a:cs typeface="Calibri"/>
            </a:endParaRPr>
          </a:p>
          <a:p>
            <a:pPr lvl="2">
              <a:spcBef>
                <a:spcPts val="0"/>
              </a:spcBef>
              <a:buFont typeface="Système normal"/>
              <a:buChar char="-"/>
            </a:pPr>
            <a:r>
              <a:rPr lang="fr-CA" sz="2400"/>
              <a:t>Déploiement restreint et encadrement de la technologie (sécurité, EFVP, bureautique, etc.)</a:t>
            </a:r>
            <a:endParaRPr lang="fr-CA" sz="2400">
              <a:ea typeface="Calibri"/>
              <a:cs typeface="Calibri"/>
            </a:endParaRPr>
          </a:p>
          <a:p>
            <a:pPr lvl="2">
              <a:spcBef>
                <a:spcPts val="0"/>
              </a:spcBef>
              <a:buFont typeface="Système normal"/>
              <a:buChar char="-"/>
            </a:pPr>
            <a:r>
              <a:rPr lang="fr-CA" sz="2400"/>
              <a:t>Accompagnement, outils d'autoformation, évaluation par sondage et entrevues</a:t>
            </a:r>
            <a:endParaRPr lang="fr-CA" sz="2400">
              <a:cs typeface="Calibri"/>
            </a:endParaRPr>
          </a:p>
        </p:txBody>
      </p:sp>
      <p:sp>
        <p:nvSpPr>
          <p:cNvPr id="4" name="Espace réservé du numéro de diapositive 3">
            <a:extLst>
              <a:ext uri="{FF2B5EF4-FFF2-40B4-BE49-F238E27FC236}">
                <a16:creationId xmlns:a16="http://schemas.microsoft.com/office/drawing/2014/main" id="{873F7F2B-633C-B0C3-D11C-1D0F86F792CA}"/>
              </a:ext>
            </a:extLst>
          </p:cNvPr>
          <p:cNvSpPr>
            <a:spLocks noGrp="1"/>
          </p:cNvSpPr>
          <p:nvPr>
            <p:ph type="sldNum" sz="quarter" idx="11"/>
            <p:custDataLst>
              <p:tags r:id="rId3"/>
            </p:custDataLst>
          </p:nvPr>
        </p:nvSpPr>
        <p:spPr/>
        <p:txBody>
          <a:bodyPr/>
          <a:lstStyle/>
          <a:p>
            <a:fld id="{511EA75C-EC4C-4D33-ACF8-A8544E993E0B}" type="slidenum">
              <a:rPr lang="fr-CA" smtClean="0"/>
              <a:pPr/>
              <a:t>5</a:t>
            </a:fld>
            <a:endParaRPr lang="fr-CA"/>
          </a:p>
        </p:txBody>
      </p:sp>
    </p:spTree>
    <p:extLst>
      <p:ext uri="{BB962C8B-B14F-4D97-AF65-F5344CB8AC3E}">
        <p14:creationId xmlns:p14="http://schemas.microsoft.com/office/powerpoint/2010/main" val="2231598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2AB6D2-A8E9-A994-CA80-D0F882291507}"/>
              </a:ext>
            </a:extLst>
          </p:cNvPr>
          <p:cNvSpPr>
            <a:spLocks noGrp="1"/>
          </p:cNvSpPr>
          <p:nvPr>
            <p:ph type="title"/>
            <p:custDataLst>
              <p:tags r:id="rId1"/>
            </p:custDataLst>
          </p:nvPr>
        </p:nvSpPr>
        <p:spPr/>
        <p:txBody>
          <a:bodyPr>
            <a:normAutofit fontScale="90000"/>
          </a:bodyPr>
          <a:lstStyle/>
          <a:p>
            <a:r>
              <a:rPr lang="fr-CA"/>
              <a:t>Pourquoi avoir choisi la solution M365 </a:t>
            </a:r>
            <a:r>
              <a:rPr lang="fr-CA" err="1"/>
              <a:t>Copilot</a:t>
            </a:r>
            <a:r>
              <a:rPr lang="fr-CA"/>
              <a:t>?</a:t>
            </a:r>
          </a:p>
        </p:txBody>
      </p:sp>
      <p:sp>
        <p:nvSpPr>
          <p:cNvPr id="4" name="Espace réservé du numéro de diapositive 3">
            <a:extLst>
              <a:ext uri="{FF2B5EF4-FFF2-40B4-BE49-F238E27FC236}">
                <a16:creationId xmlns:a16="http://schemas.microsoft.com/office/drawing/2014/main" id="{C483DFE3-629C-3434-DDBB-030AC26C98A6}"/>
              </a:ext>
            </a:extLst>
          </p:cNvPr>
          <p:cNvSpPr>
            <a:spLocks noGrp="1"/>
          </p:cNvSpPr>
          <p:nvPr>
            <p:ph type="sldNum" sz="quarter" idx="11"/>
            <p:custDataLst>
              <p:tags r:id="rId2"/>
            </p:custDataLst>
          </p:nvPr>
        </p:nvSpPr>
        <p:spPr/>
        <p:txBody>
          <a:bodyPr/>
          <a:lstStyle/>
          <a:p>
            <a:fld id="{511EA75C-EC4C-4D33-ACF8-A8544E993E0B}" type="slidenum">
              <a:rPr lang="fr-CA" smtClean="0"/>
              <a:pPr/>
              <a:t>6</a:t>
            </a:fld>
            <a:endParaRPr lang="fr-CA"/>
          </a:p>
        </p:txBody>
      </p:sp>
      <p:sp>
        <p:nvSpPr>
          <p:cNvPr id="7" name="Espace réservé du contenu 6">
            <a:extLst>
              <a:ext uri="{FF2B5EF4-FFF2-40B4-BE49-F238E27FC236}">
                <a16:creationId xmlns:a16="http://schemas.microsoft.com/office/drawing/2014/main" id="{C77EC1F7-EF90-EF26-B184-1FF5B08EB649}"/>
              </a:ext>
            </a:extLst>
          </p:cNvPr>
          <p:cNvSpPr>
            <a:spLocks noGrp="1"/>
          </p:cNvSpPr>
          <p:nvPr>
            <p:ph idx="1"/>
            <p:custDataLst>
              <p:tags r:id="rId3"/>
            </p:custDataLst>
          </p:nvPr>
        </p:nvSpPr>
        <p:spPr/>
        <p:txBody>
          <a:bodyPr vert="horz" lIns="0" tIns="0" rIns="0" bIns="0" rtlCol="0" anchor="t">
            <a:normAutofit fontScale="92500" lnSpcReduction="10000"/>
          </a:bodyPr>
          <a:lstStyle/>
          <a:p>
            <a:r>
              <a:rPr lang="fr-CA" sz="2800" b="1" kern="100">
                <a:effectLst/>
                <a:latin typeface="Calibri"/>
                <a:ea typeface="Calibri"/>
                <a:cs typeface="Times New Roman"/>
              </a:rPr>
              <a:t>Familiarité</a:t>
            </a:r>
          </a:p>
          <a:p>
            <a:pPr lvl="1"/>
            <a:r>
              <a:rPr lang="fr-CA" kern="100">
                <a:effectLst/>
                <a:latin typeface="Calibri"/>
                <a:ea typeface="Calibri"/>
                <a:cs typeface="Times New Roman"/>
              </a:rPr>
              <a:t>Capacités d’IA intégrées au sein d'outils que les employés utilisent déjà</a:t>
            </a:r>
          </a:p>
          <a:p>
            <a:pPr lvl="1"/>
            <a:r>
              <a:rPr lang="fr-CA" kern="100">
                <a:effectLst/>
                <a:latin typeface="Calibri"/>
                <a:ea typeface="Calibri"/>
                <a:cs typeface="Times New Roman"/>
              </a:rPr>
              <a:t>Minimiser la courbe d'apprentissage pour l'adoption</a:t>
            </a:r>
            <a:r>
              <a:rPr lang="fr-CA" kern="100">
                <a:latin typeface="Calibri"/>
                <a:ea typeface="Calibri"/>
                <a:cs typeface="Times New Roman"/>
              </a:rPr>
              <a:t> de l'outil</a:t>
            </a:r>
            <a:endParaRPr lang="fr-CA" kern="100">
              <a:effectLst/>
              <a:latin typeface="Calibri"/>
              <a:ea typeface="Calibri"/>
              <a:cs typeface="Times New Roman"/>
            </a:endParaRPr>
          </a:p>
          <a:p>
            <a:pPr lvl="1"/>
            <a:r>
              <a:rPr lang="fr-CA" kern="100">
                <a:effectLst/>
                <a:latin typeface="Calibri"/>
                <a:ea typeface="Calibri"/>
                <a:cs typeface="Times New Roman"/>
              </a:rPr>
              <a:t>Améliorer la productivité dans des flux de travail familiers</a:t>
            </a:r>
            <a:br>
              <a:rPr lang="fr-CA" kern="100">
                <a:effectLst/>
                <a:latin typeface="Calibri" panose="020F0502020204030204" pitchFamily="34" charset="0"/>
                <a:ea typeface="Calibri" panose="020F0502020204030204" pitchFamily="34" charset="0"/>
                <a:cs typeface="Times New Roman" panose="02020603050405020304" pitchFamily="18" charset="0"/>
              </a:rPr>
            </a:br>
            <a:endParaRPr lang="fr-CA" kern="100">
              <a:effectLst/>
              <a:latin typeface="Calibri" panose="020F0502020204030204" pitchFamily="34" charset="0"/>
              <a:ea typeface="Calibri" panose="020F0502020204030204" pitchFamily="34" charset="0"/>
              <a:cs typeface="Times New Roman" panose="02020603050405020304" pitchFamily="18" charset="0"/>
            </a:endParaRPr>
          </a:p>
          <a:p>
            <a:r>
              <a:rPr lang="fr-CA" sz="2800" b="1" kern="100">
                <a:effectLst/>
                <a:latin typeface="Calibri"/>
                <a:ea typeface="Calibri"/>
                <a:cs typeface="Times New Roman"/>
              </a:rPr>
              <a:t>Déploiement rapide</a:t>
            </a:r>
          </a:p>
          <a:p>
            <a:pPr lvl="1"/>
            <a:r>
              <a:rPr lang="fr-CA" kern="100">
                <a:effectLst/>
                <a:latin typeface="Calibri"/>
                <a:ea typeface="Calibri"/>
                <a:cs typeface="Times New Roman"/>
              </a:rPr>
              <a:t>Aucun changement significatif de l'infrastructure</a:t>
            </a:r>
          </a:p>
          <a:p>
            <a:pPr lvl="1"/>
            <a:r>
              <a:rPr lang="fr-CA" kern="100">
                <a:effectLst/>
                <a:latin typeface="Calibri"/>
                <a:ea typeface="Calibri"/>
                <a:cs typeface="Times New Roman"/>
              </a:rPr>
              <a:t>Configuration minimale requise</a:t>
            </a:r>
            <a:br>
              <a:rPr lang="fr-CA" sz="2800" kern="100">
                <a:effectLst/>
                <a:latin typeface="Calibri" panose="020F0502020204030204" pitchFamily="34" charset="0"/>
                <a:ea typeface="Calibri" panose="020F0502020204030204" pitchFamily="34" charset="0"/>
                <a:cs typeface="Times New Roman" panose="02020603050405020304" pitchFamily="18" charset="0"/>
              </a:rPr>
            </a:br>
            <a:endParaRPr lang="fr-CA" sz="2800" kern="100">
              <a:effectLst/>
              <a:latin typeface="Calibri" panose="020F0502020204030204" pitchFamily="34" charset="0"/>
              <a:ea typeface="Calibri" panose="020F0502020204030204" pitchFamily="34" charset="0"/>
              <a:cs typeface="Times New Roman" panose="02020603050405020304" pitchFamily="18" charset="0"/>
            </a:endParaRPr>
          </a:p>
          <a:p>
            <a:r>
              <a:rPr lang="fr-CA" sz="2800" b="1" kern="100">
                <a:effectLst/>
                <a:latin typeface="Calibri"/>
                <a:ea typeface="Calibri"/>
                <a:cs typeface="Times New Roman"/>
              </a:rPr>
              <a:t>Sécurité et conformité </a:t>
            </a:r>
          </a:p>
          <a:p>
            <a:pPr lvl="1"/>
            <a:r>
              <a:rPr lang="fr-CA" kern="100">
                <a:effectLst/>
                <a:latin typeface="Calibri"/>
                <a:ea typeface="Calibri"/>
                <a:cs typeface="Times New Roman"/>
              </a:rPr>
              <a:t>Modèle d’IA générative non entraîné sur les données organisationnelles </a:t>
            </a:r>
          </a:p>
          <a:p>
            <a:pPr lvl="1"/>
            <a:r>
              <a:rPr lang="fr-CA" kern="100">
                <a:effectLst/>
                <a:latin typeface="Calibri"/>
                <a:ea typeface="Calibri"/>
                <a:cs typeface="Times New Roman"/>
              </a:rPr>
              <a:t>Conformité </a:t>
            </a:r>
            <a:r>
              <a:rPr lang="fr-CA" kern="100">
                <a:latin typeface="Calibri"/>
                <a:ea typeface="Calibri"/>
                <a:cs typeface="Times New Roman"/>
              </a:rPr>
              <a:t>en</a:t>
            </a:r>
            <a:r>
              <a:rPr lang="fr-CA" kern="100">
                <a:effectLst/>
                <a:latin typeface="Calibri"/>
                <a:ea typeface="Calibri"/>
                <a:cs typeface="Times New Roman"/>
              </a:rPr>
              <a:t> matière de confidentialité et de sécurité</a:t>
            </a:r>
          </a:p>
          <a:p>
            <a:pPr lvl="1"/>
            <a:r>
              <a:rPr lang="fr-CA" kern="100">
                <a:effectLst/>
                <a:latin typeface="Calibri"/>
                <a:ea typeface="Calibri"/>
                <a:cs typeface="Times New Roman"/>
              </a:rPr>
              <a:t>Présence de fonctions intégrées de protection des données et de la vie privée et </a:t>
            </a:r>
            <a:r>
              <a:rPr lang="fr-CA" kern="100">
                <a:latin typeface="Calibri"/>
                <a:ea typeface="Calibri"/>
                <a:cs typeface="Times New Roman"/>
              </a:rPr>
              <a:t>des attaques</a:t>
            </a:r>
            <a:r>
              <a:rPr lang="fr-CA" kern="100">
                <a:effectLst/>
                <a:latin typeface="Calibri"/>
                <a:ea typeface="Calibri"/>
                <a:cs typeface="Times New Roman"/>
              </a:rPr>
              <a:t> contre l’outil d’IA générative</a:t>
            </a:r>
            <a:endParaRPr lang="fr-CA" sz="2800" b="1" kern="100">
              <a:effectLst/>
              <a:latin typeface="Calibri"/>
              <a:ea typeface="Calibri"/>
              <a:cs typeface="Times New Roman"/>
            </a:endParaRPr>
          </a:p>
          <a:p>
            <a:endParaRPr lang="fr-CA" sz="2800" b="1" kern="100">
              <a:effectLst/>
              <a:latin typeface="Calibri" panose="020F0502020204030204" pitchFamily="34" charset="0"/>
              <a:ea typeface="Calibri" panose="020F0502020204030204" pitchFamily="34" charset="0"/>
              <a:cs typeface="Times New Roman" panose="02020603050405020304" pitchFamily="18" charset="0"/>
            </a:endParaRPr>
          </a:p>
          <a:p>
            <a:endParaRPr lang="fr-CA" sz="2800" b="1"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Ellipse 9">
            <a:extLst>
              <a:ext uri="{FF2B5EF4-FFF2-40B4-BE49-F238E27FC236}">
                <a16:creationId xmlns:a16="http://schemas.microsoft.com/office/drawing/2014/main" id="{9C555F82-36AD-E3D9-1B00-7C0EABBB00B1}"/>
              </a:ext>
            </a:extLst>
          </p:cNvPr>
          <p:cNvSpPr>
            <a:spLocks noChangeAspect="1"/>
          </p:cNvSpPr>
          <p:nvPr>
            <p:custDataLst>
              <p:tags r:id="rId4"/>
            </p:custDataLst>
          </p:nvPr>
        </p:nvSpPr>
        <p:spPr>
          <a:xfrm>
            <a:off x="9178186" y="1764101"/>
            <a:ext cx="2665859" cy="2665859"/>
          </a:xfrm>
          <a:prstGeom prst="ellipse">
            <a:avLst/>
          </a:prstGeom>
          <a:solidFill>
            <a:schemeClr val="tx2">
              <a:lumMod val="20000"/>
              <a:lumOff val="8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CA" sz="1600" kern="100">
                <a:solidFill>
                  <a:schemeClr val="tx1"/>
                </a:solidFill>
                <a:effectLst/>
                <a:latin typeface="Calibri"/>
                <a:ea typeface="Calibri"/>
                <a:cs typeface="Times New Roman"/>
              </a:rPr>
              <a:t>Selon Gartner, </a:t>
            </a:r>
            <a:r>
              <a:rPr lang="fr-CA" sz="2800" kern="100">
                <a:solidFill>
                  <a:schemeClr val="tx1"/>
                </a:solidFill>
                <a:effectLst/>
                <a:latin typeface="Calibri"/>
                <a:ea typeface="Calibri"/>
                <a:cs typeface="Times New Roman"/>
              </a:rPr>
              <a:t>60</a:t>
            </a:r>
            <a:r>
              <a:rPr lang="fr-CA" sz="2800" kern="100">
                <a:solidFill>
                  <a:schemeClr val="tx1"/>
                </a:solidFill>
                <a:latin typeface="Calibri"/>
                <a:ea typeface="Calibri"/>
                <a:cs typeface="Times New Roman"/>
              </a:rPr>
              <a:t> </a:t>
            </a:r>
            <a:r>
              <a:rPr lang="fr-CA" sz="2800" kern="100">
                <a:solidFill>
                  <a:schemeClr val="tx1"/>
                </a:solidFill>
                <a:effectLst/>
                <a:latin typeface="Calibri"/>
                <a:ea typeface="Calibri"/>
                <a:cs typeface="Times New Roman"/>
              </a:rPr>
              <a:t>%</a:t>
            </a:r>
            <a:r>
              <a:rPr lang="fr-CA" kern="100">
                <a:solidFill>
                  <a:schemeClr val="tx1"/>
                </a:solidFill>
                <a:effectLst/>
                <a:latin typeface="Calibri"/>
                <a:ea typeface="Calibri"/>
                <a:cs typeface="Times New Roman"/>
              </a:rPr>
              <a:t> </a:t>
            </a:r>
            <a:br>
              <a:rPr lang="fr-CA" kern="100">
                <a:effectLst/>
                <a:latin typeface="Calibri" panose="020F0502020204030204" pitchFamily="34" charset="0"/>
                <a:ea typeface="Calibri" panose="020F0502020204030204" pitchFamily="34" charset="0"/>
                <a:cs typeface="Times New Roman" panose="02020603050405020304" pitchFamily="18" charset="0"/>
              </a:rPr>
            </a:br>
            <a:r>
              <a:rPr lang="fr-CA" sz="1600" kern="100">
                <a:solidFill>
                  <a:schemeClr val="tx1"/>
                </a:solidFill>
                <a:effectLst/>
                <a:latin typeface="Calibri"/>
                <a:ea typeface="Calibri"/>
                <a:cs typeface="Times New Roman"/>
              </a:rPr>
              <a:t>des organisations utiliseront Microsoft pour leurs solutions d’IA générative</a:t>
            </a:r>
            <a:endParaRPr lang="fr-CA">
              <a:solidFill>
                <a:schemeClr val="tx1"/>
              </a:solidFill>
              <a:latin typeface="Calibri"/>
              <a:ea typeface="Calibri"/>
              <a:cs typeface="Times New Roman"/>
            </a:endParaRPr>
          </a:p>
        </p:txBody>
      </p:sp>
      <p:pic>
        <p:nvPicPr>
          <p:cNvPr id="11" name="Picture 6" descr="Microsoft Copilot Logo (chatbot | 01) - PNG Logo Vector Brand Downloads ...">
            <a:extLst>
              <a:ext uri="{FF2B5EF4-FFF2-40B4-BE49-F238E27FC236}">
                <a16:creationId xmlns:a16="http://schemas.microsoft.com/office/drawing/2014/main" id="{5ABCB7B7-D61C-1F1B-4622-05603346BF7E}"/>
              </a:ext>
            </a:extLst>
          </p:cNvPr>
          <p:cNvPicPr>
            <a:picLocks noChangeAspect="1" noChangeArrowheads="1"/>
          </p:cNvPicPr>
          <p:nvPr>
            <p:custDataLst>
              <p:tags r:id="rId5"/>
            </p:custDataLst>
          </p:nvPr>
        </p:nvPicPr>
        <p:blipFill rotWithShape="1">
          <a:blip r:embed="rId10" cstate="print">
            <a:extLst>
              <a:ext uri="{28A0092B-C50C-407E-A947-70E740481C1C}">
                <a14:useLocalDpi xmlns:a14="http://schemas.microsoft.com/office/drawing/2010/main" val="0"/>
              </a:ext>
            </a:extLst>
          </a:blip>
          <a:srcRect t="27260" b="28660"/>
          <a:stretch/>
        </p:blipFill>
        <p:spPr bwMode="auto">
          <a:xfrm>
            <a:off x="8668047" y="326999"/>
            <a:ext cx="1926094" cy="53019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E078C37C-528F-AB76-D2DD-9B857FA1F9DA}"/>
              </a:ext>
            </a:extLst>
          </p:cNvPr>
          <p:cNvSpPr txBox="1"/>
          <p:nvPr>
            <p:custDataLst>
              <p:tags r:id="rId6"/>
            </p:custDataLst>
          </p:nvPr>
        </p:nvSpPr>
        <p:spPr>
          <a:xfrm>
            <a:off x="7764411" y="5832179"/>
            <a:ext cx="4087979" cy="246221"/>
          </a:xfrm>
          <a:prstGeom prst="rect">
            <a:avLst/>
          </a:prstGeom>
          <a:noFill/>
        </p:spPr>
        <p:txBody>
          <a:bodyPr wrap="none" lIns="91440" tIns="45720" rIns="91440" bIns="45720" rtlCol="0" anchor="t">
            <a:spAutoFit/>
          </a:bodyPr>
          <a:lstStyle/>
          <a:p>
            <a:r>
              <a:rPr lang="fr-CA" sz="1000"/>
              <a:t>Source : Gartner,</a:t>
            </a:r>
            <a:r>
              <a:rPr lang="en-US" sz="1000"/>
              <a:t> The Peculiarly Challenging Business Case for </a:t>
            </a:r>
            <a:r>
              <a:rPr lang="en-US" sz="1000" err="1"/>
              <a:t>GenAI</a:t>
            </a:r>
            <a:r>
              <a:rPr lang="en-US" sz="1000"/>
              <a:t>, 2024</a:t>
            </a:r>
            <a:r>
              <a:rPr lang="fr-CA" sz="1000"/>
              <a:t>.</a:t>
            </a:r>
            <a:endParaRPr lang="fr-CA" sz="1000">
              <a:ea typeface="Calibri"/>
              <a:cs typeface="Calibri"/>
            </a:endParaRPr>
          </a:p>
        </p:txBody>
      </p:sp>
    </p:spTree>
    <p:extLst>
      <p:ext uri="{BB962C8B-B14F-4D97-AF65-F5344CB8AC3E}">
        <p14:creationId xmlns:p14="http://schemas.microsoft.com/office/powerpoint/2010/main" val="3261126150"/>
      </p:ext>
    </p:extLst>
  </p:cSld>
  <p:clrMapOvr>
    <a:masterClrMapping/>
  </p:clrMapOvr>
  <p:extLst>
    <p:ext uri="{6950BFC3-D8DA-4A85-94F7-54DA5524770B}">
      <p188:commentRel xmlns:p188="http://schemas.microsoft.com/office/powerpoint/2018/8/main" r:id="rId9"/>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A50E21-B229-3D64-3503-BB0F86255313}"/>
              </a:ext>
            </a:extLst>
          </p:cNvPr>
          <p:cNvSpPr>
            <a:spLocks noGrp="1"/>
          </p:cNvSpPr>
          <p:nvPr>
            <p:ph type="title"/>
            <p:custDataLst>
              <p:tags r:id="rId1"/>
            </p:custDataLst>
          </p:nvPr>
        </p:nvSpPr>
        <p:spPr/>
        <p:txBody>
          <a:bodyPr>
            <a:normAutofit fontScale="90000"/>
          </a:bodyPr>
          <a:lstStyle/>
          <a:p>
            <a:r>
              <a:rPr lang="fr-CA"/>
              <a:t>Constat 1 – Une utilisation somme toute assez limitée</a:t>
            </a:r>
          </a:p>
        </p:txBody>
      </p:sp>
      <p:sp>
        <p:nvSpPr>
          <p:cNvPr id="3" name="Espace réservé du contenu 2">
            <a:extLst>
              <a:ext uri="{FF2B5EF4-FFF2-40B4-BE49-F238E27FC236}">
                <a16:creationId xmlns:a16="http://schemas.microsoft.com/office/drawing/2014/main" id="{8E0AA8EE-1766-C672-90E0-F88E96C8C8FE}"/>
              </a:ext>
            </a:extLst>
          </p:cNvPr>
          <p:cNvSpPr>
            <a:spLocks noGrp="1"/>
          </p:cNvSpPr>
          <p:nvPr>
            <p:ph idx="1"/>
            <p:custDataLst>
              <p:tags r:id="rId2"/>
            </p:custDataLst>
          </p:nvPr>
        </p:nvSpPr>
        <p:spPr/>
        <p:txBody>
          <a:bodyPr vert="horz" lIns="0" tIns="0" rIns="0" bIns="0" rtlCol="0" anchor="t">
            <a:normAutofit/>
          </a:bodyPr>
          <a:lstStyle/>
          <a:p>
            <a:r>
              <a:rPr lang="fr-CA"/>
              <a:t>80 % des détenteurs d’une licence ont utilisé l’outil</a:t>
            </a:r>
          </a:p>
          <a:p>
            <a:r>
              <a:rPr lang="fr-CA"/>
              <a:t>Après 2 mois, </a:t>
            </a:r>
            <a:r>
              <a:rPr lang="fr-CA">
                <a:ea typeface="+mn-lt"/>
                <a:cs typeface="+mn-lt"/>
              </a:rPr>
              <a:t>~</a:t>
            </a:r>
            <a:r>
              <a:rPr lang="fr-CA"/>
              <a:t>30 % l’ont utilisé tous les jours </a:t>
            </a:r>
            <a:br>
              <a:rPr lang="fr-CA"/>
            </a:br>
            <a:r>
              <a:rPr lang="fr-CA"/>
              <a:t>      15 % l’ont utilisé moins d’une fois par semaine ou n'y ont jamais eu recours :</a:t>
            </a:r>
            <a:endParaRPr lang="fr-CA">
              <a:cs typeface="Calibri" panose="020F0502020204030204"/>
            </a:endParaRPr>
          </a:p>
          <a:p>
            <a:endParaRPr lang="fr-CA"/>
          </a:p>
          <a:p>
            <a:endParaRPr lang="fr-CA"/>
          </a:p>
        </p:txBody>
      </p:sp>
      <p:sp>
        <p:nvSpPr>
          <p:cNvPr id="4" name="Espace réservé du numéro de diapositive 3">
            <a:extLst>
              <a:ext uri="{FF2B5EF4-FFF2-40B4-BE49-F238E27FC236}">
                <a16:creationId xmlns:a16="http://schemas.microsoft.com/office/drawing/2014/main" id="{64A11CBE-7B0A-2E43-0371-B317B7A34D03}"/>
              </a:ext>
            </a:extLst>
          </p:cNvPr>
          <p:cNvSpPr>
            <a:spLocks noGrp="1"/>
          </p:cNvSpPr>
          <p:nvPr>
            <p:ph type="sldNum" sz="quarter" idx="11"/>
            <p:custDataLst>
              <p:tags r:id="rId3"/>
            </p:custDataLst>
          </p:nvPr>
        </p:nvSpPr>
        <p:spPr/>
        <p:txBody>
          <a:bodyPr/>
          <a:lstStyle/>
          <a:p>
            <a:fld id="{511EA75C-EC4C-4D33-ACF8-A8544E993E0B}" type="slidenum">
              <a:rPr lang="fr-CA" smtClean="0"/>
              <a:pPr/>
              <a:t>7</a:t>
            </a:fld>
            <a:endParaRPr lang="fr-CA"/>
          </a:p>
        </p:txBody>
      </p:sp>
      <p:graphicFrame>
        <p:nvGraphicFramePr>
          <p:cNvPr id="5" name="Graphique 4">
            <a:extLst>
              <a:ext uri="{FF2B5EF4-FFF2-40B4-BE49-F238E27FC236}">
                <a16:creationId xmlns:a16="http://schemas.microsoft.com/office/drawing/2014/main" id="{DE7B3BAA-A414-CDB3-18A7-E51615B931F0}"/>
              </a:ext>
              <a:ext uri="{147F2762-F138-4A5C-976F-8EAC2B608ADB}">
                <a16:predDERef xmlns:a16="http://schemas.microsoft.com/office/drawing/2014/main" pred="{A7951EDC-754B-32B8-F45C-0901867A3703}"/>
              </a:ext>
            </a:extLst>
          </p:cNvPr>
          <p:cNvGraphicFramePr/>
          <p:nvPr>
            <p:custDataLst>
              <p:tags r:id="rId4"/>
            </p:custDataLst>
            <p:extLst>
              <p:ext uri="{D42A27DB-BD31-4B8C-83A1-F6EECF244321}">
                <p14:modId xmlns:p14="http://schemas.microsoft.com/office/powerpoint/2010/main" val="3080394079"/>
              </p:ext>
            </p:extLst>
          </p:nvPr>
        </p:nvGraphicFramePr>
        <p:xfrm>
          <a:off x="289096" y="2745641"/>
          <a:ext cx="11563708" cy="338783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33255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5FDE0-E173-C81C-A18B-3AD4FAE1044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C9CB00F-A1B3-A17C-35A7-0B31B05B0010}"/>
              </a:ext>
            </a:extLst>
          </p:cNvPr>
          <p:cNvSpPr>
            <a:spLocks noGrp="1"/>
          </p:cNvSpPr>
          <p:nvPr>
            <p:ph type="title"/>
            <p:custDataLst>
              <p:tags r:id="rId2"/>
            </p:custDataLst>
          </p:nvPr>
        </p:nvSpPr>
        <p:spPr/>
        <p:txBody>
          <a:bodyPr>
            <a:normAutofit fontScale="90000"/>
          </a:bodyPr>
          <a:lstStyle/>
          <a:p>
            <a:r>
              <a:rPr lang="fr-CA"/>
              <a:t>L’utilisation de l’IA générative... pas si intuitive finalement</a:t>
            </a:r>
          </a:p>
        </p:txBody>
      </p:sp>
      <p:sp>
        <p:nvSpPr>
          <p:cNvPr id="12" name="ZoneTexte 11">
            <a:extLst>
              <a:ext uri="{FF2B5EF4-FFF2-40B4-BE49-F238E27FC236}">
                <a16:creationId xmlns:a16="http://schemas.microsoft.com/office/drawing/2014/main" id="{03950194-8B51-4956-5034-7ED57D1E1C35}"/>
              </a:ext>
            </a:extLst>
          </p:cNvPr>
          <p:cNvSpPr txBox="1"/>
          <p:nvPr>
            <p:custDataLst>
              <p:tags r:id="rId3"/>
            </p:custDataLst>
          </p:nvPr>
        </p:nvSpPr>
        <p:spPr>
          <a:xfrm>
            <a:off x="1428664" y="1219292"/>
            <a:ext cx="3266574" cy="1631216"/>
          </a:xfrm>
          <a:prstGeom prst="rect">
            <a:avLst/>
          </a:prstGeom>
          <a:solidFill>
            <a:srgbClr val="EEF3F9"/>
          </a:solidFill>
        </p:spPr>
        <p:txBody>
          <a:bodyPr wrap="square" rtlCol="0">
            <a:spAutoFit/>
          </a:bodyPr>
          <a:lstStyle/>
          <a:p>
            <a:pPr algn="ctr"/>
            <a:r>
              <a:rPr lang="fr-CA" sz="10000" b="1"/>
              <a:t>72 </a:t>
            </a:r>
            <a:r>
              <a:rPr lang="fr-CA" sz="10000"/>
              <a:t>%</a:t>
            </a:r>
          </a:p>
        </p:txBody>
      </p:sp>
      <p:sp>
        <p:nvSpPr>
          <p:cNvPr id="14" name="ZoneTexte 13">
            <a:extLst>
              <a:ext uri="{FF2B5EF4-FFF2-40B4-BE49-F238E27FC236}">
                <a16:creationId xmlns:a16="http://schemas.microsoft.com/office/drawing/2014/main" id="{E52B6BEA-DAE3-11C5-847A-5854C77465B7}"/>
              </a:ext>
            </a:extLst>
          </p:cNvPr>
          <p:cNvSpPr txBox="1"/>
          <p:nvPr>
            <p:custDataLst>
              <p:tags r:id="rId4"/>
            </p:custDataLst>
          </p:nvPr>
        </p:nvSpPr>
        <p:spPr>
          <a:xfrm>
            <a:off x="5153896" y="1465513"/>
            <a:ext cx="6789609" cy="1138773"/>
          </a:xfrm>
          <a:prstGeom prst="rect">
            <a:avLst/>
          </a:prstGeom>
          <a:noFill/>
        </p:spPr>
        <p:txBody>
          <a:bodyPr wrap="square">
            <a:spAutoFit/>
          </a:bodyPr>
          <a:lstStyle/>
          <a:p>
            <a:r>
              <a:rPr lang="fr-CA"/>
              <a:t>des dirigeants informatiques déclarent que </a:t>
            </a:r>
            <a:br>
              <a:rPr lang="fr-CA"/>
            </a:br>
            <a:r>
              <a:rPr lang="fr-CA" sz="2500" b="1"/>
              <a:t>les employés ont du mal à intégrer l'intelligence artificielle dans leur travail quotidien</a:t>
            </a:r>
          </a:p>
        </p:txBody>
      </p:sp>
      <p:pic>
        <p:nvPicPr>
          <p:cNvPr id="20" name="Image 19">
            <a:extLst>
              <a:ext uri="{FF2B5EF4-FFF2-40B4-BE49-F238E27FC236}">
                <a16:creationId xmlns:a16="http://schemas.microsoft.com/office/drawing/2014/main" id="{28B1DF34-9C75-5F54-69D6-31A3555ECCD6}"/>
              </a:ext>
            </a:extLst>
          </p:cNvPr>
          <p:cNvPicPr>
            <a:picLocks noChangeAspect="1"/>
          </p:cNvPicPr>
          <p:nvPr>
            <p:custDataLst>
              <p:tags r:id="rId5"/>
            </p:custDataLst>
          </p:nvPr>
        </p:nvPicPr>
        <p:blipFill>
          <a:blip r:embed="rId10">
            <a:duotone>
              <a:srgbClr val="2FB7C2">
                <a:shade val="45000"/>
                <a:satMod val="135000"/>
              </a:srgbClr>
              <a:prstClr val="white"/>
            </a:duotone>
            <a:extLst>
              <a:ext uri="{BEBA8EAE-BF5A-486C-A8C5-ECC9F3942E4B}">
                <a14:imgProps xmlns:a14="http://schemas.microsoft.com/office/drawing/2010/main">
                  <a14:imgLayer r:embed="rId11">
                    <a14:imgEffect>
                      <a14:backgroundRemoval t="9926" b="89926" l="8027" r="89967">
                        <a14:foregroundMark x1="8027" y1="32741" x2="8027" y2="32741"/>
                        <a14:foregroundMark x1="53679" y1="39852" x2="53679" y2="39852"/>
                      </a14:backgroundRemoval>
                    </a14:imgEffect>
                  </a14:imgLayer>
                </a14:imgProps>
              </a:ext>
            </a:extLst>
          </a:blip>
          <a:stretch>
            <a:fillRect/>
          </a:stretch>
        </p:blipFill>
        <p:spPr>
          <a:xfrm>
            <a:off x="820711" y="1617460"/>
            <a:ext cx="938830" cy="1059716"/>
          </a:xfrm>
          <a:prstGeom prst="rect">
            <a:avLst/>
          </a:prstGeom>
        </p:spPr>
      </p:pic>
      <p:sp>
        <p:nvSpPr>
          <p:cNvPr id="4" name="ZoneTexte 3">
            <a:extLst>
              <a:ext uri="{FF2B5EF4-FFF2-40B4-BE49-F238E27FC236}">
                <a16:creationId xmlns:a16="http://schemas.microsoft.com/office/drawing/2014/main" id="{5C8E6344-69D2-6113-7FC2-4C3B14A8BC02}"/>
              </a:ext>
            </a:extLst>
          </p:cNvPr>
          <p:cNvSpPr txBox="1"/>
          <p:nvPr>
            <p:custDataLst>
              <p:tags r:id="rId6"/>
            </p:custDataLst>
          </p:nvPr>
        </p:nvSpPr>
        <p:spPr>
          <a:xfrm>
            <a:off x="46718" y="6584410"/>
            <a:ext cx="3553473" cy="276999"/>
          </a:xfrm>
          <a:prstGeom prst="rect">
            <a:avLst/>
          </a:prstGeom>
          <a:noFill/>
        </p:spPr>
        <p:txBody>
          <a:bodyPr wrap="none" lIns="91440" tIns="45720" rIns="91440" bIns="45720" rtlCol="0" anchor="t">
            <a:spAutoFit/>
          </a:bodyPr>
          <a:lstStyle/>
          <a:p>
            <a:r>
              <a:rPr lang="fr-CA" sz="1200">
                <a:solidFill>
                  <a:schemeClr val="bg1">
                    <a:lumMod val="49000"/>
                  </a:schemeClr>
                </a:solidFill>
              </a:rPr>
              <a:t>Source : Gartner, </a:t>
            </a:r>
            <a:r>
              <a:rPr lang="fr-CA" sz="1200" err="1">
                <a:solidFill>
                  <a:schemeClr val="bg1">
                    <a:lumMod val="49000"/>
                  </a:schemeClr>
                </a:solidFill>
              </a:rPr>
              <a:t>Pacing</a:t>
            </a:r>
            <a:r>
              <a:rPr lang="fr-CA" sz="1200">
                <a:solidFill>
                  <a:schemeClr val="bg1">
                    <a:lumMod val="49000"/>
                  </a:schemeClr>
                </a:solidFill>
              </a:rPr>
              <a:t> </a:t>
            </a:r>
            <a:r>
              <a:rPr lang="fr-CA" sz="1200" err="1">
                <a:solidFill>
                  <a:schemeClr val="bg1">
                    <a:lumMod val="49000"/>
                  </a:schemeClr>
                </a:solidFill>
              </a:rPr>
              <a:t>yourself</a:t>
            </a:r>
            <a:r>
              <a:rPr lang="fr-CA" sz="1200">
                <a:solidFill>
                  <a:schemeClr val="bg1">
                    <a:lumMod val="49000"/>
                  </a:schemeClr>
                </a:solidFill>
              </a:rPr>
              <a:t> in the AI races, 2024.</a:t>
            </a:r>
            <a:endParaRPr lang="fr-CA" sz="1200">
              <a:solidFill>
                <a:schemeClr val="bg1">
                  <a:lumMod val="49000"/>
                </a:schemeClr>
              </a:solidFill>
              <a:cs typeface="Calibri"/>
            </a:endParaRPr>
          </a:p>
        </p:txBody>
      </p:sp>
      <p:sp>
        <p:nvSpPr>
          <p:cNvPr id="3" name="ZoneTexte 2">
            <a:extLst>
              <a:ext uri="{FF2B5EF4-FFF2-40B4-BE49-F238E27FC236}">
                <a16:creationId xmlns:a16="http://schemas.microsoft.com/office/drawing/2014/main" id="{607DD625-BA68-B558-5A6A-0A9E57E7DAEB}"/>
              </a:ext>
            </a:extLst>
          </p:cNvPr>
          <p:cNvSpPr txBox="1"/>
          <p:nvPr>
            <p:custDataLst>
              <p:tags r:id="rId7"/>
            </p:custDataLst>
          </p:nvPr>
        </p:nvSpPr>
        <p:spPr>
          <a:xfrm>
            <a:off x="656714" y="3207273"/>
            <a:ext cx="11361115" cy="2431435"/>
          </a:xfrm>
          <a:prstGeom prst="rect">
            <a:avLst/>
          </a:prstGeom>
          <a:noFill/>
        </p:spPr>
        <p:txBody>
          <a:bodyPr wrap="square" lIns="91440" tIns="45720" rIns="91440" bIns="45720" rtlCol="0" anchor="t">
            <a:spAutoFit/>
          </a:bodyPr>
          <a:lstStyle/>
          <a:p>
            <a:r>
              <a:rPr lang="fr-CA" sz="2400"/>
              <a:t>Selon nos sondages, les principales raisons qui ont pu freiner l’utilisation de l’outil : </a:t>
            </a:r>
          </a:p>
          <a:p>
            <a:endParaRPr lang="fr-CA" sz="2400"/>
          </a:p>
          <a:p>
            <a:r>
              <a:rPr lang="fr-CA" sz="2400"/>
              <a:t>L’utilisateur </a:t>
            </a:r>
            <a:endParaRPr lang="fr-CA" sz="2400">
              <a:ea typeface="Calibri"/>
              <a:cs typeface="Calibri"/>
            </a:endParaRPr>
          </a:p>
          <a:p>
            <a:pPr marL="285750" indent="-285750">
              <a:buFont typeface="Arial" panose="020B0604020202020204" pitchFamily="34" charset="0"/>
              <a:buChar char="•"/>
            </a:pPr>
            <a:r>
              <a:rPr lang="fr-CA" sz="2000"/>
              <a:t>n’a pas d'idée claire sur la manière de s'en servir </a:t>
            </a:r>
            <a:endParaRPr lang="fr-CA" sz="2000">
              <a:ea typeface="Calibri"/>
              <a:cs typeface="Calibri"/>
            </a:endParaRPr>
          </a:p>
          <a:p>
            <a:pPr marL="285750" indent="-285750">
              <a:buFont typeface="Arial" panose="020B0604020202020204" pitchFamily="34" charset="0"/>
              <a:buChar char="•"/>
            </a:pPr>
            <a:r>
              <a:rPr lang="fr-CA" sz="2000"/>
              <a:t>aurait eu besoin d'avoir un temps dédié pour se l'approprier </a:t>
            </a:r>
            <a:endParaRPr lang="fr-CA" sz="2000">
              <a:ea typeface="Calibri"/>
              <a:cs typeface="Calibri"/>
            </a:endParaRPr>
          </a:p>
          <a:p>
            <a:pPr marL="285750" indent="-285750">
              <a:buFont typeface="Arial" panose="020B0604020202020204" pitchFamily="34" charset="0"/>
              <a:buChar char="•"/>
            </a:pPr>
            <a:r>
              <a:rPr lang="fr-CA" sz="2000"/>
              <a:t>n’a pas le réflexe de changer ses habitudes de travail</a:t>
            </a:r>
            <a:endParaRPr lang="fr-CA" sz="2000">
              <a:ea typeface="Calibri"/>
              <a:cs typeface="Calibri"/>
            </a:endParaRPr>
          </a:p>
          <a:p>
            <a:pPr marL="285750" indent="-285750">
              <a:buFont typeface="Arial" panose="020B0604020202020204" pitchFamily="34" charset="0"/>
              <a:buChar char="•"/>
            </a:pPr>
            <a:r>
              <a:rPr lang="fr-CA" sz="2000"/>
              <a:t>a eu une mauvaise première impression et a cessé de l'utiliser</a:t>
            </a:r>
            <a:endParaRPr lang="fr-CA" sz="2000">
              <a:ea typeface="Calibri"/>
              <a:cs typeface="Calibri"/>
            </a:endParaRPr>
          </a:p>
        </p:txBody>
      </p:sp>
    </p:spTree>
    <p:custDataLst>
      <p:tags r:id="rId1"/>
    </p:custDataLst>
    <p:extLst>
      <p:ext uri="{BB962C8B-B14F-4D97-AF65-F5344CB8AC3E}">
        <p14:creationId xmlns:p14="http://schemas.microsoft.com/office/powerpoint/2010/main" val="2636819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383AD3D-1732-1BBA-C1A2-8CAD8ED7B0F2}"/>
              </a:ext>
            </a:extLst>
          </p:cNvPr>
          <p:cNvSpPr>
            <a:spLocks noGrp="1"/>
          </p:cNvSpPr>
          <p:nvPr>
            <p:ph idx="1"/>
            <p:custDataLst>
              <p:tags r:id="rId1"/>
            </p:custDataLst>
          </p:nvPr>
        </p:nvSpPr>
        <p:spPr>
          <a:xfrm>
            <a:off x="455312" y="1388442"/>
            <a:ext cx="11274425" cy="4463764"/>
          </a:xfrm>
        </p:spPr>
        <p:txBody>
          <a:bodyPr vert="horz" lIns="0" tIns="0" rIns="0" bIns="0" rtlCol="0" anchor="t">
            <a:normAutofit/>
          </a:bodyPr>
          <a:lstStyle/>
          <a:p>
            <a:r>
              <a:rPr lang="fr-CA" sz="2000" b="1"/>
              <a:t>L’outil a moins bien performé que </a:t>
            </a:r>
            <a:r>
              <a:rPr lang="fr-CA" sz="2000"/>
              <a:t>les employés dans la réalisation de leurs tâches, et ce, pour tous les aspects évalués</a:t>
            </a:r>
          </a:p>
          <a:p>
            <a:r>
              <a:rPr lang="fr-CA" sz="2000"/>
              <a:t>Des </a:t>
            </a:r>
            <a:r>
              <a:rPr lang="fr-CA" sz="2000" b="1"/>
              <a:t>gains modérés ont été observés </a:t>
            </a:r>
            <a:r>
              <a:rPr lang="fr-CA" sz="2000"/>
              <a:t>en matière de rapidité, de créativité, de qualité des livrables produits avec l'outil, bien que </a:t>
            </a:r>
            <a:r>
              <a:rPr lang="fr-CA" sz="2000" b="1"/>
              <a:t>l’ampleur soit moindre que celle initialement envisagée</a:t>
            </a:r>
            <a:endParaRPr lang="fr-CA" sz="2000">
              <a:cs typeface="Calibri"/>
            </a:endParaRPr>
          </a:p>
          <a:p>
            <a:endParaRPr lang="fr-CA" sz="2000"/>
          </a:p>
          <a:p>
            <a:endParaRPr lang="fr-CA" sz="2000"/>
          </a:p>
        </p:txBody>
      </p:sp>
      <p:sp>
        <p:nvSpPr>
          <p:cNvPr id="2" name="Titre 1">
            <a:extLst>
              <a:ext uri="{FF2B5EF4-FFF2-40B4-BE49-F238E27FC236}">
                <a16:creationId xmlns:a16="http://schemas.microsoft.com/office/drawing/2014/main" id="{F505DD79-1E65-43BD-A3F0-EAEAA01470CA}"/>
              </a:ext>
            </a:extLst>
          </p:cNvPr>
          <p:cNvSpPr>
            <a:spLocks noGrp="1"/>
          </p:cNvSpPr>
          <p:nvPr>
            <p:ph type="title"/>
            <p:custDataLst>
              <p:tags r:id="rId2"/>
            </p:custDataLst>
          </p:nvPr>
        </p:nvSpPr>
        <p:spPr/>
        <p:txBody>
          <a:bodyPr>
            <a:normAutofit fontScale="90000"/>
          </a:bodyPr>
          <a:lstStyle/>
          <a:p>
            <a:r>
              <a:rPr lang="fr-CA"/>
              <a:t>Constat 2 – Évolution de l'appréciation de l’outil : </a:t>
            </a:r>
            <a:br>
              <a:rPr lang="fr-CA"/>
            </a:br>
            <a:r>
              <a:rPr lang="fr-CA"/>
              <a:t>de l’enthousiasme vers plus de réalisme</a:t>
            </a:r>
          </a:p>
        </p:txBody>
      </p:sp>
      <p:sp>
        <p:nvSpPr>
          <p:cNvPr id="4" name="Espace réservé du numéro de diapositive 3">
            <a:extLst>
              <a:ext uri="{FF2B5EF4-FFF2-40B4-BE49-F238E27FC236}">
                <a16:creationId xmlns:a16="http://schemas.microsoft.com/office/drawing/2014/main" id="{0385FC5E-FAB3-98A6-65B2-62A9A23BBD51}"/>
              </a:ext>
            </a:extLst>
          </p:cNvPr>
          <p:cNvSpPr>
            <a:spLocks noGrp="1"/>
          </p:cNvSpPr>
          <p:nvPr>
            <p:ph type="sldNum" sz="quarter" idx="11"/>
            <p:custDataLst>
              <p:tags r:id="rId3"/>
            </p:custDataLst>
          </p:nvPr>
        </p:nvSpPr>
        <p:spPr/>
        <p:txBody>
          <a:bodyPr/>
          <a:lstStyle/>
          <a:p>
            <a:fld id="{511EA75C-EC4C-4D33-ACF8-A8544E993E0B}" type="slidenum">
              <a:rPr lang="fr-CA" smtClean="0"/>
              <a:pPr/>
              <a:t>9</a:t>
            </a:fld>
            <a:endParaRPr lang="fr-CA"/>
          </a:p>
        </p:txBody>
      </p:sp>
      <p:graphicFrame>
        <p:nvGraphicFramePr>
          <p:cNvPr id="8" name="Graphique 7">
            <a:extLst>
              <a:ext uri="{FF2B5EF4-FFF2-40B4-BE49-F238E27FC236}">
                <a16:creationId xmlns:a16="http://schemas.microsoft.com/office/drawing/2014/main" id="{0BD8160C-E7F0-44CB-84C2-FA5C8F689524}"/>
              </a:ext>
            </a:extLst>
          </p:cNvPr>
          <p:cNvGraphicFramePr>
            <a:graphicFrameLocks/>
          </p:cNvGraphicFramePr>
          <p:nvPr>
            <p:custDataLst>
              <p:tags r:id="rId4"/>
            </p:custDataLst>
            <p:extLst>
              <p:ext uri="{D42A27DB-BD31-4B8C-83A1-F6EECF244321}">
                <p14:modId xmlns:p14="http://schemas.microsoft.com/office/powerpoint/2010/main" val="493632024"/>
              </p:ext>
            </p:extLst>
          </p:nvPr>
        </p:nvGraphicFramePr>
        <p:xfrm>
          <a:off x="200025" y="2628900"/>
          <a:ext cx="11791950" cy="3667653"/>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40289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13D6F4-B744-18B9-FB55-6A8D37B56B3C}"/>
              </a:ext>
            </a:extLst>
          </p:cNvPr>
          <p:cNvSpPr>
            <a:spLocks noGrp="1"/>
          </p:cNvSpPr>
          <p:nvPr>
            <p:ph type="title"/>
            <p:custDataLst>
              <p:tags r:id="rId1"/>
            </p:custDataLst>
          </p:nvPr>
        </p:nvSpPr>
        <p:spPr/>
        <p:txBody>
          <a:bodyPr>
            <a:normAutofit fontScale="90000"/>
          </a:bodyPr>
          <a:lstStyle/>
          <a:p>
            <a:r>
              <a:rPr lang="fr-CA"/>
              <a:t>Gérer les attentes</a:t>
            </a:r>
          </a:p>
        </p:txBody>
      </p:sp>
      <p:sp>
        <p:nvSpPr>
          <p:cNvPr id="3" name="Espace réservé du contenu 2">
            <a:extLst>
              <a:ext uri="{FF2B5EF4-FFF2-40B4-BE49-F238E27FC236}">
                <a16:creationId xmlns:a16="http://schemas.microsoft.com/office/drawing/2014/main" id="{EBEE5107-1090-B6A9-6C4D-75649AA56F9B}"/>
              </a:ext>
            </a:extLst>
          </p:cNvPr>
          <p:cNvSpPr>
            <a:spLocks noGrp="1"/>
          </p:cNvSpPr>
          <p:nvPr>
            <p:ph idx="1"/>
            <p:custDataLst>
              <p:tags r:id="rId2"/>
            </p:custDataLst>
          </p:nvPr>
        </p:nvSpPr>
        <p:spPr>
          <a:xfrm>
            <a:off x="455314" y="1116623"/>
            <a:ext cx="8518206" cy="4833041"/>
          </a:xfrm>
        </p:spPr>
        <p:txBody>
          <a:bodyPr vert="horz" lIns="0" tIns="0" rIns="0" bIns="0" rtlCol="0" anchor="t">
            <a:normAutofit/>
          </a:bodyPr>
          <a:lstStyle/>
          <a:p>
            <a:r>
              <a:rPr lang="fr-CA"/>
              <a:t>Outil en évolution</a:t>
            </a:r>
          </a:p>
          <a:p>
            <a:pPr lvl="1"/>
            <a:r>
              <a:rPr lang="fr-CA"/>
              <a:t>Les capacités d’IA générative intégrées dans la suite bureautique M365 ont offert des performances variables et sont toujours en évolution, l’outil étant somme toute jeune</a:t>
            </a:r>
            <a:endParaRPr lang="fr-CA">
              <a:ea typeface="Calibri"/>
              <a:cs typeface="Calibri"/>
            </a:endParaRPr>
          </a:p>
          <a:p>
            <a:r>
              <a:rPr lang="fr-CA"/>
              <a:t>Qualité des réponses variable</a:t>
            </a:r>
            <a:endParaRPr lang="fr-CA">
              <a:ea typeface="Calibri"/>
              <a:cs typeface="Calibri"/>
            </a:endParaRPr>
          </a:p>
          <a:p>
            <a:pPr lvl="1"/>
            <a:r>
              <a:rPr lang="fr-CA"/>
              <a:t>L’outil est intégré et non entraîné sur les données organisationnelles, ce qui peut diminuer la pertinence et la justesse du contenu généré</a:t>
            </a:r>
            <a:endParaRPr lang="fr-CA">
              <a:ea typeface="Calibri"/>
              <a:cs typeface="Calibri"/>
            </a:endParaRPr>
          </a:p>
          <a:p>
            <a:pPr lvl="1"/>
            <a:r>
              <a:rPr lang="fr-CA"/>
              <a:t>L’outil dépend de la qualité de la gestion des données, puisque les réponses sont contextualisées à partir de celles-ci</a:t>
            </a:r>
            <a:endParaRPr lang="fr-CA">
              <a:ea typeface="Calibri"/>
              <a:cs typeface="Calibri"/>
            </a:endParaRPr>
          </a:p>
          <a:p>
            <a:pPr lvl="1"/>
            <a:endParaRPr lang="fr-CA"/>
          </a:p>
        </p:txBody>
      </p:sp>
      <p:sp>
        <p:nvSpPr>
          <p:cNvPr id="4" name="Espace réservé du numéro de diapositive 3">
            <a:extLst>
              <a:ext uri="{FF2B5EF4-FFF2-40B4-BE49-F238E27FC236}">
                <a16:creationId xmlns:a16="http://schemas.microsoft.com/office/drawing/2014/main" id="{4A580C74-0212-5F26-F56C-DC757DC9E38F}"/>
              </a:ext>
            </a:extLst>
          </p:cNvPr>
          <p:cNvSpPr>
            <a:spLocks noGrp="1"/>
          </p:cNvSpPr>
          <p:nvPr>
            <p:ph type="sldNum" sz="quarter" idx="11"/>
            <p:custDataLst>
              <p:tags r:id="rId3"/>
            </p:custDataLst>
          </p:nvPr>
        </p:nvSpPr>
        <p:spPr/>
        <p:txBody>
          <a:bodyPr/>
          <a:lstStyle/>
          <a:p>
            <a:fld id="{511EA75C-EC4C-4D33-ACF8-A8544E993E0B}" type="slidenum">
              <a:rPr lang="fr-CA" smtClean="0"/>
              <a:pPr/>
              <a:t>10</a:t>
            </a:fld>
            <a:endParaRPr lang="fr-CA"/>
          </a:p>
        </p:txBody>
      </p:sp>
      <p:sp>
        <p:nvSpPr>
          <p:cNvPr id="5" name="Ellipse 4">
            <a:extLst>
              <a:ext uri="{FF2B5EF4-FFF2-40B4-BE49-F238E27FC236}">
                <a16:creationId xmlns:a16="http://schemas.microsoft.com/office/drawing/2014/main" id="{A024F9CE-4CE2-5B42-70F9-E512425AB502}"/>
              </a:ext>
            </a:extLst>
          </p:cNvPr>
          <p:cNvSpPr>
            <a:spLocks noChangeAspect="1"/>
          </p:cNvSpPr>
          <p:nvPr>
            <p:custDataLst>
              <p:tags r:id="rId4"/>
            </p:custDataLst>
          </p:nvPr>
        </p:nvSpPr>
        <p:spPr>
          <a:xfrm>
            <a:off x="9178186" y="1764101"/>
            <a:ext cx="2665859" cy="2665859"/>
          </a:xfrm>
          <a:prstGeom prst="ellipse">
            <a:avLst/>
          </a:prstGeom>
          <a:solidFill>
            <a:schemeClr val="tx2">
              <a:lumMod val="20000"/>
              <a:lumOff val="8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CA" sz="1600" kern="100">
                <a:solidFill>
                  <a:schemeClr val="tx1"/>
                </a:solidFill>
                <a:effectLst/>
                <a:latin typeface="Calibri"/>
                <a:ea typeface="Calibri"/>
                <a:cs typeface="Times New Roman"/>
              </a:rPr>
              <a:t>Selon Gartner, </a:t>
            </a:r>
            <a:r>
              <a:rPr lang="fr-CA" sz="2800" kern="100">
                <a:solidFill>
                  <a:schemeClr val="tx1"/>
                </a:solidFill>
                <a:latin typeface="Calibri"/>
                <a:ea typeface="Calibri"/>
                <a:cs typeface="Times New Roman"/>
              </a:rPr>
              <a:t>53 </a:t>
            </a:r>
            <a:r>
              <a:rPr lang="fr-CA" sz="2800" kern="100">
                <a:solidFill>
                  <a:schemeClr val="tx1"/>
                </a:solidFill>
                <a:effectLst/>
                <a:latin typeface="Calibri"/>
                <a:ea typeface="Calibri"/>
                <a:cs typeface="Times New Roman"/>
              </a:rPr>
              <a:t>%</a:t>
            </a:r>
            <a:r>
              <a:rPr lang="fr-CA" kern="100">
                <a:solidFill>
                  <a:schemeClr val="tx1"/>
                </a:solidFill>
                <a:effectLst/>
                <a:latin typeface="Calibri"/>
                <a:ea typeface="Calibri"/>
                <a:cs typeface="Times New Roman"/>
              </a:rPr>
              <a:t> </a:t>
            </a:r>
            <a:br>
              <a:rPr lang="fr-CA" kern="100">
                <a:effectLst/>
                <a:latin typeface="Calibri" panose="020F0502020204030204" pitchFamily="34" charset="0"/>
                <a:ea typeface="Calibri" panose="020F0502020204030204" pitchFamily="34" charset="0"/>
                <a:cs typeface="Times New Roman" panose="02020603050405020304" pitchFamily="18" charset="0"/>
              </a:rPr>
            </a:br>
            <a:r>
              <a:rPr lang="fr-CA" sz="1600" kern="100">
                <a:solidFill>
                  <a:schemeClr val="tx1"/>
                </a:solidFill>
                <a:effectLst/>
                <a:latin typeface="Calibri"/>
                <a:ea typeface="Calibri"/>
                <a:cs typeface="Times New Roman"/>
              </a:rPr>
              <a:t>d’employés consultés indiquent que </a:t>
            </a:r>
            <a:r>
              <a:rPr lang="fr-CA" sz="1600" kern="100" err="1">
                <a:solidFill>
                  <a:schemeClr val="tx1"/>
                </a:solidFill>
                <a:effectLst/>
                <a:latin typeface="Calibri"/>
                <a:ea typeface="Calibri"/>
                <a:cs typeface="Times New Roman"/>
              </a:rPr>
              <a:t>Copilot</a:t>
            </a:r>
            <a:r>
              <a:rPr lang="fr-CA" sz="1600" kern="100">
                <a:solidFill>
                  <a:schemeClr val="tx1"/>
                </a:solidFill>
                <a:effectLst/>
                <a:latin typeface="Calibri"/>
                <a:ea typeface="Calibri"/>
                <a:cs typeface="Times New Roman"/>
              </a:rPr>
              <a:t> génère des résultats inexacts</a:t>
            </a:r>
            <a:endParaRPr lang="fr-CA">
              <a:solidFill>
                <a:schemeClr val="tx1"/>
              </a:solidFill>
              <a:latin typeface="Calibri"/>
              <a:ea typeface="Calibri"/>
              <a:cs typeface="Times New Roman"/>
            </a:endParaRPr>
          </a:p>
        </p:txBody>
      </p:sp>
      <p:sp>
        <p:nvSpPr>
          <p:cNvPr id="6" name="ZoneTexte 5">
            <a:extLst>
              <a:ext uri="{FF2B5EF4-FFF2-40B4-BE49-F238E27FC236}">
                <a16:creationId xmlns:a16="http://schemas.microsoft.com/office/drawing/2014/main" id="{CBBB0F4E-772B-5EC0-DBA1-B916F30D347F}"/>
              </a:ext>
            </a:extLst>
          </p:cNvPr>
          <p:cNvSpPr txBox="1"/>
          <p:nvPr>
            <p:custDataLst>
              <p:tags r:id="rId5"/>
            </p:custDataLst>
          </p:nvPr>
        </p:nvSpPr>
        <p:spPr>
          <a:xfrm>
            <a:off x="7648666" y="5741377"/>
            <a:ext cx="4195379" cy="230832"/>
          </a:xfrm>
          <a:prstGeom prst="rect">
            <a:avLst/>
          </a:prstGeom>
          <a:noFill/>
        </p:spPr>
        <p:txBody>
          <a:bodyPr wrap="none" lIns="91440" tIns="45720" rIns="91440" bIns="45720" rtlCol="0" anchor="t">
            <a:spAutoFit/>
          </a:bodyPr>
          <a:lstStyle/>
          <a:p>
            <a:r>
              <a:rPr lang="fr-CA" sz="900"/>
              <a:t>Source : Gartner,</a:t>
            </a:r>
            <a:r>
              <a:rPr lang="en-US" sz="900"/>
              <a:t> Microsoft 365 Copilot : Assessing the Impact and Value so Far, 2024</a:t>
            </a:r>
            <a:r>
              <a:rPr lang="fr-CA" sz="900"/>
              <a:t>.</a:t>
            </a:r>
            <a:endParaRPr lang="fr-CA" sz="900">
              <a:cs typeface="Calibri"/>
            </a:endParaRPr>
          </a:p>
        </p:txBody>
      </p:sp>
    </p:spTree>
    <p:extLst>
      <p:ext uri="{BB962C8B-B14F-4D97-AF65-F5344CB8AC3E}">
        <p14:creationId xmlns:p14="http://schemas.microsoft.com/office/powerpoint/2010/main" val="100088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AB601C9-26D9-3973-6B6F-F98811D3A1BF}"/>
              </a:ext>
            </a:extLst>
          </p:cNvPr>
          <p:cNvSpPr>
            <a:spLocks noGrp="1"/>
          </p:cNvSpPr>
          <p:nvPr>
            <p:ph sz="half" idx="1"/>
            <p:custDataLst>
              <p:tags r:id="rId1"/>
            </p:custDataLst>
          </p:nvPr>
        </p:nvSpPr>
        <p:spPr>
          <a:xfrm>
            <a:off x="1347193" y="1154105"/>
            <a:ext cx="10360025" cy="4847588"/>
          </a:xfrm>
        </p:spPr>
        <p:txBody>
          <a:bodyPr vert="horz" lIns="0" tIns="0" rIns="0" bIns="0" rtlCol="0" anchor="t">
            <a:normAutofit/>
          </a:bodyPr>
          <a:lstStyle/>
          <a:p>
            <a:r>
              <a:rPr lang="fr-CA" sz="2200" b="1"/>
              <a:t>Les tâches simples, qui ne nécessitent pas d'intégration complexe dans les processus de travail, ont été les plus appréciées </a:t>
            </a:r>
            <a:endParaRPr lang="fr-FR" sz="2200">
              <a:cs typeface="Calibri"/>
            </a:endParaRPr>
          </a:p>
          <a:p>
            <a:pPr lvl="1">
              <a:buClr>
                <a:srgbClr val="B8E6F2"/>
              </a:buClr>
              <a:buFont typeface="Courier New,monospace" panose="020B0604020202020204" pitchFamily="34" charset="0"/>
              <a:buChar char="o"/>
            </a:pPr>
            <a:r>
              <a:rPr lang="fr-CA" sz="2000"/>
              <a:t>Le résumé de réunion de travail, la recherche documentaire dans les environnements Microsoft et la génération de brouillons de courriel ont été les tâches les plus appréciées. </a:t>
            </a:r>
            <a:br>
              <a:rPr lang="fr-CA" sz="2000"/>
            </a:br>
            <a:endParaRPr lang="fr-CA" sz="2000">
              <a:cs typeface="Calibri"/>
            </a:endParaRPr>
          </a:p>
          <a:p>
            <a:r>
              <a:rPr lang="fr-CA" sz="2200" b="1" err="1"/>
              <a:t>Copilot</a:t>
            </a:r>
            <a:r>
              <a:rPr lang="fr-CA" sz="2200" b="1"/>
              <a:t> est une aide à la rédaction intéressante, mais le contenu généré est de qualité inégale</a:t>
            </a:r>
            <a:endParaRPr lang="fr-CA" sz="2200">
              <a:cs typeface="Calibri"/>
            </a:endParaRPr>
          </a:p>
          <a:p>
            <a:pPr lvl="1">
              <a:buClr>
                <a:srgbClr val="B8E6F2"/>
              </a:buClr>
              <a:buFont typeface="Courier New" panose="020B0604020202020204" pitchFamily="34" charset="0"/>
              <a:buChar char="o"/>
            </a:pPr>
            <a:r>
              <a:rPr lang="fr-CA" sz="2000"/>
              <a:t>L'outil a contribué à l'amélioration du style, de la précision et de la qualité linguistique selon les gestionnaires et les participants. </a:t>
            </a:r>
            <a:endParaRPr lang="fr-CA" sz="2000">
              <a:cs typeface="Calibri"/>
            </a:endParaRPr>
          </a:p>
          <a:p>
            <a:pPr lvl="1">
              <a:buClr>
                <a:srgbClr val="B8E6F2"/>
              </a:buClr>
              <a:buFont typeface="Courier New" panose="020B0604020202020204" pitchFamily="34" charset="0"/>
              <a:buChar char="o"/>
            </a:pPr>
            <a:r>
              <a:rPr lang="fr-CA" sz="2000"/>
              <a:t>Cependant, les avis quant à la génération de contenu sont plus mitigés et certains gestionnaires ont noté une baisse de qualité dans les analyses fournies.</a:t>
            </a:r>
            <a:br>
              <a:rPr lang="fr-CA" sz="2000"/>
            </a:br>
            <a:endParaRPr lang="fr-CA" sz="2000">
              <a:cs typeface="Calibri"/>
            </a:endParaRPr>
          </a:p>
          <a:p>
            <a:pPr>
              <a:buClr>
                <a:srgbClr val="B8E6F2"/>
              </a:buClr>
            </a:pPr>
            <a:r>
              <a:rPr lang="fr-CA" sz="2200" b="1" err="1">
                <a:cs typeface="Calibri"/>
              </a:rPr>
              <a:t>Copilot</a:t>
            </a:r>
            <a:r>
              <a:rPr lang="fr-CA" sz="2200" b="1">
                <a:cs typeface="Calibri"/>
              </a:rPr>
              <a:t> peut toutefois être un atout pour un remue-méninges inspirant</a:t>
            </a:r>
            <a:endParaRPr lang="fr-CA" sz="2200">
              <a:cs typeface="Calibri"/>
            </a:endParaRPr>
          </a:p>
          <a:p>
            <a:pPr lvl="1">
              <a:buClr>
                <a:srgbClr val="B8E6F2"/>
              </a:buClr>
              <a:buFont typeface="Courier New,monospace" panose="020B0604020202020204" pitchFamily="34" charset="0"/>
              <a:buChar char="o"/>
            </a:pPr>
            <a:r>
              <a:rPr lang="fr-CA" sz="2000">
                <a:cs typeface="Calibri"/>
              </a:rPr>
              <a:t>La génération de contenu a aidé les employés à être plus créatifs, à surmonter le syndrome de la page blanche, à rebondir sur des angles d’approche auxquels ils n’avaient pas pensé.</a:t>
            </a:r>
            <a:endParaRPr lang="fr-CA"/>
          </a:p>
        </p:txBody>
      </p:sp>
      <p:sp>
        <p:nvSpPr>
          <p:cNvPr id="2" name="Titre 1">
            <a:extLst>
              <a:ext uri="{FF2B5EF4-FFF2-40B4-BE49-F238E27FC236}">
                <a16:creationId xmlns:a16="http://schemas.microsoft.com/office/drawing/2014/main" id="{3E430571-8ECC-105F-F836-C95241196A83}"/>
              </a:ext>
            </a:extLst>
          </p:cNvPr>
          <p:cNvSpPr>
            <a:spLocks noGrp="1"/>
          </p:cNvSpPr>
          <p:nvPr>
            <p:ph type="title"/>
            <p:custDataLst>
              <p:tags r:id="rId2"/>
            </p:custDataLst>
          </p:nvPr>
        </p:nvSpPr>
        <p:spPr>
          <a:xfrm>
            <a:off x="432793" y="367096"/>
            <a:ext cx="11274425" cy="449999"/>
          </a:xfrm>
        </p:spPr>
        <p:txBody>
          <a:bodyPr anchor="t">
            <a:normAutofit/>
          </a:bodyPr>
          <a:lstStyle/>
          <a:p>
            <a:r>
              <a:rPr lang="fr-CA" sz="3100"/>
              <a:t>Constat 3 </a:t>
            </a:r>
            <a:r>
              <a:rPr lang="fr-CA" sz="3200"/>
              <a:t>– </a:t>
            </a:r>
            <a:r>
              <a:rPr lang="fr-CA" sz="3100"/>
              <a:t> Certains usages se sont démarqués plus que d'autres</a:t>
            </a:r>
          </a:p>
        </p:txBody>
      </p:sp>
      <p:sp>
        <p:nvSpPr>
          <p:cNvPr id="4" name="Espace réservé du numéro de diapositive 3">
            <a:extLst>
              <a:ext uri="{FF2B5EF4-FFF2-40B4-BE49-F238E27FC236}">
                <a16:creationId xmlns:a16="http://schemas.microsoft.com/office/drawing/2014/main" id="{79C6ADE5-9073-21F8-32E2-3D6638B13BC2}"/>
              </a:ext>
            </a:extLst>
          </p:cNvPr>
          <p:cNvSpPr>
            <a:spLocks noGrp="1"/>
          </p:cNvSpPr>
          <p:nvPr>
            <p:ph type="sldNum" sz="quarter" idx="11"/>
            <p:custDataLst>
              <p:tags r:id="rId3"/>
            </p:custDataLst>
          </p:nvPr>
        </p:nvSpPr>
        <p:spPr>
          <a:xfrm>
            <a:off x="4724400" y="6296553"/>
            <a:ext cx="2743200" cy="111447"/>
          </a:xfrm>
        </p:spPr>
        <p:txBody>
          <a:bodyPr anchor="ctr">
            <a:normAutofit/>
          </a:bodyPr>
          <a:lstStyle/>
          <a:p>
            <a:pPr>
              <a:lnSpc>
                <a:spcPct val="90000"/>
              </a:lnSpc>
              <a:spcAft>
                <a:spcPts val="600"/>
              </a:spcAft>
            </a:pPr>
            <a:fld id="{511EA75C-EC4C-4D33-ACF8-A8544E993E0B}" type="slidenum">
              <a:rPr lang="fr-CA" sz="800" smtClean="0"/>
              <a:pPr>
                <a:lnSpc>
                  <a:spcPct val="90000"/>
                </a:lnSpc>
                <a:spcAft>
                  <a:spcPts val="600"/>
                </a:spcAft>
              </a:pPr>
              <a:t>11</a:t>
            </a:fld>
            <a:endParaRPr lang="fr-CA" sz="800"/>
          </a:p>
        </p:txBody>
      </p:sp>
      <p:pic>
        <p:nvPicPr>
          <p:cNvPr id="6" name="Graphique 5" descr="Document avec un remplissage uni">
            <a:extLst>
              <a:ext uri="{FF2B5EF4-FFF2-40B4-BE49-F238E27FC236}">
                <a16:creationId xmlns:a16="http://schemas.microsoft.com/office/drawing/2014/main" id="{65825606-9F3F-D8D5-F649-28672CC11BBE}"/>
              </a:ext>
            </a:extLst>
          </p:cNvPr>
          <p:cNvPicPr>
            <a:picLocks noChangeAspect="1"/>
          </p:cNvPicPr>
          <p:nvPr>
            <p:custDataLst>
              <p:tags r:id="rId4"/>
            </p:custDataLst>
          </p:nvPr>
        </p:nvPicPr>
        <p:blipFill>
          <a:blip r:embed="rId9">
            <a:extLst>
              <a:ext uri="{96DAC541-7B7A-43D3-8B79-37D633B846F1}">
                <asvg:svgBlip xmlns:asvg="http://schemas.microsoft.com/office/drawing/2016/SVG/main" r:embed="rId10"/>
              </a:ext>
            </a:extLst>
          </a:blip>
          <a:stretch>
            <a:fillRect/>
          </a:stretch>
        </p:blipFill>
        <p:spPr>
          <a:xfrm>
            <a:off x="432794" y="4941192"/>
            <a:ext cx="914400" cy="914400"/>
          </a:xfrm>
          <a:prstGeom prst="rect">
            <a:avLst/>
          </a:prstGeom>
        </p:spPr>
      </p:pic>
      <p:pic>
        <p:nvPicPr>
          <p:cNvPr id="7" name="Graphique 6" descr="Personne avec une idée avec un remplissage uni">
            <a:extLst>
              <a:ext uri="{FF2B5EF4-FFF2-40B4-BE49-F238E27FC236}">
                <a16:creationId xmlns:a16="http://schemas.microsoft.com/office/drawing/2014/main" id="{279E6EC7-E69B-24EA-2F6C-DAE197AE41F6}"/>
              </a:ext>
            </a:extLst>
          </p:cNvPr>
          <p:cNvPicPr>
            <a:picLocks noChangeAspect="1"/>
          </p:cNvPicPr>
          <p:nvPr>
            <p:custDataLst>
              <p:tags r:id="rId5"/>
            </p:custDataLst>
          </p:nvPr>
        </p:nvPicPr>
        <p:blipFill>
          <a:blip r:embed="rId11">
            <a:extLst>
              <a:ext uri="{96DAC541-7B7A-43D3-8B79-37D633B846F1}">
                <asvg:svgBlip xmlns:asvg="http://schemas.microsoft.com/office/drawing/2016/SVG/main" r:embed="rId12"/>
              </a:ext>
            </a:extLst>
          </a:blip>
          <a:stretch>
            <a:fillRect/>
          </a:stretch>
        </p:blipFill>
        <p:spPr>
          <a:xfrm>
            <a:off x="391227" y="2742852"/>
            <a:ext cx="914400" cy="914400"/>
          </a:xfrm>
          <a:prstGeom prst="rect">
            <a:avLst/>
          </a:prstGeom>
        </p:spPr>
      </p:pic>
      <p:pic>
        <p:nvPicPr>
          <p:cNvPr id="10" name="Graphique 9" descr="Recherche de dossiers avec un remplissage uni">
            <a:extLst>
              <a:ext uri="{FF2B5EF4-FFF2-40B4-BE49-F238E27FC236}">
                <a16:creationId xmlns:a16="http://schemas.microsoft.com/office/drawing/2014/main" id="{4878A88D-E3BE-05C4-C212-66BE483091C1}"/>
              </a:ext>
            </a:extLst>
          </p:cNvPr>
          <p:cNvPicPr>
            <a:picLocks noChangeAspect="1"/>
          </p:cNvPicPr>
          <p:nvPr>
            <p:custDataLst>
              <p:tags r:id="rId6"/>
            </p:custDataLst>
          </p:nvPr>
        </p:nvPicPr>
        <p:blipFill>
          <a:blip r:embed="rId13">
            <a:extLst>
              <a:ext uri="{96DAC541-7B7A-43D3-8B79-37D633B846F1}">
                <asvg:svgBlip xmlns:asvg="http://schemas.microsoft.com/office/drawing/2016/SVG/main" r:embed="rId14"/>
              </a:ext>
            </a:extLst>
          </a:blip>
          <a:stretch>
            <a:fillRect/>
          </a:stretch>
        </p:blipFill>
        <p:spPr>
          <a:xfrm>
            <a:off x="432794" y="1002409"/>
            <a:ext cx="914400" cy="914400"/>
          </a:xfrm>
          <a:prstGeom prst="rect">
            <a:avLst/>
          </a:prstGeom>
        </p:spPr>
      </p:pic>
    </p:spTree>
    <p:extLst>
      <p:ext uri="{BB962C8B-B14F-4D97-AF65-F5344CB8AC3E}">
        <p14:creationId xmlns:p14="http://schemas.microsoft.com/office/powerpoint/2010/main" val="2755394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853F35B-4922-E43D-562D-AAA21221F8BB}"/>
              </a:ext>
            </a:extLst>
          </p:cNvPr>
          <p:cNvSpPr>
            <a:spLocks noGrp="1"/>
          </p:cNvSpPr>
          <p:nvPr>
            <p:ph sz="half" idx="1"/>
            <p:custDataLst>
              <p:tags r:id="rId1"/>
            </p:custDataLst>
          </p:nvPr>
        </p:nvSpPr>
        <p:spPr>
          <a:xfrm>
            <a:off x="1344888" y="3429985"/>
            <a:ext cx="10295522" cy="2295309"/>
          </a:xfrm>
        </p:spPr>
        <p:txBody>
          <a:bodyPr vert="horz" lIns="0" tIns="0" rIns="0" bIns="0" rtlCol="0" anchor="t">
            <a:normAutofit fontScale="85000" lnSpcReduction="20000"/>
          </a:bodyPr>
          <a:lstStyle/>
          <a:p>
            <a:r>
              <a:rPr lang="fr-FR" sz="2400" b="1">
                <a:ea typeface="Calibri"/>
                <a:cs typeface="Calibri"/>
              </a:rPr>
              <a:t>Littératie numérique :</a:t>
            </a:r>
            <a:r>
              <a:rPr lang="fr-FR" sz="2400">
                <a:ea typeface="Calibri"/>
                <a:cs typeface="Calibri"/>
              </a:rPr>
              <a:t> comprendre les bases du fonctionnement de l’IA générative, ses limites et son potentiel</a:t>
            </a:r>
          </a:p>
          <a:p>
            <a:pPr>
              <a:buClr>
                <a:srgbClr val="B8E6F2"/>
              </a:buClr>
            </a:pPr>
            <a:r>
              <a:rPr lang="fr-FR" sz="2400" b="1">
                <a:ea typeface="Calibri"/>
                <a:cs typeface="Calibri"/>
              </a:rPr>
              <a:t>Création de contenu numérique : </a:t>
            </a:r>
            <a:r>
              <a:rPr lang="fr-FR" sz="2400">
                <a:ea typeface="Calibri"/>
                <a:cs typeface="Calibri"/>
              </a:rPr>
              <a:t>formuler des requêtes pertinentes, capacité à structurer des demandes de manière claire et stratégique</a:t>
            </a:r>
          </a:p>
          <a:p>
            <a:pPr>
              <a:buClr>
                <a:srgbClr val="B8E6F2"/>
              </a:buClr>
            </a:pPr>
            <a:r>
              <a:rPr lang="fr-FR" sz="2400" b="1">
                <a:ea typeface="Calibri"/>
                <a:cs typeface="Calibri"/>
              </a:rPr>
              <a:t>Pensée critique : </a:t>
            </a:r>
            <a:r>
              <a:rPr lang="fr-FR" sz="2400">
                <a:ea typeface="Calibri"/>
                <a:cs typeface="Calibri"/>
              </a:rPr>
              <a:t>valider les contenus générés et évaluer leur pertinence dans le contexte</a:t>
            </a:r>
          </a:p>
          <a:p>
            <a:pPr>
              <a:buClr>
                <a:srgbClr val="B8E6F2"/>
              </a:buClr>
            </a:pPr>
            <a:r>
              <a:rPr lang="fr-FR" sz="2400" b="1">
                <a:ea typeface="Calibri"/>
                <a:cs typeface="Calibri"/>
              </a:rPr>
              <a:t>Gestion des données :</a:t>
            </a:r>
            <a:r>
              <a:rPr lang="fr-FR" sz="2400">
                <a:ea typeface="Calibri"/>
                <a:cs typeface="Calibri"/>
              </a:rPr>
              <a:t> savoir manipuler, organiser et protéger ses données</a:t>
            </a:r>
          </a:p>
          <a:p>
            <a:pPr>
              <a:buClr>
                <a:srgbClr val="B8E6F2"/>
              </a:buClr>
            </a:pPr>
            <a:r>
              <a:rPr lang="fr-FR" sz="2400" b="1">
                <a:ea typeface="Calibri"/>
                <a:cs typeface="Calibri"/>
              </a:rPr>
              <a:t>Flexibilité cognitive :</a:t>
            </a:r>
            <a:r>
              <a:rPr lang="fr-FR" sz="2400">
                <a:ea typeface="Calibri"/>
                <a:cs typeface="Calibri"/>
              </a:rPr>
              <a:t> s’adapter rapidement à de nouveaux outils et modifier ses habitudes de travail </a:t>
            </a:r>
          </a:p>
        </p:txBody>
      </p:sp>
      <p:sp>
        <p:nvSpPr>
          <p:cNvPr id="5" name="Titre 4">
            <a:extLst>
              <a:ext uri="{FF2B5EF4-FFF2-40B4-BE49-F238E27FC236}">
                <a16:creationId xmlns:a16="http://schemas.microsoft.com/office/drawing/2014/main" id="{9C444F72-3D9C-E8CC-D7A4-C22CB4BBEA15}"/>
              </a:ext>
            </a:extLst>
          </p:cNvPr>
          <p:cNvSpPr>
            <a:spLocks noGrp="1"/>
          </p:cNvSpPr>
          <p:nvPr>
            <p:ph type="title"/>
            <p:custDataLst>
              <p:tags r:id="rId2"/>
            </p:custDataLst>
          </p:nvPr>
        </p:nvSpPr>
        <p:spPr>
          <a:xfrm>
            <a:off x="461730" y="347805"/>
            <a:ext cx="8872679" cy="449999"/>
          </a:xfrm>
        </p:spPr>
        <p:txBody>
          <a:bodyPr>
            <a:normAutofit fontScale="90000"/>
          </a:bodyPr>
          <a:lstStyle/>
          <a:p>
            <a:r>
              <a:rPr lang="fr-FR">
                <a:ea typeface="+mn-lt"/>
                <a:cs typeface="+mn-lt"/>
              </a:rPr>
              <a:t>Les compétences numériques : levier essentiel pour l’adoption de l’IA générative</a:t>
            </a:r>
            <a:endParaRPr lang="fr-FR">
              <a:ea typeface="Calibri"/>
              <a:cs typeface="Calibri"/>
            </a:endParaRPr>
          </a:p>
        </p:txBody>
      </p:sp>
      <p:sp>
        <p:nvSpPr>
          <p:cNvPr id="6" name="Espace réservé du numéro de diapositive 5">
            <a:extLst>
              <a:ext uri="{FF2B5EF4-FFF2-40B4-BE49-F238E27FC236}">
                <a16:creationId xmlns:a16="http://schemas.microsoft.com/office/drawing/2014/main" id="{A21736ED-6F81-F30F-24B6-89CEED6F0F15}"/>
              </a:ext>
            </a:extLst>
          </p:cNvPr>
          <p:cNvSpPr>
            <a:spLocks noGrp="1"/>
          </p:cNvSpPr>
          <p:nvPr>
            <p:ph type="sldNum" sz="quarter" idx="11"/>
            <p:custDataLst>
              <p:tags r:id="rId3"/>
            </p:custDataLst>
          </p:nvPr>
        </p:nvSpPr>
        <p:spPr/>
        <p:txBody>
          <a:bodyPr/>
          <a:lstStyle/>
          <a:p>
            <a:fld id="{511EA75C-EC4C-4D33-ACF8-A8544E993E0B}" type="slidenum">
              <a:rPr lang="fr-CA" smtClean="0"/>
              <a:pPr/>
              <a:t>12</a:t>
            </a:fld>
            <a:endParaRPr lang="fr-CA"/>
          </a:p>
        </p:txBody>
      </p:sp>
      <p:sp>
        <p:nvSpPr>
          <p:cNvPr id="4" name="ZoneTexte 3">
            <a:extLst>
              <a:ext uri="{FF2B5EF4-FFF2-40B4-BE49-F238E27FC236}">
                <a16:creationId xmlns:a16="http://schemas.microsoft.com/office/drawing/2014/main" id="{BA940F36-087F-27B9-CF5C-6333B5DDACFA}"/>
              </a:ext>
            </a:extLst>
          </p:cNvPr>
          <p:cNvSpPr txBox="1"/>
          <p:nvPr>
            <p:custDataLst>
              <p:tags r:id="rId4"/>
            </p:custDataLst>
          </p:nvPr>
        </p:nvSpPr>
        <p:spPr>
          <a:xfrm>
            <a:off x="1345536" y="1565033"/>
            <a:ext cx="10375358" cy="1631216"/>
          </a:xfrm>
          <a:prstGeom prst="rect">
            <a:avLst/>
          </a:prstGeom>
          <a:solidFill>
            <a:srgbClr val="EEF3F9"/>
          </a:solidFill>
        </p:spPr>
        <p:txBody>
          <a:bodyPr wrap="square" lIns="91440" tIns="45720" rIns="91440" bIns="45720" rtlCol="0" anchor="t">
            <a:spAutoFit/>
          </a:bodyPr>
          <a:lstStyle/>
          <a:p>
            <a:r>
              <a:rPr lang="fr-CA" sz="2500" b="1"/>
              <a:t>Le</a:t>
            </a:r>
            <a:r>
              <a:rPr lang="fr-CA" sz="2500" b="1">
                <a:ea typeface="+mn-lt"/>
                <a:cs typeface="+mn-lt"/>
              </a:rPr>
              <a:t> principal obstacle à l’adoption de l’IA relevé par les entreprises canadiennes est la difficulté à trouver une main-d’œuvre possédant les compétences et l’expertise nécessaires pour soutenir l’intégration de cette technologie dans les opérations.</a:t>
            </a:r>
            <a:endParaRPr lang="fr-CA" sz="2500" b="1">
              <a:ea typeface="Calibri" panose="020F0502020204030204"/>
              <a:cs typeface="Calibri" panose="020F0502020204030204"/>
            </a:endParaRPr>
          </a:p>
        </p:txBody>
      </p:sp>
      <p:pic>
        <p:nvPicPr>
          <p:cNvPr id="8" name="Image 7">
            <a:extLst>
              <a:ext uri="{FF2B5EF4-FFF2-40B4-BE49-F238E27FC236}">
                <a16:creationId xmlns:a16="http://schemas.microsoft.com/office/drawing/2014/main" id="{1DC7BF93-4AEC-3B05-E5E4-EDDC7CD9F0D4}"/>
              </a:ext>
            </a:extLst>
          </p:cNvPr>
          <p:cNvPicPr>
            <a:picLocks noChangeAspect="1"/>
          </p:cNvPicPr>
          <p:nvPr>
            <p:custDataLst>
              <p:tags r:id="rId5"/>
            </p:custDataLst>
          </p:nvPr>
        </p:nvPicPr>
        <p:blipFill>
          <a:blip r:embed="rId10">
            <a:duotone>
              <a:schemeClr val="accent5">
                <a:shade val="45000"/>
                <a:satMod val="135000"/>
              </a:schemeClr>
              <a:prstClr val="white"/>
            </a:duotone>
            <a:extLst>
              <a:ext uri="{BEBA8EAE-BF5A-486C-A8C5-ECC9F3942E4B}">
                <a14:imgProps xmlns:a14="http://schemas.microsoft.com/office/drawing/2010/main">
                  <a14:imgLayer r:embed="rId11">
                    <a14:imgEffect>
                      <a14:backgroundRemoval t="10000" b="90000" l="10000" r="90000"/>
                    </a14:imgEffect>
                  </a14:imgLayer>
                </a14:imgProps>
              </a:ext>
            </a:extLst>
          </a:blip>
          <a:stretch>
            <a:fillRect/>
          </a:stretch>
        </p:blipFill>
        <p:spPr>
          <a:xfrm>
            <a:off x="459809" y="1716807"/>
            <a:ext cx="1189216" cy="1059716"/>
          </a:xfrm>
          <a:prstGeom prst="rect">
            <a:avLst/>
          </a:prstGeom>
        </p:spPr>
      </p:pic>
      <p:sp>
        <p:nvSpPr>
          <p:cNvPr id="11" name="ZoneTexte 10">
            <a:extLst>
              <a:ext uri="{FF2B5EF4-FFF2-40B4-BE49-F238E27FC236}">
                <a16:creationId xmlns:a16="http://schemas.microsoft.com/office/drawing/2014/main" id="{A2BBBDFB-F0A0-D054-6424-6EFE6BD25337}"/>
              </a:ext>
            </a:extLst>
          </p:cNvPr>
          <p:cNvSpPr txBox="1"/>
          <p:nvPr>
            <p:custDataLst>
              <p:tags r:id="rId6"/>
            </p:custDataLst>
          </p:nvPr>
        </p:nvSpPr>
        <p:spPr>
          <a:xfrm>
            <a:off x="6005949" y="5822410"/>
            <a:ext cx="5860900" cy="230832"/>
          </a:xfrm>
          <a:prstGeom prst="rect">
            <a:avLst/>
          </a:prstGeom>
          <a:noFill/>
        </p:spPr>
        <p:txBody>
          <a:bodyPr wrap="none" lIns="91440" tIns="45720" rIns="91440" bIns="45720" rtlCol="0" anchor="t">
            <a:spAutoFit/>
          </a:bodyPr>
          <a:lstStyle/>
          <a:p>
            <a:r>
              <a:rPr lang="fr-CA" sz="900"/>
              <a:t>Source : Centre des compétences futures, L'IA au travail : l'évolution des compétences futures et l'avenir du travail, 2024.</a:t>
            </a:r>
            <a:endParaRPr lang="fr-CA" sz="900">
              <a:ea typeface="Calibri"/>
              <a:cs typeface="Calibri"/>
            </a:endParaRPr>
          </a:p>
        </p:txBody>
      </p:sp>
      <p:sp>
        <p:nvSpPr>
          <p:cNvPr id="12" name="ZoneTexte 11">
            <a:extLst>
              <a:ext uri="{FF2B5EF4-FFF2-40B4-BE49-F238E27FC236}">
                <a16:creationId xmlns:a16="http://schemas.microsoft.com/office/drawing/2014/main" id="{A0842DB2-58DE-5C11-9B39-ED39922385AF}"/>
              </a:ext>
            </a:extLst>
          </p:cNvPr>
          <p:cNvSpPr txBox="1"/>
          <p:nvPr>
            <p:custDataLst>
              <p:tags r:id="rId7"/>
            </p:custDataLst>
          </p:nvPr>
        </p:nvSpPr>
        <p:spPr>
          <a:xfrm>
            <a:off x="916215" y="1986642"/>
            <a:ext cx="28121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CA" sz="3600" b="1">
                <a:solidFill>
                  <a:srgbClr val="FFFFFF"/>
                </a:solidFill>
                <a:ea typeface="Calibri"/>
                <a:cs typeface="Calibri"/>
              </a:rPr>
              <a:t>!</a:t>
            </a:r>
            <a:endParaRPr lang="fr-CA" sz="3600" b="1">
              <a:solidFill>
                <a:srgbClr val="FFFFFF"/>
              </a:solidFill>
            </a:endParaRPr>
          </a:p>
        </p:txBody>
      </p:sp>
    </p:spTree>
    <p:extLst>
      <p:ext uri="{BB962C8B-B14F-4D97-AF65-F5344CB8AC3E}">
        <p14:creationId xmlns:p14="http://schemas.microsoft.com/office/powerpoint/2010/main" val="1068674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C226D8-707E-3122-0E65-498EF0000AE6}"/>
              </a:ext>
            </a:extLst>
          </p:cNvPr>
          <p:cNvSpPr>
            <a:spLocks noGrp="1"/>
          </p:cNvSpPr>
          <p:nvPr>
            <p:ph sz="half" idx="1"/>
            <p:custDataLst>
              <p:tags r:id="rId1"/>
            </p:custDataLst>
          </p:nvPr>
        </p:nvSpPr>
        <p:spPr>
          <a:xfrm>
            <a:off x="432793" y="1956266"/>
            <a:ext cx="7540352" cy="3124377"/>
          </a:xfrm>
        </p:spPr>
        <p:txBody>
          <a:bodyPr vert="horz" lIns="0" tIns="0" rIns="0" bIns="0" rtlCol="0" anchor="t">
            <a:normAutofit/>
          </a:bodyPr>
          <a:lstStyle/>
          <a:p>
            <a:r>
              <a:rPr lang="fr-CA" sz="2400" b="1"/>
              <a:t>Les trois quarts des répondants ont indiqué un gain de temps grâce à l’utilisation de </a:t>
            </a:r>
            <a:r>
              <a:rPr lang="fr-CA" sz="2400" b="1" err="1"/>
              <a:t>Copilot</a:t>
            </a:r>
            <a:r>
              <a:rPr lang="fr-CA" sz="2400" b="1"/>
              <a:t>. </a:t>
            </a:r>
            <a:r>
              <a:rPr lang="fr-CA" sz="2400"/>
              <a:t>Ils ont gagné de 15 minutes à 1 h par semaine. </a:t>
            </a:r>
            <a:br>
              <a:rPr lang="fr-CA" sz="2400"/>
            </a:br>
            <a:endParaRPr lang="fr-CA" sz="2400"/>
          </a:p>
          <a:p>
            <a:r>
              <a:rPr lang="fr-CA" sz="2400" b="1"/>
              <a:t>L’expérimentation n’a pas documenté où le temps gagné était réalloué</a:t>
            </a:r>
            <a:r>
              <a:rPr lang="fr-CA" sz="2400"/>
              <a:t>. Cependant, les deux tiers des participants ont indiqué que </a:t>
            </a:r>
            <a:r>
              <a:rPr lang="fr-CA" sz="2400" err="1"/>
              <a:t>Copilot</a:t>
            </a:r>
            <a:r>
              <a:rPr lang="fr-CA" sz="2400"/>
              <a:t> les avait aidés à dépenser moins d’efforts sur des étapes banales ou répétitives. </a:t>
            </a:r>
            <a:endParaRPr lang="fr-CA" sz="2400">
              <a:ea typeface="Calibri"/>
              <a:cs typeface="Calibri"/>
            </a:endParaRPr>
          </a:p>
        </p:txBody>
      </p:sp>
      <p:sp>
        <p:nvSpPr>
          <p:cNvPr id="2" name="Titre 1">
            <a:extLst>
              <a:ext uri="{FF2B5EF4-FFF2-40B4-BE49-F238E27FC236}">
                <a16:creationId xmlns:a16="http://schemas.microsoft.com/office/drawing/2014/main" id="{3DDEC886-497F-7C5A-7A9E-888361568B18}"/>
              </a:ext>
            </a:extLst>
          </p:cNvPr>
          <p:cNvSpPr>
            <a:spLocks noGrp="1"/>
          </p:cNvSpPr>
          <p:nvPr>
            <p:ph type="title"/>
            <p:custDataLst>
              <p:tags r:id="rId2"/>
            </p:custDataLst>
          </p:nvPr>
        </p:nvSpPr>
        <p:spPr/>
        <p:txBody>
          <a:bodyPr>
            <a:normAutofit fontScale="90000"/>
          </a:bodyPr>
          <a:lstStyle/>
          <a:p>
            <a:r>
              <a:rPr lang="fr-CA"/>
              <a:t>Constat 4 – Un gain modéré en productivité, </a:t>
            </a:r>
            <a:br>
              <a:rPr lang="fr-CA"/>
            </a:br>
            <a:r>
              <a:rPr lang="fr-CA"/>
              <a:t>difficile à quantifier et qualifier</a:t>
            </a:r>
          </a:p>
        </p:txBody>
      </p:sp>
      <p:sp>
        <p:nvSpPr>
          <p:cNvPr id="60" name="Ellipse 59">
            <a:extLst>
              <a:ext uri="{FF2B5EF4-FFF2-40B4-BE49-F238E27FC236}">
                <a16:creationId xmlns:a16="http://schemas.microsoft.com/office/drawing/2014/main" id="{0D89F273-55FC-A176-049C-D50C1E0C5D86}"/>
              </a:ext>
            </a:extLst>
          </p:cNvPr>
          <p:cNvSpPr>
            <a:spLocks noChangeAspect="1"/>
          </p:cNvSpPr>
          <p:nvPr>
            <p:custDataLst>
              <p:tags r:id="rId3"/>
            </p:custDataLst>
          </p:nvPr>
        </p:nvSpPr>
        <p:spPr>
          <a:xfrm>
            <a:off x="8150108" y="966670"/>
            <a:ext cx="2551784" cy="2551784"/>
          </a:xfrm>
          <a:prstGeom prst="ellipse">
            <a:avLst/>
          </a:prstGeom>
          <a:solidFill>
            <a:schemeClr val="tx2">
              <a:lumMod val="20000"/>
              <a:lumOff val="8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fr-CA" sz="1500">
                <a:solidFill>
                  <a:schemeClr val="tx1"/>
                </a:solidFill>
              </a:rPr>
              <a:t>Gains estimés par Microsoft</a:t>
            </a:r>
          </a:p>
          <a:p>
            <a:pPr algn="ctr"/>
            <a:r>
              <a:rPr lang="fr-CA" sz="2000" b="1">
                <a:solidFill>
                  <a:schemeClr val="tx1"/>
                </a:solidFill>
              </a:rPr>
              <a:t>14 min/jour</a:t>
            </a:r>
          </a:p>
          <a:p>
            <a:pPr algn="ctr"/>
            <a:endParaRPr lang="fr-CA" sz="1600">
              <a:solidFill>
                <a:schemeClr val="tx1"/>
              </a:solidFill>
            </a:endParaRPr>
          </a:p>
          <a:p>
            <a:pPr algn="ctr"/>
            <a:r>
              <a:rPr lang="fr-CA" sz="1500">
                <a:solidFill>
                  <a:schemeClr val="tx1"/>
                </a:solidFill>
              </a:rPr>
              <a:t>Gains estimés par les employés</a:t>
            </a:r>
          </a:p>
          <a:p>
            <a:pPr algn="ctr"/>
            <a:r>
              <a:rPr lang="fr-CA" sz="2000" b="1">
                <a:solidFill>
                  <a:schemeClr val="tx1"/>
                </a:solidFill>
              </a:rPr>
              <a:t>36 min/jour</a:t>
            </a:r>
          </a:p>
        </p:txBody>
      </p:sp>
      <p:sp>
        <p:nvSpPr>
          <p:cNvPr id="61" name="Ellipse 60">
            <a:extLst>
              <a:ext uri="{FF2B5EF4-FFF2-40B4-BE49-F238E27FC236}">
                <a16:creationId xmlns:a16="http://schemas.microsoft.com/office/drawing/2014/main" id="{542FA497-8CF7-9DA7-4D94-E82F482E5169}"/>
              </a:ext>
            </a:extLst>
          </p:cNvPr>
          <p:cNvSpPr>
            <a:spLocks noChangeAspect="1"/>
          </p:cNvSpPr>
          <p:nvPr>
            <p:custDataLst>
              <p:tags r:id="rId4"/>
            </p:custDataLst>
          </p:nvPr>
        </p:nvSpPr>
        <p:spPr>
          <a:xfrm>
            <a:off x="9113199" y="3103513"/>
            <a:ext cx="2254965" cy="2254965"/>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a:r>
              <a:rPr lang="fr-CA" sz="1600">
                <a:solidFill>
                  <a:schemeClr val="tx1"/>
                </a:solidFill>
              </a:rPr>
              <a:t>Fuite de productivité</a:t>
            </a:r>
            <a:br>
              <a:rPr lang="fr-CA" sz="5400" b="1">
                <a:solidFill>
                  <a:schemeClr val="tx1"/>
                </a:solidFill>
              </a:rPr>
            </a:br>
            <a:r>
              <a:rPr lang="fr-CA" sz="2800" b="1">
                <a:solidFill>
                  <a:schemeClr val="tx1"/>
                </a:solidFill>
              </a:rPr>
              <a:t>- 10 à 30 %</a:t>
            </a:r>
            <a:endParaRPr lang="fr-CA" sz="4400">
              <a:solidFill>
                <a:schemeClr val="tx1"/>
              </a:solidFill>
            </a:endParaRPr>
          </a:p>
        </p:txBody>
      </p:sp>
      <p:pic>
        <p:nvPicPr>
          <p:cNvPr id="63" name="Graphique 62" descr="Café avec un remplissage uni">
            <a:extLst>
              <a:ext uri="{FF2B5EF4-FFF2-40B4-BE49-F238E27FC236}">
                <a16:creationId xmlns:a16="http://schemas.microsoft.com/office/drawing/2014/main" id="{B5F5D971-8CAD-56B9-95B8-B4AD3C08E452}"/>
              </a:ext>
            </a:extLst>
          </p:cNvPr>
          <p:cNvPicPr>
            <a:picLocks noChangeAspect="1"/>
          </p:cNvPicPr>
          <p:nvPr>
            <p:custDataLst>
              <p:tags r:id="rId5"/>
            </p:custDataLst>
          </p:nvPr>
        </p:nvPicPr>
        <p:blipFill>
          <a:blip r:embed="rId9">
            <a:extLst>
              <a:ext uri="{96DAC541-7B7A-43D3-8B79-37D633B846F1}">
                <asvg:svgBlip xmlns:asvg="http://schemas.microsoft.com/office/drawing/2016/SVG/main" r:embed="rId10"/>
              </a:ext>
            </a:extLst>
          </a:blip>
          <a:stretch>
            <a:fillRect/>
          </a:stretch>
        </p:blipFill>
        <p:spPr>
          <a:xfrm>
            <a:off x="10645000" y="2975118"/>
            <a:ext cx="975565" cy="975565"/>
          </a:xfrm>
          <a:prstGeom prst="rect">
            <a:avLst/>
          </a:prstGeom>
        </p:spPr>
      </p:pic>
      <p:sp>
        <p:nvSpPr>
          <p:cNvPr id="8" name="Ellipse 7">
            <a:extLst>
              <a:ext uri="{FF2B5EF4-FFF2-40B4-BE49-F238E27FC236}">
                <a16:creationId xmlns:a16="http://schemas.microsoft.com/office/drawing/2014/main" id="{0FF5DB86-12CF-70AF-6623-DCCE417E4288}"/>
              </a:ext>
            </a:extLst>
          </p:cNvPr>
          <p:cNvSpPr/>
          <p:nvPr>
            <p:custDataLst>
              <p:tags r:id="rId6"/>
            </p:custDataLst>
          </p:nvPr>
        </p:nvSpPr>
        <p:spPr>
          <a:xfrm>
            <a:off x="10232218" y="1507142"/>
            <a:ext cx="1135946" cy="914400"/>
          </a:xfrm>
          <a:prstGeom prst="ellipse">
            <a:avLst/>
          </a:prstGeom>
        </p:spPr>
        <p:style>
          <a:lnRef idx="2">
            <a:schemeClr val="dk1">
              <a:shade val="15000"/>
            </a:schemeClr>
          </a:lnRef>
          <a:fillRef idx="1">
            <a:schemeClr val="dk1"/>
          </a:fillRef>
          <a:effectRef idx="0">
            <a:schemeClr val="dk1"/>
          </a:effectRef>
          <a:fontRef idx="minor">
            <a:schemeClr val="lt1"/>
          </a:fontRef>
        </p:style>
        <p:txBody>
          <a:bodyPr lIns="0" rIns="0" rtlCol="0" anchor="ctr"/>
          <a:lstStyle/>
          <a:p>
            <a:pPr algn="ctr"/>
            <a:r>
              <a:rPr lang="fr-CA" sz="2800" b="1"/>
              <a:t>2,5 x</a:t>
            </a:r>
          </a:p>
        </p:txBody>
      </p:sp>
    </p:spTree>
    <p:extLst>
      <p:ext uri="{BB962C8B-B14F-4D97-AF65-F5344CB8AC3E}">
        <p14:creationId xmlns:p14="http://schemas.microsoft.com/office/powerpoint/2010/main" val="3652292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2E09-6735-47F2-154B-7E850CA30B2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874787A-5CDE-0370-268E-DE8D0ACBBBA8}"/>
              </a:ext>
            </a:extLst>
          </p:cNvPr>
          <p:cNvSpPr>
            <a:spLocks noGrp="1"/>
          </p:cNvSpPr>
          <p:nvPr>
            <p:ph sz="half" idx="1"/>
            <p:custDataLst>
              <p:tags r:id="rId1"/>
            </p:custDataLst>
          </p:nvPr>
        </p:nvSpPr>
        <p:spPr>
          <a:xfrm>
            <a:off x="546619" y="3963437"/>
            <a:ext cx="11160599" cy="1631216"/>
          </a:xfrm>
        </p:spPr>
        <p:txBody>
          <a:bodyPr vert="horz" lIns="0" tIns="0" rIns="0" bIns="0" rtlCol="0" anchor="t">
            <a:normAutofit/>
          </a:bodyPr>
          <a:lstStyle/>
          <a:p>
            <a:r>
              <a:rPr lang="fr-CA" sz="2400"/>
              <a:t>Les gestionnaires ont également </a:t>
            </a:r>
            <a:r>
              <a:rPr lang="fr-CA" sz="2400" b="1"/>
              <a:t>noté des gains limités </a:t>
            </a:r>
            <a:r>
              <a:rPr lang="fr-CA" sz="2400"/>
              <a:t>sur la performance de leurs employés. Ils ont toutefois perçu le potentiel à long terme si une bonne </a:t>
            </a:r>
            <a:r>
              <a:rPr lang="fr-CA" sz="2400" b="1"/>
              <a:t>gestion du changement</a:t>
            </a:r>
            <a:r>
              <a:rPr lang="fr-CA" sz="2400"/>
              <a:t> est mise en place en cas de déploiement.</a:t>
            </a:r>
            <a:endParaRPr lang="fr-CA" sz="2400">
              <a:ea typeface="Calibri"/>
              <a:cs typeface="Calibri"/>
            </a:endParaRPr>
          </a:p>
          <a:p>
            <a:pPr>
              <a:buClr>
                <a:srgbClr val="B8E6F2"/>
              </a:buClr>
            </a:pPr>
            <a:r>
              <a:rPr lang="fr-CA" sz="2400"/>
              <a:t>Ils ont souligné qu’ils aimeraient être </a:t>
            </a:r>
            <a:r>
              <a:rPr lang="fr-CA" sz="2400" b="1"/>
              <a:t>mieux préparés et plus impliqués.</a:t>
            </a:r>
            <a:endParaRPr lang="fr-CA" sz="2400" b="1">
              <a:ea typeface="Calibri"/>
              <a:cs typeface="Calibri"/>
            </a:endParaRPr>
          </a:p>
          <a:p>
            <a:pPr>
              <a:buClr>
                <a:srgbClr val="B8E6F2"/>
              </a:buClr>
            </a:pPr>
            <a:endParaRPr lang="fr-CA" sz="2400" i="1">
              <a:highlight>
                <a:srgbClr val="FFFF00"/>
              </a:highlight>
              <a:ea typeface="Calibri"/>
              <a:cs typeface="Calibri"/>
            </a:endParaRPr>
          </a:p>
        </p:txBody>
      </p:sp>
      <p:sp>
        <p:nvSpPr>
          <p:cNvPr id="2" name="Titre 1">
            <a:extLst>
              <a:ext uri="{FF2B5EF4-FFF2-40B4-BE49-F238E27FC236}">
                <a16:creationId xmlns:a16="http://schemas.microsoft.com/office/drawing/2014/main" id="{93A4A398-002E-5A2A-739E-623681FEBCD4}"/>
              </a:ext>
            </a:extLst>
          </p:cNvPr>
          <p:cNvSpPr>
            <a:spLocks noGrp="1"/>
          </p:cNvSpPr>
          <p:nvPr>
            <p:ph type="title"/>
            <p:custDataLst>
              <p:tags r:id="rId2"/>
            </p:custDataLst>
          </p:nvPr>
        </p:nvSpPr>
        <p:spPr/>
        <p:txBody>
          <a:bodyPr>
            <a:normAutofit fontScale="90000"/>
          </a:bodyPr>
          <a:lstStyle/>
          <a:p>
            <a:r>
              <a:rPr lang="fr-CA"/>
              <a:t>Un gain difficile à observer pour les gestionnaires</a:t>
            </a:r>
          </a:p>
        </p:txBody>
      </p:sp>
      <p:sp>
        <p:nvSpPr>
          <p:cNvPr id="6" name="ZoneTexte 5">
            <a:extLst>
              <a:ext uri="{FF2B5EF4-FFF2-40B4-BE49-F238E27FC236}">
                <a16:creationId xmlns:a16="http://schemas.microsoft.com/office/drawing/2014/main" id="{38AB5353-B701-0DB4-05CD-083B38BCF513}"/>
              </a:ext>
            </a:extLst>
          </p:cNvPr>
          <p:cNvSpPr txBox="1"/>
          <p:nvPr>
            <p:custDataLst>
              <p:tags r:id="rId3"/>
            </p:custDataLst>
          </p:nvPr>
        </p:nvSpPr>
        <p:spPr>
          <a:xfrm>
            <a:off x="1345536" y="1565033"/>
            <a:ext cx="3266574" cy="1631216"/>
          </a:xfrm>
          <a:prstGeom prst="rect">
            <a:avLst/>
          </a:prstGeom>
          <a:solidFill>
            <a:srgbClr val="EEF3F9"/>
          </a:solidFill>
        </p:spPr>
        <p:txBody>
          <a:bodyPr wrap="square" lIns="91440" tIns="45720" rIns="91440" bIns="45720" rtlCol="0" anchor="t">
            <a:spAutoFit/>
          </a:bodyPr>
          <a:lstStyle/>
          <a:p>
            <a:pPr algn="ctr"/>
            <a:r>
              <a:rPr lang="fr-CA" sz="10000" b="1"/>
              <a:t>63 </a:t>
            </a:r>
            <a:r>
              <a:rPr lang="fr-CA" sz="10000"/>
              <a:t>%</a:t>
            </a:r>
          </a:p>
        </p:txBody>
      </p:sp>
      <p:pic>
        <p:nvPicPr>
          <p:cNvPr id="8" name="Image 7">
            <a:extLst>
              <a:ext uri="{FF2B5EF4-FFF2-40B4-BE49-F238E27FC236}">
                <a16:creationId xmlns:a16="http://schemas.microsoft.com/office/drawing/2014/main" id="{1DC473AF-50C4-F9FE-C798-E1F813F0E87D}"/>
              </a:ext>
            </a:extLst>
          </p:cNvPr>
          <p:cNvPicPr>
            <a:picLocks noChangeAspect="1"/>
          </p:cNvPicPr>
          <p:nvPr>
            <p:custDataLst>
              <p:tags r:id="rId4"/>
            </p:custDataLst>
          </p:nvPr>
        </p:nvPicPr>
        <p:blipFill>
          <a:blip r:embed="rId8">
            <a:duotone>
              <a:schemeClr val="accent5">
                <a:shade val="45000"/>
                <a:satMod val="135000"/>
              </a:schemeClr>
              <a:prstClr val="white"/>
            </a:duotone>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546619" y="1765035"/>
            <a:ext cx="1189216" cy="1059716"/>
          </a:xfrm>
          <a:prstGeom prst="rect">
            <a:avLst/>
          </a:prstGeom>
        </p:spPr>
      </p:pic>
      <p:sp>
        <p:nvSpPr>
          <p:cNvPr id="12" name="ZoneTexte 11">
            <a:extLst>
              <a:ext uri="{FF2B5EF4-FFF2-40B4-BE49-F238E27FC236}">
                <a16:creationId xmlns:a16="http://schemas.microsoft.com/office/drawing/2014/main" id="{88123B32-4835-C8FB-5506-3B756D565A92}"/>
              </a:ext>
            </a:extLst>
          </p:cNvPr>
          <p:cNvSpPr txBox="1"/>
          <p:nvPr>
            <p:custDataLst>
              <p:tags r:id="rId5"/>
            </p:custDataLst>
          </p:nvPr>
        </p:nvSpPr>
        <p:spPr>
          <a:xfrm>
            <a:off x="5070768" y="1725506"/>
            <a:ext cx="6084912" cy="1261884"/>
          </a:xfrm>
          <a:prstGeom prst="rect">
            <a:avLst/>
          </a:prstGeom>
          <a:noFill/>
        </p:spPr>
        <p:txBody>
          <a:bodyPr wrap="square" lIns="91440" tIns="45720" rIns="91440" bIns="45720" rtlCol="0" anchor="t">
            <a:spAutoFit/>
          </a:bodyPr>
          <a:lstStyle/>
          <a:p>
            <a:r>
              <a:rPr lang="fr-CA" sz="2000"/>
              <a:t>des gestionnaires interrogés indiquent qu'ils sont</a:t>
            </a:r>
            <a:br>
              <a:rPr lang="fr-CA" sz="2000"/>
            </a:br>
            <a:r>
              <a:rPr lang="fr-CA" sz="2800" b="1">
                <a:ea typeface="Calibri"/>
                <a:cs typeface="Calibri"/>
              </a:rPr>
              <a:t>en accord avec l'intégration de l'outil auprès de tous leurs employés.</a:t>
            </a:r>
          </a:p>
        </p:txBody>
      </p:sp>
    </p:spTree>
    <p:extLst>
      <p:ext uri="{BB962C8B-B14F-4D97-AF65-F5344CB8AC3E}">
        <p14:creationId xmlns:p14="http://schemas.microsoft.com/office/powerpoint/2010/main" val="1353450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D1C634-D5D6-F2EB-4A29-AA971F7FC1D6}"/>
              </a:ext>
            </a:extLst>
          </p:cNvPr>
          <p:cNvSpPr>
            <a:spLocks noGrp="1"/>
          </p:cNvSpPr>
          <p:nvPr>
            <p:ph type="title"/>
            <p:custDataLst>
              <p:tags r:id="rId1"/>
            </p:custDataLst>
          </p:nvPr>
        </p:nvSpPr>
        <p:spPr/>
        <p:txBody>
          <a:bodyPr>
            <a:normAutofit fontScale="90000"/>
          </a:bodyPr>
          <a:lstStyle/>
          <a:p>
            <a:r>
              <a:rPr lang="fr-FR">
                <a:cs typeface="Calibri"/>
              </a:rPr>
              <a:t>Bilan de la phase 1</a:t>
            </a:r>
            <a:endParaRPr lang="fr-FR"/>
          </a:p>
        </p:txBody>
      </p:sp>
      <p:sp>
        <p:nvSpPr>
          <p:cNvPr id="3" name="Espace réservé du contenu 2">
            <a:extLst>
              <a:ext uri="{FF2B5EF4-FFF2-40B4-BE49-F238E27FC236}">
                <a16:creationId xmlns:a16="http://schemas.microsoft.com/office/drawing/2014/main" id="{CDDF3E68-E9CD-DC0A-75D9-3DE728DBA19F}"/>
              </a:ext>
            </a:extLst>
          </p:cNvPr>
          <p:cNvSpPr>
            <a:spLocks noGrp="1"/>
          </p:cNvSpPr>
          <p:nvPr>
            <p:ph idx="1"/>
            <p:custDataLst>
              <p:tags r:id="rId2"/>
            </p:custDataLst>
          </p:nvPr>
        </p:nvSpPr>
        <p:spPr/>
        <p:txBody>
          <a:bodyPr vert="horz" lIns="0" tIns="0" rIns="0" bIns="0" rtlCol="0" anchor="t">
            <a:normAutofit/>
          </a:bodyPr>
          <a:lstStyle/>
          <a:p>
            <a:pPr>
              <a:spcBef>
                <a:spcPts val="0"/>
              </a:spcBef>
              <a:buClr>
                <a:srgbClr val="B8E6F2"/>
              </a:buClr>
            </a:pPr>
            <a:endParaRPr lang="fr-CA" sz="1800" b="1">
              <a:cs typeface="Calibri"/>
            </a:endParaRPr>
          </a:p>
          <a:p>
            <a:pPr>
              <a:spcBef>
                <a:spcPts val="0"/>
              </a:spcBef>
              <a:buClr>
                <a:srgbClr val="B8E6F2"/>
              </a:buClr>
            </a:pPr>
            <a:r>
              <a:rPr lang="fr-CA">
                <a:solidFill>
                  <a:schemeClr val="tx2"/>
                </a:solidFill>
                <a:cs typeface="Calibri"/>
              </a:rPr>
              <a:t>Recommandation préliminaire  </a:t>
            </a:r>
            <a:endParaRPr lang="fr-CA">
              <a:solidFill>
                <a:schemeClr val="tx2"/>
              </a:solidFill>
              <a:ea typeface="Calibri"/>
              <a:cs typeface="Calibri"/>
            </a:endParaRPr>
          </a:p>
          <a:p>
            <a:pPr>
              <a:spcBef>
                <a:spcPts val="0"/>
              </a:spcBef>
              <a:buClr>
                <a:srgbClr val="B8E6F2"/>
              </a:buClr>
            </a:pPr>
            <a:endParaRPr lang="en-US" sz="2400">
              <a:solidFill>
                <a:schemeClr val="tx2"/>
              </a:solidFill>
              <a:cs typeface="Calibri"/>
            </a:endParaRPr>
          </a:p>
          <a:p>
            <a:pPr lvl="1">
              <a:spcBef>
                <a:spcPts val="0"/>
              </a:spcBef>
              <a:buClr>
                <a:srgbClr val="2D2E83"/>
              </a:buClr>
            </a:pPr>
            <a:r>
              <a:rPr lang="fr-CA" sz="3200">
                <a:cs typeface="Calibri"/>
              </a:rPr>
              <a:t>Certains utilisateurs tirent davantage de bénéfices de l’outil. Un déploiement ciblé peut donc être envisagé. Ce déploiement doit préalablement être accompagné de nouvelles phases d’expérimentation, visant à affiner les cas d’utilisation spécifiques et à valider la valeur ajoutée pour certains profils avant une adoption plus large.</a:t>
            </a:r>
            <a:endParaRPr lang="fr-CA" sz="2800"/>
          </a:p>
          <a:p>
            <a:pPr>
              <a:buClr>
                <a:srgbClr val="B8E6F2"/>
              </a:buClr>
            </a:pPr>
            <a:endParaRPr lang="fr-FR">
              <a:cs typeface="Calibri"/>
            </a:endParaRPr>
          </a:p>
          <a:p>
            <a:pPr>
              <a:buClr>
                <a:srgbClr val="B8E6F2"/>
              </a:buClr>
            </a:pPr>
            <a:endParaRPr lang="fr-FR">
              <a:cs typeface="Calibri"/>
            </a:endParaRPr>
          </a:p>
        </p:txBody>
      </p:sp>
      <p:sp>
        <p:nvSpPr>
          <p:cNvPr id="4" name="Espace réservé du numéro de diapositive 3">
            <a:extLst>
              <a:ext uri="{FF2B5EF4-FFF2-40B4-BE49-F238E27FC236}">
                <a16:creationId xmlns:a16="http://schemas.microsoft.com/office/drawing/2014/main" id="{19B28788-9855-0662-0594-72C93C2B3196}"/>
              </a:ext>
            </a:extLst>
          </p:cNvPr>
          <p:cNvSpPr>
            <a:spLocks noGrp="1"/>
          </p:cNvSpPr>
          <p:nvPr>
            <p:ph type="sldNum" sz="quarter" idx="11"/>
            <p:custDataLst>
              <p:tags r:id="rId3"/>
            </p:custDataLst>
          </p:nvPr>
        </p:nvSpPr>
        <p:spPr/>
        <p:txBody>
          <a:bodyPr/>
          <a:lstStyle/>
          <a:p>
            <a:fld id="{511EA75C-EC4C-4D33-ACF8-A8544E993E0B}" type="slidenum">
              <a:rPr lang="fr-CA" smtClean="0"/>
              <a:pPr/>
              <a:t>15</a:t>
            </a:fld>
            <a:endParaRPr lang="fr-CA"/>
          </a:p>
        </p:txBody>
      </p:sp>
    </p:spTree>
    <p:extLst>
      <p:ext uri="{BB962C8B-B14F-4D97-AF65-F5344CB8AC3E}">
        <p14:creationId xmlns:p14="http://schemas.microsoft.com/office/powerpoint/2010/main" val="1415460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7AE0C-C5CE-510B-6C14-9A0EF498E050}"/>
              </a:ext>
            </a:extLst>
          </p:cNvPr>
          <p:cNvSpPr>
            <a:spLocks noGrp="1"/>
          </p:cNvSpPr>
          <p:nvPr>
            <p:ph type="title"/>
            <p:custDataLst>
              <p:tags r:id="rId1"/>
            </p:custDataLst>
          </p:nvPr>
        </p:nvSpPr>
        <p:spPr/>
        <p:txBody>
          <a:bodyPr>
            <a:normAutofit fontScale="90000"/>
          </a:bodyPr>
          <a:lstStyle/>
          <a:p>
            <a:r>
              <a:rPr lang="fr-CA"/>
              <a:t>Pistes d’action pour la deuxième phase d’expérimentation</a:t>
            </a:r>
          </a:p>
        </p:txBody>
      </p:sp>
      <p:sp>
        <p:nvSpPr>
          <p:cNvPr id="3" name="Espace réservé du contenu 2">
            <a:extLst>
              <a:ext uri="{FF2B5EF4-FFF2-40B4-BE49-F238E27FC236}">
                <a16:creationId xmlns:a16="http://schemas.microsoft.com/office/drawing/2014/main" id="{BAD77658-A210-23D4-01CD-A9757CC91DC9}"/>
              </a:ext>
            </a:extLst>
          </p:cNvPr>
          <p:cNvSpPr>
            <a:spLocks noGrp="1"/>
          </p:cNvSpPr>
          <p:nvPr>
            <p:ph idx="1"/>
            <p:custDataLst>
              <p:tags r:id="rId2"/>
            </p:custDataLst>
          </p:nvPr>
        </p:nvSpPr>
        <p:spPr>
          <a:xfrm>
            <a:off x="1676400" y="1116623"/>
            <a:ext cx="10053338" cy="5048650"/>
          </a:xfrm>
        </p:spPr>
        <p:txBody>
          <a:bodyPr vert="horz" lIns="0" tIns="0" rIns="0" bIns="0" rtlCol="0" anchor="t">
            <a:normAutofit/>
          </a:bodyPr>
          <a:lstStyle/>
          <a:p>
            <a:r>
              <a:rPr lang="fr-CA" sz="2400" b="1">
                <a:cs typeface="Calibri"/>
              </a:rPr>
              <a:t>Importance de la durée de l’expérimentation et de la formation pour :</a:t>
            </a:r>
          </a:p>
          <a:p>
            <a:pPr lvl="1"/>
            <a:r>
              <a:rPr lang="fr-CA" sz="2000">
                <a:cs typeface="Calibri"/>
              </a:rPr>
              <a:t>Accorder le temps nécessaire aux employés pour se familiariser avec le nouvel outil;</a:t>
            </a:r>
            <a:endParaRPr lang="fr-CA" sz="2000">
              <a:ea typeface="Calibri"/>
              <a:cs typeface="Calibri"/>
            </a:endParaRPr>
          </a:p>
          <a:p>
            <a:pPr lvl="1"/>
            <a:r>
              <a:rPr lang="fr-CA" sz="2000">
                <a:cs typeface="Calibri"/>
              </a:rPr>
              <a:t>Identifier et dispenser des formations et des guides adéquats, ciblés selon les cas;</a:t>
            </a:r>
            <a:endParaRPr lang="fr-CA" sz="2000">
              <a:ea typeface="Calibri"/>
              <a:cs typeface="Calibri"/>
            </a:endParaRPr>
          </a:p>
          <a:p>
            <a:pPr lvl="1"/>
            <a:r>
              <a:rPr lang="fr-CA">
                <a:cs typeface="Calibri"/>
              </a:rPr>
              <a:t>Identifier des utilisateurs avancés pouvant devenir des ambassadeurs.</a:t>
            </a:r>
            <a:endParaRPr lang="fr-CA" sz="2000"/>
          </a:p>
          <a:p>
            <a:pPr>
              <a:buClr>
                <a:srgbClr val="B8E6F2"/>
              </a:buClr>
            </a:pPr>
            <a:r>
              <a:rPr lang="fr-CA" sz="2400" b="1">
                <a:cs typeface="Calibri"/>
              </a:rPr>
              <a:t>Importance de bien cibler les employés pour :</a:t>
            </a:r>
            <a:endParaRPr lang="fr-CA" sz="2400" b="1">
              <a:ea typeface="Calibri"/>
              <a:cs typeface="Calibri"/>
            </a:endParaRPr>
          </a:p>
          <a:p>
            <a:pPr lvl="1"/>
            <a:r>
              <a:rPr lang="fr-CA">
                <a:cs typeface="Calibri" panose="020F0502020204030204"/>
              </a:rPr>
              <a:t>Sélectionner les employés selon le type de profil, de tâche, d’expérience, d’apprentissage;</a:t>
            </a:r>
            <a:endParaRPr lang="fr-CA">
              <a:ea typeface="Calibri"/>
              <a:cs typeface="Calibri" panose="020F0502020204030204"/>
            </a:endParaRPr>
          </a:p>
          <a:p>
            <a:pPr lvl="1"/>
            <a:r>
              <a:rPr lang="fr-CA">
                <a:cs typeface="Calibri" panose="020F0502020204030204"/>
              </a:rPr>
              <a:t>S’assurer que leur charge de travail leur permet de tester l’outil.</a:t>
            </a:r>
            <a:endParaRPr lang="fr-CA">
              <a:ea typeface="Calibri"/>
              <a:cs typeface="Calibri" panose="020F0502020204030204"/>
            </a:endParaRPr>
          </a:p>
          <a:p>
            <a:pPr>
              <a:buClr>
                <a:srgbClr val="B8E6F2"/>
              </a:buClr>
            </a:pPr>
            <a:r>
              <a:rPr lang="fr-CA" sz="2400" b="1"/>
              <a:t>Importance d’une gestion documentaire rigoureuse pour :</a:t>
            </a:r>
            <a:endParaRPr lang="fr-CA" sz="2400" b="1">
              <a:cs typeface="Calibri"/>
            </a:endParaRPr>
          </a:p>
          <a:p>
            <a:pPr lvl="1"/>
            <a:r>
              <a:rPr lang="fr-CA" sz="2000"/>
              <a:t>Sensibiliser les employés quant à l’accès, voire l’exfiltration de données sensibles par </a:t>
            </a:r>
            <a:r>
              <a:rPr lang="fr-CA" sz="2000" err="1"/>
              <a:t>Copilot</a:t>
            </a:r>
            <a:r>
              <a:rPr lang="fr-CA" sz="2000"/>
              <a:t>;</a:t>
            </a:r>
            <a:endParaRPr lang="fr-CA" sz="2000">
              <a:cs typeface="Calibri"/>
            </a:endParaRPr>
          </a:p>
          <a:p>
            <a:pPr lvl="1"/>
            <a:r>
              <a:rPr lang="fr-CA" sz="2000"/>
              <a:t>Sensibiliser les employés quant à l’utilisation de données ou d’informations obsolètes dans les résultats générés par </a:t>
            </a:r>
            <a:r>
              <a:rPr lang="fr-CA" sz="2000" err="1"/>
              <a:t>Copilot</a:t>
            </a:r>
            <a:r>
              <a:rPr lang="fr-CA" sz="2000"/>
              <a:t>.</a:t>
            </a:r>
            <a:endParaRPr lang="fr-CA" sz="2000">
              <a:cs typeface="Calibri"/>
            </a:endParaRPr>
          </a:p>
        </p:txBody>
      </p:sp>
      <p:sp>
        <p:nvSpPr>
          <p:cNvPr id="4" name="Espace réservé du numéro de diapositive 3">
            <a:extLst>
              <a:ext uri="{FF2B5EF4-FFF2-40B4-BE49-F238E27FC236}">
                <a16:creationId xmlns:a16="http://schemas.microsoft.com/office/drawing/2014/main" id="{2C7524F0-2B21-4991-E027-2552A0FFB7F0}"/>
              </a:ext>
            </a:extLst>
          </p:cNvPr>
          <p:cNvSpPr>
            <a:spLocks noGrp="1"/>
          </p:cNvSpPr>
          <p:nvPr>
            <p:ph type="sldNum" sz="quarter" idx="11"/>
            <p:custDataLst>
              <p:tags r:id="rId3"/>
            </p:custDataLst>
          </p:nvPr>
        </p:nvSpPr>
        <p:spPr/>
        <p:txBody>
          <a:bodyPr/>
          <a:lstStyle/>
          <a:p>
            <a:fld id="{511EA75C-EC4C-4D33-ACF8-A8544E993E0B}" type="slidenum">
              <a:rPr lang="fr-CA" smtClean="0"/>
              <a:pPr/>
              <a:t>16</a:t>
            </a:fld>
            <a:endParaRPr lang="fr-CA"/>
          </a:p>
        </p:txBody>
      </p:sp>
      <p:pic>
        <p:nvPicPr>
          <p:cNvPr id="12" name="Graphique 11" descr="Bullseye avec un remplissage uni">
            <a:extLst>
              <a:ext uri="{FF2B5EF4-FFF2-40B4-BE49-F238E27FC236}">
                <a16:creationId xmlns:a16="http://schemas.microsoft.com/office/drawing/2014/main" id="{7BF97F72-0AED-634F-F656-94F53AEF8413}"/>
              </a:ext>
            </a:extLst>
          </p:cNvPr>
          <p:cNvPicPr>
            <a:picLocks noChangeAspect="1"/>
          </p:cNvPicPr>
          <p:nvPr>
            <p:custDataLst>
              <p:tags r:id="rId4"/>
            </p:custDataLst>
          </p:nvPr>
        </p:nvPicPr>
        <p:blipFill>
          <a:blip r:embed="rId9">
            <a:extLst>
              <a:ext uri="{96DAC541-7B7A-43D3-8B79-37D633B846F1}">
                <asvg:svgBlip xmlns:asvg="http://schemas.microsoft.com/office/drawing/2016/SVG/main" r:embed="rId10"/>
              </a:ext>
            </a:extLst>
          </a:blip>
          <a:stretch>
            <a:fillRect/>
          </a:stretch>
        </p:blipFill>
        <p:spPr>
          <a:xfrm>
            <a:off x="432779" y="2571954"/>
            <a:ext cx="914400" cy="914400"/>
          </a:xfrm>
          <a:prstGeom prst="rect">
            <a:avLst/>
          </a:prstGeom>
        </p:spPr>
      </p:pic>
      <p:pic>
        <p:nvPicPr>
          <p:cNvPr id="14" name="Graphique 13" descr="Classroom avec un remplissage uni">
            <a:extLst>
              <a:ext uri="{FF2B5EF4-FFF2-40B4-BE49-F238E27FC236}">
                <a16:creationId xmlns:a16="http://schemas.microsoft.com/office/drawing/2014/main" id="{0B148FDA-91F2-884E-41FE-17CEEF2CED0A}"/>
              </a:ext>
            </a:extLst>
          </p:cNvPr>
          <p:cNvPicPr>
            <a:picLocks noChangeAspect="1"/>
          </p:cNvPicPr>
          <p:nvPr>
            <p:custDataLst>
              <p:tags r:id="rId5"/>
            </p:custDataLst>
          </p:nvPr>
        </p:nvPicPr>
        <p:blipFill>
          <a:blip r:embed="rId11">
            <a:extLst>
              <a:ext uri="{96DAC541-7B7A-43D3-8B79-37D633B846F1}">
                <asvg:svgBlip xmlns:asvg="http://schemas.microsoft.com/office/drawing/2016/SVG/main" r:embed="rId12"/>
              </a:ext>
            </a:extLst>
          </a:blip>
          <a:stretch>
            <a:fillRect/>
          </a:stretch>
        </p:blipFill>
        <p:spPr>
          <a:xfrm>
            <a:off x="432779" y="1020700"/>
            <a:ext cx="914400" cy="914400"/>
          </a:xfrm>
          <a:prstGeom prst="rect">
            <a:avLst/>
          </a:prstGeom>
        </p:spPr>
      </p:pic>
      <p:pic>
        <p:nvPicPr>
          <p:cNvPr id="16" name="Graphique 15" descr="Internet avec un remplissage uni">
            <a:extLst>
              <a:ext uri="{FF2B5EF4-FFF2-40B4-BE49-F238E27FC236}">
                <a16:creationId xmlns:a16="http://schemas.microsoft.com/office/drawing/2014/main" id="{BC7C64E0-CA3A-E395-6292-68F7D25DA869}"/>
              </a:ext>
            </a:extLst>
          </p:cNvPr>
          <p:cNvPicPr>
            <a:picLocks noChangeAspect="1"/>
          </p:cNvPicPr>
          <p:nvPr>
            <p:custDataLst>
              <p:tags r:id="rId6"/>
            </p:custDataLst>
          </p:nvPr>
        </p:nvPicPr>
        <p:blipFill>
          <a:blip r:embed="rId13">
            <a:extLst>
              <a:ext uri="{96DAC541-7B7A-43D3-8B79-37D633B846F1}">
                <asvg:svgBlip xmlns:asvg="http://schemas.microsoft.com/office/drawing/2016/SVG/main" r:embed="rId14"/>
              </a:ext>
            </a:extLst>
          </a:blip>
          <a:stretch>
            <a:fillRect/>
          </a:stretch>
        </p:blipFill>
        <p:spPr>
          <a:xfrm>
            <a:off x="462262" y="4135916"/>
            <a:ext cx="914400" cy="914400"/>
          </a:xfrm>
          <a:prstGeom prst="rect">
            <a:avLst/>
          </a:prstGeom>
        </p:spPr>
      </p:pic>
    </p:spTree>
    <p:extLst>
      <p:ext uri="{BB962C8B-B14F-4D97-AF65-F5344CB8AC3E}">
        <p14:creationId xmlns:p14="http://schemas.microsoft.com/office/powerpoint/2010/main" val="77264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BEEAD-3F47-7B5E-B991-C1F5E1C93D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9F695C-6ED3-55E8-AF71-D0B97F717373}"/>
              </a:ext>
            </a:extLst>
          </p:cNvPr>
          <p:cNvSpPr>
            <a:spLocks noGrp="1"/>
          </p:cNvSpPr>
          <p:nvPr>
            <p:ph type="title"/>
            <p:custDataLst>
              <p:tags r:id="rId1"/>
            </p:custDataLst>
          </p:nvPr>
        </p:nvSpPr>
        <p:spPr/>
        <p:txBody>
          <a:bodyPr>
            <a:normAutofit fontScale="90000"/>
          </a:bodyPr>
          <a:lstStyle/>
          <a:p>
            <a:r>
              <a:rPr lang="fr-CA"/>
              <a:t>Pistes d’action pour la deuxième phase d’expérimentation</a:t>
            </a:r>
          </a:p>
        </p:txBody>
      </p:sp>
      <p:sp>
        <p:nvSpPr>
          <p:cNvPr id="3" name="Espace réservé du contenu 2">
            <a:extLst>
              <a:ext uri="{FF2B5EF4-FFF2-40B4-BE49-F238E27FC236}">
                <a16:creationId xmlns:a16="http://schemas.microsoft.com/office/drawing/2014/main" id="{804D07A6-18C2-059D-5DA3-DE35DBE7D6BB}"/>
              </a:ext>
            </a:extLst>
          </p:cNvPr>
          <p:cNvSpPr>
            <a:spLocks noGrp="1"/>
          </p:cNvSpPr>
          <p:nvPr>
            <p:ph idx="1"/>
            <p:custDataLst>
              <p:tags r:id="rId2"/>
            </p:custDataLst>
          </p:nvPr>
        </p:nvSpPr>
        <p:spPr>
          <a:xfrm>
            <a:off x="1653866" y="1569010"/>
            <a:ext cx="10053338" cy="3994392"/>
          </a:xfrm>
        </p:spPr>
        <p:txBody>
          <a:bodyPr vert="horz" lIns="0" tIns="0" rIns="0" bIns="0" rtlCol="0" anchor="t">
            <a:normAutofit/>
          </a:bodyPr>
          <a:lstStyle/>
          <a:p>
            <a:r>
              <a:rPr lang="fr-CA" b="1"/>
              <a:t>Importance de la validation de tout contenu produit par l’outil </a:t>
            </a:r>
            <a:endParaRPr lang="fr-CA" b="1">
              <a:cs typeface="Calibri"/>
            </a:endParaRPr>
          </a:p>
          <a:p>
            <a:pPr lvl="1"/>
            <a:r>
              <a:rPr lang="fr-CA"/>
              <a:t>Sensibiliser les employés quant aux risques liés aux résultats produits par les outils d’IA générative qui peuvent contenir des erreurs et mener à la diffusion de fausses informations;</a:t>
            </a:r>
            <a:endParaRPr lang="fr-CA">
              <a:ea typeface="Calibri"/>
              <a:cs typeface="Calibri"/>
            </a:endParaRPr>
          </a:p>
          <a:p>
            <a:pPr lvl="1"/>
            <a:r>
              <a:rPr lang="fr-CA"/>
              <a:t>Exiger la validation des résultats, même si cela peut contrebalancer les gains de temps perçus.</a:t>
            </a:r>
            <a:endParaRPr lang="fr-CA">
              <a:cs typeface="Calibri"/>
            </a:endParaRPr>
          </a:p>
          <a:p>
            <a:r>
              <a:rPr lang="fr-CA" b="1"/>
              <a:t>Importance de mesurer les gains </a:t>
            </a:r>
            <a:endParaRPr lang="en-US" b="1"/>
          </a:p>
          <a:p>
            <a:pPr lvl="1" algn="just">
              <a:lnSpc>
                <a:spcPct val="107000"/>
              </a:lnSpc>
              <a:spcBef>
                <a:spcPts val="0"/>
              </a:spcBef>
              <a:buClrTx/>
              <a:defRPr/>
            </a:pPr>
            <a:r>
              <a:rPr lang="fr-CA"/>
              <a:t>Définir une méthodologie sur des cas d’utilisation précis, des profils et des tâches spécifiques afin de mesurer les résultats et d’obtenir un gain quantifié</a:t>
            </a:r>
            <a:endParaRPr lang="fr-CA">
              <a:ea typeface="Calibri"/>
              <a:cs typeface="Calibri"/>
            </a:endParaRPr>
          </a:p>
        </p:txBody>
      </p:sp>
      <p:sp>
        <p:nvSpPr>
          <p:cNvPr id="4" name="Espace réservé du numéro de diapositive 3">
            <a:extLst>
              <a:ext uri="{FF2B5EF4-FFF2-40B4-BE49-F238E27FC236}">
                <a16:creationId xmlns:a16="http://schemas.microsoft.com/office/drawing/2014/main" id="{34337ABC-4C1E-0BFF-0CFE-5E0DDEFC4FAE}"/>
              </a:ext>
            </a:extLst>
          </p:cNvPr>
          <p:cNvSpPr>
            <a:spLocks noGrp="1"/>
          </p:cNvSpPr>
          <p:nvPr>
            <p:ph type="sldNum" sz="quarter" idx="11"/>
            <p:custDataLst>
              <p:tags r:id="rId3"/>
            </p:custDataLst>
          </p:nvPr>
        </p:nvSpPr>
        <p:spPr/>
        <p:txBody>
          <a:bodyPr/>
          <a:lstStyle/>
          <a:p>
            <a:fld id="{511EA75C-EC4C-4D33-ACF8-A8544E993E0B}" type="slidenum">
              <a:rPr lang="fr-CA" smtClean="0"/>
              <a:pPr/>
              <a:t>17</a:t>
            </a:fld>
            <a:endParaRPr lang="fr-CA"/>
          </a:p>
        </p:txBody>
      </p:sp>
      <p:pic>
        <p:nvPicPr>
          <p:cNvPr id="6" name="Graphique 5" descr="Speedometer Low avec un remplissage uni">
            <a:extLst>
              <a:ext uri="{FF2B5EF4-FFF2-40B4-BE49-F238E27FC236}">
                <a16:creationId xmlns:a16="http://schemas.microsoft.com/office/drawing/2014/main" id="{536A2082-70A7-470C-DEDD-269AC3BD068B}"/>
              </a:ext>
            </a:extLst>
          </p:cNvPr>
          <p:cNvPicPr>
            <a:picLocks noChangeAspect="1"/>
          </p:cNvPicPr>
          <p:nvPr>
            <p:custDataLst>
              <p:tags r:id="rId4"/>
            </p:custDataLst>
          </p:nvPr>
        </p:nvPicPr>
        <p:blipFill>
          <a:blip r:embed="rId8">
            <a:extLst>
              <a:ext uri="{96DAC541-7B7A-43D3-8B79-37D633B846F1}">
                <asvg:svgBlip xmlns:asvg="http://schemas.microsoft.com/office/drawing/2016/SVG/main" r:embed="rId9"/>
              </a:ext>
            </a:extLst>
          </a:blip>
          <a:stretch>
            <a:fillRect/>
          </a:stretch>
        </p:blipFill>
        <p:spPr>
          <a:xfrm>
            <a:off x="491820" y="3688227"/>
            <a:ext cx="810215" cy="810215"/>
          </a:xfrm>
          <a:prstGeom prst="rect">
            <a:avLst/>
          </a:prstGeom>
        </p:spPr>
      </p:pic>
      <p:pic>
        <p:nvPicPr>
          <p:cNvPr id="10" name="Graphique 9" descr="CheckList avec un remplissage uni">
            <a:extLst>
              <a:ext uri="{FF2B5EF4-FFF2-40B4-BE49-F238E27FC236}">
                <a16:creationId xmlns:a16="http://schemas.microsoft.com/office/drawing/2014/main" id="{5946DADD-B7E7-2700-29CF-CA946DA63892}"/>
              </a:ext>
            </a:extLst>
          </p:cNvPr>
          <p:cNvPicPr>
            <a:picLocks noChangeAspect="1"/>
          </p:cNvPicPr>
          <p:nvPr>
            <p:custDataLst>
              <p:tags r:id="rId5"/>
            </p:custDataLst>
          </p:nvPr>
        </p:nvPicPr>
        <p:blipFill>
          <a:blip r:embed="rId10">
            <a:extLst>
              <a:ext uri="{96DAC541-7B7A-43D3-8B79-37D633B846F1}">
                <asvg:svgBlip xmlns:asvg="http://schemas.microsoft.com/office/drawing/2016/SVG/main" r:embed="rId11"/>
              </a:ext>
            </a:extLst>
          </a:blip>
          <a:stretch>
            <a:fillRect/>
          </a:stretch>
        </p:blipFill>
        <p:spPr>
          <a:xfrm>
            <a:off x="439728" y="1569010"/>
            <a:ext cx="914400" cy="914400"/>
          </a:xfrm>
          <a:prstGeom prst="rect">
            <a:avLst/>
          </a:prstGeom>
        </p:spPr>
      </p:pic>
    </p:spTree>
    <p:extLst>
      <p:ext uri="{BB962C8B-B14F-4D97-AF65-F5344CB8AC3E}">
        <p14:creationId xmlns:p14="http://schemas.microsoft.com/office/powerpoint/2010/main" val="1673476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6ED23-3B0F-6507-3DDF-481D968AA2A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45709A9-5ABA-D4EC-FCD3-1AFEA793B736}"/>
              </a:ext>
            </a:extLst>
          </p:cNvPr>
          <p:cNvSpPr>
            <a:spLocks noGrp="1"/>
          </p:cNvSpPr>
          <p:nvPr>
            <p:ph type="title"/>
            <p:custDataLst>
              <p:tags r:id="rId1"/>
            </p:custDataLst>
          </p:nvPr>
        </p:nvSpPr>
        <p:spPr/>
        <p:txBody>
          <a:bodyPr vert="horz" lIns="0" tIns="0" rIns="0" bIns="0" rtlCol="0" anchor="b">
            <a:noAutofit/>
          </a:bodyPr>
          <a:lstStyle/>
          <a:p>
            <a:r>
              <a:rPr lang="fr-CA" sz="3200">
                <a:ea typeface="Calibri"/>
                <a:cs typeface="Calibri"/>
              </a:rPr>
              <a:t>Petit rappel </a:t>
            </a:r>
            <a:endParaRPr lang="fr-CA" sz="3200" b="0">
              <a:solidFill>
                <a:srgbClr val="000000"/>
              </a:solidFill>
              <a:ea typeface="Calibri"/>
              <a:cs typeface="Calibri"/>
            </a:endParaRPr>
          </a:p>
        </p:txBody>
      </p:sp>
      <p:sp>
        <p:nvSpPr>
          <p:cNvPr id="6" name="Espace réservé du contenu 5">
            <a:extLst>
              <a:ext uri="{FF2B5EF4-FFF2-40B4-BE49-F238E27FC236}">
                <a16:creationId xmlns:a16="http://schemas.microsoft.com/office/drawing/2014/main" id="{5F3A5F3A-5219-04E4-114F-19EA937DAE01}"/>
              </a:ext>
            </a:extLst>
          </p:cNvPr>
          <p:cNvSpPr>
            <a:spLocks noGrp="1"/>
          </p:cNvSpPr>
          <p:nvPr>
            <p:ph idx="1"/>
            <p:custDataLst>
              <p:tags r:id="rId2"/>
            </p:custDataLst>
          </p:nvPr>
        </p:nvSpPr>
        <p:spPr>
          <a:xfrm>
            <a:off x="458787" y="1031685"/>
            <a:ext cx="11274425" cy="4427090"/>
          </a:xfrm>
        </p:spPr>
        <p:txBody>
          <a:bodyPr vert="horz" lIns="0" tIns="0" rIns="0" bIns="0" rtlCol="0" anchor="t">
            <a:normAutofit/>
          </a:bodyPr>
          <a:lstStyle/>
          <a:p>
            <a:pPr marL="0" indent="0">
              <a:buNone/>
            </a:pPr>
            <a:endParaRPr lang="fr-CA" sz="2800"/>
          </a:p>
          <a:p>
            <a:pPr marL="0" indent="0">
              <a:lnSpc>
                <a:spcPct val="100000"/>
              </a:lnSpc>
              <a:spcAft>
                <a:spcPts val="1200"/>
              </a:spcAft>
              <a:buNone/>
            </a:pPr>
            <a:r>
              <a:rPr lang="fr-CA" sz="2800"/>
              <a:t>Les outils d’IA peuvent sembler une réponse à bien des problèmes rencontrés dans les organisations. Toutefois, une compréhension des besoins pourrait mener à l’adoption d’autres solutions plus appropriées pour y répondre. L’IA, dont l’IA générative, est un des outils de l’arsenal de la transformation numérique.</a:t>
            </a:r>
            <a:endParaRPr lang="fr-CA"/>
          </a:p>
        </p:txBody>
      </p:sp>
      <p:sp>
        <p:nvSpPr>
          <p:cNvPr id="4" name="Espace réservé du numéro de diapositive 3" hidden="1">
            <a:extLst>
              <a:ext uri="{FF2B5EF4-FFF2-40B4-BE49-F238E27FC236}">
                <a16:creationId xmlns:a16="http://schemas.microsoft.com/office/drawing/2014/main" id="{392BC6C4-B715-0528-6637-67B298C5944A}"/>
              </a:ext>
            </a:extLst>
          </p:cNvPr>
          <p:cNvSpPr>
            <a:spLocks noGrp="1"/>
          </p:cNvSpPr>
          <p:nvPr>
            <p:ph type="sldNum" sz="quarter" idx="11"/>
            <p:custDataLst>
              <p:tags r:id="rId3"/>
            </p:custDataLst>
          </p:nvPr>
        </p:nvSpPr>
        <p:spPr/>
        <p:txBody>
          <a:bodyPr/>
          <a:lstStyle/>
          <a:p>
            <a:pPr>
              <a:spcAft>
                <a:spcPts val="600"/>
              </a:spcAft>
            </a:pPr>
            <a:fld id="{511EA75C-EC4C-4D33-ACF8-A8544E993E0B}" type="slidenum">
              <a:rPr lang="fr-CA" smtClean="0"/>
              <a:pPr>
                <a:spcAft>
                  <a:spcPts val="600"/>
                </a:spcAft>
              </a:pPr>
              <a:t>18</a:t>
            </a:fld>
            <a:endParaRPr lang="fr-CA"/>
          </a:p>
        </p:txBody>
      </p:sp>
    </p:spTree>
    <p:extLst>
      <p:ext uri="{BB962C8B-B14F-4D97-AF65-F5344CB8AC3E}">
        <p14:creationId xmlns:p14="http://schemas.microsoft.com/office/powerpoint/2010/main" val="2173886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24FDB-D69F-7FC1-780C-53460E60A88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CA3269-26E7-0D3F-062B-7C630F73F42B}"/>
              </a:ext>
            </a:extLst>
          </p:cNvPr>
          <p:cNvSpPr>
            <a:spLocks noGrp="1"/>
          </p:cNvSpPr>
          <p:nvPr>
            <p:ph type="ctrTitle"/>
            <p:custDataLst>
              <p:tags r:id="rId1"/>
            </p:custDataLst>
          </p:nvPr>
        </p:nvSpPr>
        <p:spPr>
          <a:xfrm>
            <a:off x="458787" y="2490114"/>
            <a:ext cx="11274425" cy="1321491"/>
          </a:xfrm>
        </p:spPr>
        <p:txBody>
          <a:bodyPr anchor="b">
            <a:normAutofit/>
          </a:bodyPr>
          <a:lstStyle/>
          <a:p>
            <a:pPr algn="ctr"/>
            <a:r>
              <a:rPr lang="fr-CA" sz="8000"/>
              <a:t>Merci</a:t>
            </a:r>
          </a:p>
        </p:txBody>
      </p:sp>
      <p:sp>
        <p:nvSpPr>
          <p:cNvPr id="4" name="Espace réservé du numéro de diapositive 3" hidden="1">
            <a:extLst>
              <a:ext uri="{FF2B5EF4-FFF2-40B4-BE49-F238E27FC236}">
                <a16:creationId xmlns:a16="http://schemas.microsoft.com/office/drawing/2014/main" id="{5527C526-ECC3-178F-90B1-E8DE7871E4DA}"/>
              </a:ext>
            </a:extLst>
          </p:cNvPr>
          <p:cNvSpPr>
            <a:spLocks noGrp="1"/>
          </p:cNvSpPr>
          <p:nvPr>
            <p:ph type="sldNum" sz="quarter" idx="4294967295"/>
            <p:custDataLst>
              <p:tags r:id="rId2"/>
            </p:custDataLst>
          </p:nvPr>
        </p:nvSpPr>
        <p:spPr>
          <a:xfrm>
            <a:off x="4724400" y="6296553"/>
            <a:ext cx="2743200" cy="111447"/>
          </a:xfrm>
        </p:spPr>
        <p:txBody>
          <a:bodyPr/>
          <a:lstStyle/>
          <a:p>
            <a:pPr>
              <a:spcAft>
                <a:spcPts val="600"/>
              </a:spcAft>
            </a:pPr>
            <a:fld id="{511EA75C-EC4C-4D33-ACF8-A8544E993E0B}" type="slidenum">
              <a:rPr lang="fr-CA" smtClean="0"/>
              <a:pPr>
                <a:spcAft>
                  <a:spcPts val="600"/>
                </a:spcAft>
              </a:pPr>
              <a:t>19</a:t>
            </a:fld>
            <a:endParaRPr lang="fr-CA"/>
          </a:p>
        </p:txBody>
      </p:sp>
    </p:spTree>
    <p:extLst>
      <p:ext uri="{BB962C8B-B14F-4D97-AF65-F5344CB8AC3E}">
        <p14:creationId xmlns:p14="http://schemas.microsoft.com/office/powerpoint/2010/main" val="40823506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3"/>
</p:tagLst>
</file>

<file path=ppt/tags/tag13.xml><?xml version="1.0" encoding="utf-8"?>
<p:tagLst xmlns:a="http://schemas.openxmlformats.org/drawingml/2006/main" xmlns:r="http://schemas.openxmlformats.org/officeDocument/2006/relationships" xmlns:p="http://schemas.openxmlformats.org/presentationml/2006/main">
  <p:tag name="NUM" val="4"/>
</p:tagLst>
</file>

<file path=ppt/tags/tag14.xml><?xml version="1.0" encoding="utf-8"?>
<p:tagLst xmlns:a="http://schemas.openxmlformats.org/drawingml/2006/main" xmlns:r="http://schemas.openxmlformats.org/officeDocument/2006/relationships" xmlns:p="http://schemas.openxmlformats.org/presentationml/2006/main">
  <p:tag name="NUM" val="5"/>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NUM" val="7"/>
</p:tagLst>
</file>

<file path=ppt/tags/tag17.xml><?xml version="1.0" encoding="utf-8"?>
<p:tagLst xmlns:a="http://schemas.openxmlformats.org/drawingml/2006/main" xmlns:r="http://schemas.openxmlformats.org/officeDocument/2006/relationships" xmlns:p="http://schemas.openxmlformats.org/presentationml/2006/main">
  <p:tag name="NUM" val="8"/>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4"/>
</p:tagLst>
</file>

<file path=ppt/tags/tag27.xml><?xml version="1.0" encoding="utf-8"?>
<p:tagLst xmlns:a="http://schemas.openxmlformats.org/drawingml/2006/main" xmlns:r="http://schemas.openxmlformats.org/officeDocument/2006/relationships" xmlns:p="http://schemas.openxmlformats.org/presentationml/2006/main">
  <p:tag name="NUM" val="5"/>
</p:tagLst>
</file>

<file path=ppt/tags/tag28.xml><?xml version="1.0" encoding="utf-8"?>
<p:tagLst xmlns:a="http://schemas.openxmlformats.org/drawingml/2006/main" xmlns:r="http://schemas.openxmlformats.org/officeDocument/2006/relationships" xmlns:p="http://schemas.openxmlformats.org/presentationml/2006/main">
  <p:tag name="NUM" val="6"/>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5"/>
</p:tagLst>
</file>

<file path=ppt/tags/tag39.xml><?xml version="1.0" encoding="utf-8"?>
<p:tagLst xmlns:a="http://schemas.openxmlformats.org/drawingml/2006/main" xmlns:r="http://schemas.openxmlformats.org/officeDocument/2006/relationships" xmlns:p="http://schemas.openxmlformats.org/presentationml/2006/main">
  <p:tag name="NUM" val="6"/>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4"/>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5"/>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4"/>
</p:tagLst>
</file>

<file path=ppt/tags/tag53.xml><?xml version="1.0" encoding="utf-8"?>
<p:tagLst xmlns:a="http://schemas.openxmlformats.org/drawingml/2006/main" xmlns:r="http://schemas.openxmlformats.org/officeDocument/2006/relationships" xmlns:p="http://schemas.openxmlformats.org/presentationml/2006/main">
  <p:tag name="NUM" val="5"/>
</p:tagLst>
</file>

<file path=ppt/tags/tag54.xml><?xml version="1.0" encoding="utf-8"?>
<p:tagLst xmlns:a="http://schemas.openxmlformats.org/drawingml/2006/main" xmlns:r="http://schemas.openxmlformats.org/officeDocument/2006/relationships" xmlns:p="http://schemas.openxmlformats.org/presentationml/2006/main">
  <p:tag name="NUM" val="6"/>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4"/>
</p:tagLst>
</file>

<file path=ppt/tags/tag59.xml><?xml version="1.0" encoding="utf-8"?>
<p:tagLst xmlns:a="http://schemas.openxmlformats.org/drawingml/2006/main" xmlns:r="http://schemas.openxmlformats.org/officeDocument/2006/relationships" xmlns:p="http://schemas.openxmlformats.org/presentationml/2006/main">
  <p:tag name="NUM" val="5"/>
</p:tagLst>
</file>

<file path=ppt/tags/tag60.xml><?xml version="1.0" encoding="utf-8"?>
<p:tagLst xmlns:a="http://schemas.openxmlformats.org/drawingml/2006/main" xmlns:r="http://schemas.openxmlformats.org/officeDocument/2006/relationships" xmlns:p="http://schemas.openxmlformats.org/presentationml/2006/main">
  <p:tag name="NUM" val="6"/>
</p:tagLst>
</file>

<file path=ppt/tags/tag61.xml><?xml version="1.0" encoding="utf-8"?>
<p:tagLst xmlns:a="http://schemas.openxmlformats.org/drawingml/2006/main" xmlns:r="http://schemas.openxmlformats.org/officeDocument/2006/relationships" xmlns:p="http://schemas.openxmlformats.org/presentationml/2006/main">
  <p:tag name="NUM" val="7"/>
</p:tagLst>
</file>

<file path=ppt/tags/tag62.xml><?xml version="1.0" encoding="utf-8"?>
<p:tagLst xmlns:a="http://schemas.openxmlformats.org/drawingml/2006/main" xmlns:r="http://schemas.openxmlformats.org/officeDocument/2006/relationships" xmlns:p="http://schemas.openxmlformats.org/presentationml/2006/main">
  <p:tag name="NUM" val="1"/>
</p:tagLst>
</file>

<file path=ppt/tags/tag63.xml><?xml version="1.0" encoding="utf-8"?>
<p:tagLst xmlns:a="http://schemas.openxmlformats.org/drawingml/2006/main" xmlns:r="http://schemas.openxmlformats.org/officeDocument/2006/relationships" xmlns:p="http://schemas.openxmlformats.org/presentationml/2006/main">
  <p:tag name="NUM" val="2"/>
</p:tagLst>
</file>

<file path=ppt/tags/tag64.xml><?xml version="1.0" encoding="utf-8"?>
<p:tagLst xmlns:a="http://schemas.openxmlformats.org/drawingml/2006/main" xmlns:r="http://schemas.openxmlformats.org/officeDocument/2006/relationships" xmlns:p="http://schemas.openxmlformats.org/presentationml/2006/main">
  <p:tag name="NUM" val="3"/>
</p:tagLst>
</file>

<file path=ppt/tags/tag65.xml><?xml version="1.0" encoding="utf-8"?>
<p:tagLst xmlns:a="http://schemas.openxmlformats.org/drawingml/2006/main" xmlns:r="http://schemas.openxmlformats.org/officeDocument/2006/relationships" xmlns:p="http://schemas.openxmlformats.org/presentationml/2006/main">
  <p:tag name="NUM" val="4"/>
</p:tagLst>
</file>

<file path=ppt/tags/tag66.xml><?xml version="1.0" encoding="utf-8"?>
<p:tagLst xmlns:a="http://schemas.openxmlformats.org/drawingml/2006/main" xmlns:r="http://schemas.openxmlformats.org/officeDocument/2006/relationships" xmlns:p="http://schemas.openxmlformats.org/presentationml/2006/main">
  <p:tag name="NUM" val="5"/>
</p:tagLst>
</file>

<file path=ppt/tags/tag67.xml><?xml version="1.0" encoding="utf-8"?>
<p:tagLst xmlns:a="http://schemas.openxmlformats.org/drawingml/2006/main" xmlns:r="http://schemas.openxmlformats.org/officeDocument/2006/relationships" xmlns:p="http://schemas.openxmlformats.org/presentationml/2006/main">
  <p:tag name="NUM" val="6"/>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4"/>
</p:tagLst>
</file>

<file path=ppt/tags/tag72.xml><?xml version="1.0" encoding="utf-8"?>
<p:tagLst xmlns:a="http://schemas.openxmlformats.org/drawingml/2006/main" xmlns:r="http://schemas.openxmlformats.org/officeDocument/2006/relationships" xmlns:p="http://schemas.openxmlformats.org/presentationml/2006/main">
  <p:tag name="NUM" val="5"/>
</p:tagLst>
</file>

<file path=ppt/tags/tag73.xml><?xml version="1.0" encoding="utf-8"?>
<p:tagLst xmlns:a="http://schemas.openxmlformats.org/drawingml/2006/main" xmlns:r="http://schemas.openxmlformats.org/officeDocument/2006/relationships" xmlns:p="http://schemas.openxmlformats.org/presentationml/2006/main">
  <p:tag name="NUM" val="1"/>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3"/>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4"/>
</p:tagLst>
</file>

<file path=ppt/tags/tag80.xml><?xml version="1.0" encoding="utf-8"?>
<p:tagLst xmlns:a="http://schemas.openxmlformats.org/drawingml/2006/main" xmlns:r="http://schemas.openxmlformats.org/officeDocument/2006/relationships" xmlns:p="http://schemas.openxmlformats.org/presentationml/2006/main">
  <p:tag name="NUM" val="5"/>
</p:tagLst>
</file>

<file path=ppt/tags/tag81.xml><?xml version="1.0" encoding="utf-8"?>
<p:tagLst xmlns:a="http://schemas.openxmlformats.org/drawingml/2006/main" xmlns:r="http://schemas.openxmlformats.org/officeDocument/2006/relationships" xmlns:p="http://schemas.openxmlformats.org/presentationml/2006/main">
  <p:tag name="NUM" val="6"/>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Thème Office">
  <a:themeElements>
    <a:clrScheme name="Personnalisé 10">
      <a:dk1>
        <a:srgbClr val="2D2E83"/>
      </a:dk1>
      <a:lt1>
        <a:sysClr val="window" lastClr="FFFFFF"/>
      </a:lt1>
      <a:dk2>
        <a:srgbClr val="38A7DE"/>
      </a:dk2>
      <a:lt2>
        <a:srgbClr val="BDE3F2"/>
      </a:lt2>
      <a:accent1>
        <a:srgbClr val="005DA1"/>
      </a:accent1>
      <a:accent2>
        <a:srgbClr val="3B85C4"/>
      </a:accent2>
      <a:accent3>
        <a:srgbClr val="4DC0DF"/>
      </a:accent3>
      <a:accent4>
        <a:srgbClr val="2FB7C2"/>
      </a:accent4>
      <a:accent5>
        <a:srgbClr val="2FB7C2"/>
      </a:accent5>
      <a:accent6>
        <a:srgbClr val="F7F109"/>
      </a:accent6>
      <a:hlink>
        <a:srgbClr val="0000FF"/>
      </a:hlink>
      <a:folHlink>
        <a:srgbClr val="002060"/>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B_PPT_neutre_16x9" id="{8410C3C6-F113-F447-BAF0-5AFC4A45F202}" vid="{A79F2178-4C7C-9346-B6EC-926E4F0F2F0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h6338bcae40743d2b7b889f3cfba6a29 xmlns="f3d1bb7a-396e-4ec5-8655-a301c64e3bc7">
      <Terms xmlns="http://schemas.microsoft.com/office/infopath/2007/PartnerControls"/>
    </h6338bcae40743d2b7b889f3cfba6a29>
    <_ExtendedDescription xmlns="http://schemas.microsoft.com/sharepoint/v3" xsi:nil="true"/>
    <lcf76f155ced4ddcb4097134ff3c332f xmlns="f3d1bb7a-396e-4ec5-8655-a301c64e3bc7">
      <Terms xmlns="http://schemas.microsoft.com/office/infopath/2007/PartnerControls"/>
    </lcf76f155ced4ddcb4097134ff3c332f>
    <TaxCatchAll xmlns="120463ea-9104-4bcf-b892-edfceac3ded2" xsi:nil="true"/>
    <ea92c608ea1e434d8d4891b35aa620c0 xmlns="f3d1bb7a-396e-4ec5-8655-a301c64e3bc7">
      <Terms xmlns="http://schemas.microsoft.com/office/infopath/2007/PartnerControls"/>
    </ea92c608ea1e434d8d4891b35aa620c0>
    <TaxKeywordTaxHTField xmlns="120463ea-9104-4bcf-b892-edfceac3ded2">
      <Terms xmlns="http://schemas.microsoft.com/office/infopath/2007/PartnerControls"/>
    </TaxKeywordTaxHTField>
    <b41a229d66ea4601816087c84816ebe1 xmlns="f3d1bb7a-396e-4ec5-8655-a301c64e3bc7">
      <Terms xmlns="http://schemas.microsoft.com/office/infopath/2007/PartnerControls"/>
    </b41a229d66ea4601816087c84816ebe1>
    <g945825df9944e5f8ce35e4b6370a727 xmlns="f3d1bb7a-396e-4ec5-8655-a301c64e3bc7">
      <Terms xmlns="http://schemas.microsoft.com/office/infopath/2007/PartnerControls"/>
    </g945825df9944e5f8ce35e4b6370a727>
    <_ip_UnifiedCompliancePolicyUIAction xmlns="http://schemas.microsoft.com/sharepoint/v3" xsi:nil="true"/>
    <_ip_UnifiedCompliancePolicyProperties xmlns="http://schemas.microsoft.com/sharepoint/v3" xsi:nil="true"/>
    <SharedWithUsers xmlns="120463ea-9104-4bcf-b892-edfceac3ded2">
      <UserInfo>
        <DisplayName>Dountio Yonta, Peguy Collins</DisplayName>
        <AccountId>395</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98B219E3E6FF45825AD886CF18CE83" ma:contentTypeVersion="38" ma:contentTypeDescription="Crée un document." ma:contentTypeScope="" ma:versionID="5b25e10f1f2f424c9e5fd158c331471a">
  <xsd:schema xmlns:xsd="http://www.w3.org/2001/XMLSchema" xmlns:xs="http://www.w3.org/2001/XMLSchema" xmlns:p="http://schemas.microsoft.com/office/2006/metadata/properties" xmlns:ns1="http://schemas.microsoft.com/sharepoint/v3" xmlns:ns2="f3d1bb7a-396e-4ec5-8655-a301c64e3bc7" xmlns:ns3="120463ea-9104-4bcf-b892-edfceac3ded2" targetNamespace="http://schemas.microsoft.com/office/2006/metadata/properties" ma:root="true" ma:fieldsID="d415f241e968b39aeed1ae8269235aff" ns1:_="" ns2:_="" ns3:_="">
    <xsd:import namespace="http://schemas.microsoft.com/sharepoint/v3"/>
    <xsd:import namespace="f3d1bb7a-396e-4ec5-8655-a301c64e3bc7"/>
    <xsd:import namespace="120463ea-9104-4bcf-b892-edfceac3ded2"/>
    <xsd:element name="properties">
      <xsd:complexType>
        <xsd:sequence>
          <xsd:element name="documentManagement">
            <xsd:complexType>
              <xsd:all>
                <xsd:element ref="ns1:_ExtendedDescription" minOccurs="0"/>
                <xsd:element ref="ns3:SharedWithDetails"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h6338bcae40743d2b7b889f3cfba6a29" minOccurs="0"/>
                <xsd:element ref="ns2:g945825df9944e5f8ce35e4b6370a727" minOccurs="0"/>
                <xsd:element ref="ns3:SharedWithUsers" minOccurs="0"/>
                <xsd:element ref="ns3:TaxKeywordTaxHTField" minOccurs="0"/>
                <xsd:element ref="ns2:ea92c608ea1e434d8d4891b35aa620c0" minOccurs="0"/>
                <xsd:element ref="ns2:b41a229d66ea4601816087c84816ebe1"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6" nillable="true" ma:displayName="Description" ma:hidden="true" ma:internalName="_ExtendedDescription" ma:readOnly="false">
      <xsd:simpleType>
        <xsd:restriction base="dms:Note"/>
      </xsd:simpleType>
    </xsd:element>
    <xsd:element name="_ip_UnifiedCompliancePolicyProperties" ma:index="34" nillable="true" ma:displayName="Propriétés de la stratégie de conformité unifiée" ma:hidden="true" ma:internalName="_ip_UnifiedCompliancePolicyProperties">
      <xsd:simpleType>
        <xsd:restriction base="dms:Note"/>
      </xsd:simpleType>
    </xsd:element>
    <xsd:element name="_ip_UnifiedCompliancePolicyUIAction" ma:index="35"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d1bb7a-396e-4ec5-8655-a301c64e3bc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alises d’images" ma:readOnly="false" ma:fieldId="{5cf76f15-5ced-4ddc-b409-7134ff3c332f}" ma:taxonomyMulti="true" ma:sspId="5f36f5b6-25c8-44c5-8248-31c62e9a45cb"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hidden="true" ma:indexed="true" ma:internalName="MediaServiceLocation" ma:readOnly="true">
      <xsd:simpleType>
        <xsd:restriction base="dms:Text"/>
      </xsd:simpleType>
    </xsd:element>
    <xsd:element name="h6338bcae40743d2b7b889f3cfba6a29" ma:index="21" nillable="true" ma:taxonomy="true" ma:internalName="h6338bcae40743d2b7b889f3cfba6a29" ma:taxonomyFieldName="OrganismePublic_Loc" ma:displayName="OrganismePublic_Loc" ma:readOnly="false" ma:default="" ma:fieldId="{16338bca-e407-43d2-b7b8-89f3cfba6a29}" ma:sspId="5f36f5b6-25c8-44c5-8248-31c62e9a45cb" ma:termSetId="9535a9b3-6424-4c8c-9aa7-fec9fab1a8bd" ma:anchorId="00000000-0000-0000-0000-000000000000" ma:open="false" ma:isKeyword="false">
      <xsd:complexType>
        <xsd:sequence>
          <xsd:element ref="pc:Terms" minOccurs="0" maxOccurs="1"/>
        </xsd:sequence>
      </xsd:complexType>
    </xsd:element>
    <xsd:element name="g945825df9944e5f8ce35e4b6370a727" ma:index="25" nillable="true" ma:taxonomy="true" ma:internalName="g945825df9944e5f8ce35e4b6370a727" ma:taxonomyFieldName="TypeDocuLoc" ma:displayName="TypeDocuLoc" ma:indexed="true" ma:default="" ma:fieldId="{0945825d-f994-4e5f-8ce3-5e4b6370a727}" ma:sspId="5f36f5b6-25c8-44c5-8248-31c62e9a45cb" ma:termSetId="49071785-6962-46d9-b66a-fa22b0e584a6" ma:anchorId="be48491e-bfa4-4e0c-a129-52e742deea95" ma:open="true" ma:isKeyword="false">
      <xsd:complexType>
        <xsd:sequence>
          <xsd:element ref="pc:Terms" minOccurs="0" maxOccurs="1"/>
        </xsd:sequence>
      </xsd:complexType>
    </xsd:element>
    <xsd:element name="ea92c608ea1e434d8d4891b35aa620c0" ma:index="30" nillable="true" ma:taxonomy="true" ma:internalName="ea92c608ea1e434d8d4891b35aa620c0" ma:taxonomyFieldName="PratEtTechno" ma:displayName="Pratique et Techno" ma:default="" ma:fieldId="{ea92c608-ea1e-434d-8d48-91b35aa620c0}" ma:taxonomyMulti="true" ma:sspId="5f36f5b6-25c8-44c5-8248-31c62e9a45cb" ma:termSetId="49071785-6962-46d9-b66a-fa22b0e584a6" ma:anchorId="2eb146fe-16f8-4077-81ff-28a69d6ebfc0" ma:open="true" ma:isKeyword="false">
      <xsd:complexType>
        <xsd:sequence>
          <xsd:element ref="pc:Terms" minOccurs="0" maxOccurs="1"/>
        </xsd:sequence>
      </xsd:complexType>
    </xsd:element>
    <xsd:element name="b41a229d66ea4601816087c84816ebe1" ma:index="32" nillable="true" ma:taxonomy="true" ma:internalName="b41a229d66ea4601816087c84816ebe1" ma:taxonomyFieldName="AnneeFin_loc" ma:displayName="AnneeFin_loc" ma:default="" ma:fieldId="{b41a229d-66ea-4601-8160-87c84816ebe1}" ma:sspId="5f36f5b6-25c8-44c5-8248-31c62e9a45cb" ma:termSetId="181b1dc1-2291-431c-8c81-f8718a55e24d" ma:anchorId="00000000-0000-0000-0000-000000000000" ma:open="false" ma:isKeyword="false">
      <xsd:complexType>
        <xsd:sequence>
          <xsd:element ref="pc:Terms" minOccurs="0" maxOccurs="1"/>
        </xsd:sequence>
      </xsd:complexType>
    </xsd:element>
    <xsd:element name="MediaServiceSearchProperties" ma:index="3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0463ea-9104-4bcf-b892-edfceac3ded2" elementFormDefault="qualified">
    <xsd:import namespace="http://schemas.microsoft.com/office/2006/documentManagement/types"/>
    <xsd:import namespace="http://schemas.microsoft.com/office/infopath/2007/PartnerControls"/>
    <xsd:element name="SharedWithDetails" ma:index="7" nillable="true" ma:displayName="Partagé avec détails" ma:hidden="true" ma:internalName="SharedWithDetails" ma:readOnly="true">
      <xsd:simpleType>
        <xsd:restriction base="dms:Note"/>
      </xsd:simpleType>
    </xsd:element>
    <xsd:element name="TaxCatchAll" ma:index="10" nillable="true" ma:displayName="Taxonomy Catch All Column" ma:hidden="true" ma:list="{1290eb3d-2ee3-42d3-a500-e047133e7309}" ma:internalName="TaxCatchAll" ma:readOnly="false" ma:showField="CatchAllData" ma:web="120463ea-9104-4bcf-b892-edfceac3ded2">
      <xsd:complexType>
        <xsd:complexContent>
          <xsd:extension base="dms:MultiChoiceLookup">
            <xsd:sequence>
              <xsd:element name="Value" type="dms:Lookup" maxOccurs="unbounded" minOccurs="0" nillable="true"/>
            </xsd:sequence>
          </xsd:extension>
        </xsd:complexContent>
      </xsd:complexType>
    </xsd:element>
    <xsd:element name="SharedWithUsers" ma:index="26" nillable="true" ma:displayName="Partagé avec"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xKeywordTaxHTField" ma:index="27" nillable="true" ma:taxonomy="true" ma:internalName="TaxKeywordTaxHTField" ma:taxonomyFieldName="TaxKeyword" ma:displayName="Mots clés d’entreprise" ma:readOnly="false" ma:fieldId="{23f27201-bee3-471e-b2e7-b64fd8b7ca38}" ma:taxonomyMulti="true" ma:sspId="5f36f5b6-25c8-44c5-8248-31c62e9a45cb"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E97B31-AA0B-4DFE-9B0B-BCC1BE037582}">
  <ds:schemaRefs>
    <ds:schemaRef ds:uri="http://schemas.microsoft.com/sharepoint/v3/contenttype/forms"/>
  </ds:schemaRefs>
</ds:datastoreItem>
</file>

<file path=customXml/itemProps2.xml><?xml version="1.0" encoding="utf-8"?>
<ds:datastoreItem xmlns:ds="http://schemas.openxmlformats.org/officeDocument/2006/customXml" ds:itemID="{690BA027-C066-42DB-BA71-79E0E9609B37}">
  <ds:schemaRefs>
    <ds:schemaRef ds:uri="120463ea-9104-4bcf-b892-edfceac3ded2"/>
    <ds:schemaRef ds:uri="f3d1bb7a-396e-4ec5-8655-a301c64e3b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F4B2589-0927-42E1-B15A-BBCD81A9C07B}">
  <ds:schemaRefs>
    <ds:schemaRef ds:uri="120463ea-9104-4bcf-b892-edfceac3ded2"/>
    <ds:schemaRef ds:uri="f3d1bb7a-396e-4ec5-8655-a301c64e3b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Thème Office</Template>
  <TotalTime>0</TotalTime>
  <Words>4402</Words>
  <Application>Microsoft Office PowerPoint</Application>
  <PresentationFormat>Grand écran</PresentationFormat>
  <Paragraphs>258</Paragraphs>
  <Slides>19</Slides>
  <Notes>18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19</vt:i4>
      </vt:variant>
    </vt:vector>
  </HeadingPairs>
  <TitlesOfParts>
    <vt:vector size="26" baseType="lpstr">
      <vt:lpstr>Arial</vt:lpstr>
      <vt:lpstr>Calibri</vt:lpstr>
      <vt:lpstr>Courier New</vt:lpstr>
      <vt:lpstr>Courier New,monospace</vt:lpstr>
      <vt:lpstr>Segoe UI</vt:lpstr>
      <vt:lpstr>Système normal</vt:lpstr>
      <vt:lpstr>Thème Office</vt:lpstr>
      <vt:lpstr>Expérimentation d’un outil  d’intelligence artificielle générative   Leçons apprises</vt:lpstr>
      <vt:lpstr>Le rythme d’adoption le plus rapide de l’histoire</vt:lpstr>
      <vt:lpstr>L’IA générative : attendue et de plus en plus accessible</vt:lpstr>
      <vt:lpstr>Expérimentation d’un outil d’IA générative </vt:lpstr>
      <vt:lpstr>Démarche d’expérimentation de l’IA générative </vt:lpstr>
      <vt:lpstr>Pourquoi avoir choisi la solution M365 Copilot?</vt:lpstr>
      <vt:lpstr>Constat 1 – Une utilisation somme toute assez limitée</vt:lpstr>
      <vt:lpstr>L’utilisation de l’IA générative... pas si intuitive finalement</vt:lpstr>
      <vt:lpstr>Constat 2 – Évolution de l'appréciation de l’outil :  de l’enthousiasme vers plus de réalisme</vt:lpstr>
      <vt:lpstr>Gérer les attentes</vt:lpstr>
      <vt:lpstr>Constat 3 –  Certains usages se sont démarqués plus que d'autres</vt:lpstr>
      <vt:lpstr>Les compétences numériques : levier essentiel pour l’adoption de l’IA générative</vt:lpstr>
      <vt:lpstr>Constat 4 – Un gain modéré en productivité,  difficile à quantifier et qualifier</vt:lpstr>
      <vt:lpstr>Un gain difficile à observer pour les gestionnaires</vt:lpstr>
      <vt:lpstr>Bilan de la phase 1</vt:lpstr>
      <vt:lpstr>Pistes d’action pour la deuxième phase d’expérimentation</vt:lpstr>
      <vt:lpstr>Pistes d’action pour la deuxième phase d’expérimentation</vt:lpstr>
      <vt:lpstr>Petit rappel </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Expérimentation d’un outil  d’intelligence artificielle générative (IAG)   Leçons apprises</dc:title>
  <dc:creator>Gagnon-Turcotte, Sarah</dc:creator>
  <cp:lastModifiedBy>Nolin, Isabelle</cp:lastModifiedBy>
  <cp:revision>6</cp:revision>
  <dcterms:created xsi:type="dcterms:W3CDTF">2024-11-05T13:14:06Z</dcterms:created>
  <dcterms:modified xsi:type="dcterms:W3CDTF">2025-03-19T14:08:46Z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0x0101006698B219E3E6FF45825AD886CF18CE83</vt:lpwstr>
  </property>
  <property fmtid="{D5CDD505-2E9C-101B-9397-08002B2CF9AE}" pid="3" name="TaxKeyword">
    <vt:lpwstr/>
  </property>
  <property fmtid="{D5CDD505-2E9C-101B-9397-08002B2CF9AE}" pid="4" name="OrganismePublic_Loc">
    <vt:lpwstr/>
  </property>
  <property fmtid="{D5CDD505-2E9C-101B-9397-08002B2CF9AE}" pid="5" name="MediaServiceImageTags">
    <vt:lpwstr/>
  </property>
  <property fmtid="{D5CDD505-2E9C-101B-9397-08002B2CF9AE}" pid="6" name="AnneeFin_loc">
    <vt:lpwstr/>
  </property>
  <property fmtid="{D5CDD505-2E9C-101B-9397-08002B2CF9AE}" pid="7" name="PratEtTechno">
    <vt:lpwstr/>
  </property>
  <property fmtid="{D5CDD505-2E9C-101B-9397-08002B2CF9AE}" pid="8" name="TypeDocuLoc">
    <vt:lpwstr/>
  </property>
</Properties>
</file>